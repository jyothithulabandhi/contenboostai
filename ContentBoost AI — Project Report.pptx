
<file path=[Content_Types].xml><?xml version="1.0" encoding="utf-8"?>
<Types xmlns="http://schemas.openxmlformats.org/package/2006/content-types">
  <Default Extension="bin" ContentType="image/unknown"/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embeddedFontLst>
    <p:embeddedFont>
      <p:font typeface="Hedvig Letters Sans" panose="020B0604020202020204" charset="0"/>
      <p:regular r:id="rId16"/>
    </p:embeddedFont>
    <p:embeddedFont>
      <p:font typeface="Liter" panose="020B0604020202020204" charset="0"/>
      <p:regular r:id="rId17"/>
    </p:embeddedFont>
    <p:embeddedFont>
      <p:font typeface="Quattrocento Sans" panose="020B0502050000020003" pitchFamily="34" charset="0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1626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stockcake.com/public/c/f/c/cfcc1602-e648-4d46-a375-f3bd8ba3a51c_large/vibrant-neural-network-stockcake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183" r="18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B0F19">
                  <a:alpha val="95000"/>
                </a:srgbClr>
              </a:gs>
              <a:gs pos="50000">
                <a:srgbClr val="0B0F19">
                  <a:alpha val="85000"/>
                </a:srgbClr>
              </a:gs>
              <a:gs pos="100000">
                <a:srgbClr val="6366F1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892992" y="1617821"/>
            <a:ext cx="2407920" cy="388620"/>
          </a:xfrm>
          <a:prstGeom prst="roundRect">
            <a:avLst>
              <a:gd name="adj" fmla="val 50000"/>
            </a:avLst>
          </a:prstGeom>
          <a:solidFill>
            <a:srgbClr val="6366F1">
              <a:alpha val="10196"/>
            </a:srgbClr>
          </a:solidFill>
          <a:ln w="1016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87303" y="1774031"/>
            <a:ext cx="76200" cy="762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6" name="Text 3"/>
          <p:cNvSpPr/>
          <p:nvPr/>
        </p:nvSpPr>
        <p:spPr>
          <a:xfrm>
            <a:off x="5239703" y="1697831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kern="0" spc="120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Report 2026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590086" y="2696051"/>
            <a:ext cx="701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7200" b="1" kern="0" spc="-180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ContentBoost </a:t>
            </a:r>
            <a:r>
              <a:rPr lang="en-US" sz="7200" b="1" kern="0" spc="-180" dirty="0">
                <a:solidFill>
                  <a:srgbClr val="FFFFFF">
                    <a:alpha val="0"/>
                  </a:srgbClr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AI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0" y="3839051"/>
            <a:ext cx="1219200" cy="381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6366F1"/>
              </a:gs>
              <a:gs pos="100000">
                <a:srgbClr val="A855F7"/>
              </a:gs>
            </a:gsLst>
            <a:lin ang="0" scaled="1"/>
          </a:gradFill>
          <a:ln/>
        </p:spPr>
      </p:sp>
      <p:sp>
        <p:nvSpPr>
          <p:cNvPr id="9" name="Text 6"/>
          <p:cNvSpPr/>
          <p:nvPr/>
        </p:nvSpPr>
        <p:spPr>
          <a:xfrm>
            <a:off x="4378047" y="4181951"/>
            <a:ext cx="34385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8FAFC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Automating the Art of Persuasion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165163" y="4705826"/>
            <a:ext cx="38576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8FAFC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Multi-Agent AI Content Optimization Engine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386858" y="62865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04775" y="0"/>
                </a:moveTo>
                <a:cubicBezTo>
                  <a:pt x="104775" y="-5269"/>
                  <a:pt x="100519" y="-9525"/>
                  <a:pt x="95250" y="-9525"/>
                </a:cubicBezTo>
                <a:cubicBezTo>
                  <a:pt x="89981" y="-9525"/>
                  <a:pt x="85725" y="-5269"/>
                  <a:pt x="85725" y="0"/>
                </a:cubicBezTo>
                <a:lnTo>
                  <a:pt x="85725" y="19050"/>
                </a:lnTo>
                <a:lnTo>
                  <a:pt x="57150" y="19050"/>
                </a:lnTo>
                <a:cubicBezTo>
                  <a:pt x="41374" y="19050"/>
                  <a:pt x="28575" y="31849"/>
                  <a:pt x="28575" y="47625"/>
                </a:cubicBezTo>
                <a:lnTo>
                  <a:pt x="28575" y="114300"/>
                </a:lnTo>
                <a:cubicBezTo>
                  <a:pt x="28575" y="130076"/>
                  <a:pt x="41374" y="142875"/>
                  <a:pt x="57150" y="142875"/>
                </a:cubicBezTo>
                <a:lnTo>
                  <a:pt x="133350" y="142875"/>
                </a:lnTo>
                <a:cubicBezTo>
                  <a:pt x="149126" y="142875"/>
                  <a:pt x="161925" y="130076"/>
                  <a:pt x="161925" y="114300"/>
                </a:cubicBezTo>
                <a:lnTo>
                  <a:pt x="161925" y="47625"/>
                </a:lnTo>
                <a:cubicBezTo>
                  <a:pt x="161925" y="31849"/>
                  <a:pt x="149126" y="19050"/>
                  <a:pt x="133350" y="19050"/>
                </a:cubicBezTo>
                <a:lnTo>
                  <a:pt x="104775" y="19050"/>
                </a:lnTo>
                <a:lnTo>
                  <a:pt x="104775" y="0"/>
                </a:lnTo>
                <a:close/>
                <a:moveTo>
                  <a:pt x="47625" y="109537"/>
                </a:moveTo>
                <a:cubicBezTo>
                  <a:pt x="47625" y="105579"/>
                  <a:pt x="50810" y="102394"/>
                  <a:pt x="54769" y="102394"/>
                </a:cubicBezTo>
                <a:lnTo>
                  <a:pt x="64294" y="102394"/>
                </a:lnTo>
                <a:cubicBezTo>
                  <a:pt x="68253" y="102394"/>
                  <a:pt x="71438" y="105579"/>
                  <a:pt x="71438" y="109537"/>
                </a:cubicBezTo>
                <a:cubicBezTo>
                  <a:pt x="71438" y="113496"/>
                  <a:pt x="68253" y="116681"/>
                  <a:pt x="64294" y="116681"/>
                </a:cubicBezTo>
                <a:lnTo>
                  <a:pt x="54769" y="116681"/>
                </a:lnTo>
                <a:cubicBezTo>
                  <a:pt x="50810" y="116681"/>
                  <a:pt x="47625" y="113496"/>
                  <a:pt x="47625" y="109537"/>
                </a:cubicBezTo>
                <a:close/>
                <a:moveTo>
                  <a:pt x="83344" y="109537"/>
                </a:moveTo>
                <a:cubicBezTo>
                  <a:pt x="83344" y="105579"/>
                  <a:pt x="86529" y="102394"/>
                  <a:pt x="90488" y="102394"/>
                </a:cubicBezTo>
                <a:lnTo>
                  <a:pt x="100013" y="102394"/>
                </a:lnTo>
                <a:cubicBezTo>
                  <a:pt x="103971" y="102394"/>
                  <a:pt x="107156" y="105579"/>
                  <a:pt x="107156" y="109537"/>
                </a:cubicBezTo>
                <a:cubicBezTo>
                  <a:pt x="107156" y="113496"/>
                  <a:pt x="103971" y="116681"/>
                  <a:pt x="100013" y="116681"/>
                </a:cubicBezTo>
                <a:lnTo>
                  <a:pt x="90488" y="116681"/>
                </a:lnTo>
                <a:cubicBezTo>
                  <a:pt x="86529" y="116681"/>
                  <a:pt x="83344" y="113496"/>
                  <a:pt x="83344" y="109537"/>
                </a:cubicBezTo>
                <a:close/>
                <a:moveTo>
                  <a:pt x="119062" y="109537"/>
                </a:moveTo>
                <a:cubicBezTo>
                  <a:pt x="119062" y="105579"/>
                  <a:pt x="122247" y="102394"/>
                  <a:pt x="126206" y="102394"/>
                </a:cubicBezTo>
                <a:lnTo>
                  <a:pt x="135731" y="102394"/>
                </a:lnTo>
                <a:cubicBezTo>
                  <a:pt x="139690" y="102394"/>
                  <a:pt x="142875" y="105579"/>
                  <a:pt x="142875" y="109537"/>
                </a:cubicBezTo>
                <a:cubicBezTo>
                  <a:pt x="142875" y="113496"/>
                  <a:pt x="139690" y="116681"/>
                  <a:pt x="135731" y="116681"/>
                </a:cubicBezTo>
                <a:lnTo>
                  <a:pt x="126206" y="116681"/>
                </a:lnTo>
                <a:cubicBezTo>
                  <a:pt x="122247" y="116681"/>
                  <a:pt x="119062" y="113496"/>
                  <a:pt x="119062" y="109537"/>
                </a:cubicBezTo>
                <a:close/>
                <a:moveTo>
                  <a:pt x="66675" y="52388"/>
                </a:moveTo>
                <a:cubicBezTo>
                  <a:pt x="74560" y="52388"/>
                  <a:pt x="80962" y="58790"/>
                  <a:pt x="80962" y="66675"/>
                </a:cubicBezTo>
                <a:cubicBezTo>
                  <a:pt x="80962" y="74560"/>
                  <a:pt x="74560" y="80962"/>
                  <a:pt x="66675" y="80962"/>
                </a:cubicBezTo>
                <a:cubicBezTo>
                  <a:pt x="58790" y="80962"/>
                  <a:pt x="52388" y="74560"/>
                  <a:pt x="52388" y="66675"/>
                </a:cubicBezTo>
                <a:cubicBezTo>
                  <a:pt x="52388" y="58790"/>
                  <a:pt x="58790" y="52388"/>
                  <a:pt x="66675" y="52388"/>
                </a:cubicBezTo>
                <a:close/>
                <a:moveTo>
                  <a:pt x="109537" y="66675"/>
                </a:moveTo>
                <a:cubicBezTo>
                  <a:pt x="109537" y="58790"/>
                  <a:pt x="115940" y="52388"/>
                  <a:pt x="123825" y="52388"/>
                </a:cubicBezTo>
                <a:cubicBezTo>
                  <a:pt x="131710" y="52388"/>
                  <a:pt x="138113" y="58790"/>
                  <a:pt x="138113" y="66675"/>
                </a:cubicBezTo>
                <a:cubicBezTo>
                  <a:pt x="138113" y="74560"/>
                  <a:pt x="131710" y="80962"/>
                  <a:pt x="123825" y="80962"/>
                </a:cubicBezTo>
                <a:cubicBezTo>
                  <a:pt x="115940" y="80962"/>
                  <a:pt x="109537" y="74560"/>
                  <a:pt x="109537" y="66675"/>
                </a:cubicBezTo>
                <a:close/>
                <a:moveTo>
                  <a:pt x="19050" y="66675"/>
                </a:moveTo>
                <a:cubicBezTo>
                  <a:pt x="19050" y="61406"/>
                  <a:pt x="14794" y="57150"/>
                  <a:pt x="9525" y="57150"/>
                </a:cubicBezTo>
                <a:cubicBezTo>
                  <a:pt x="4256" y="57150"/>
                  <a:pt x="0" y="61406"/>
                  <a:pt x="0" y="66675"/>
                </a:cubicBezTo>
                <a:lnTo>
                  <a:pt x="0" y="95250"/>
                </a:lnTo>
                <a:cubicBezTo>
                  <a:pt x="0" y="100519"/>
                  <a:pt x="4256" y="104775"/>
                  <a:pt x="9525" y="104775"/>
                </a:cubicBezTo>
                <a:cubicBezTo>
                  <a:pt x="14794" y="104775"/>
                  <a:pt x="19050" y="100519"/>
                  <a:pt x="19050" y="95250"/>
                </a:cubicBezTo>
                <a:lnTo>
                  <a:pt x="19050" y="66675"/>
                </a:lnTo>
                <a:close/>
                <a:moveTo>
                  <a:pt x="180975" y="57150"/>
                </a:moveTo>
                <a:cubicBezTo>
                  <a:pt x="175706" y="57150"/>
                  <a:pt x="171450" y="61406"/>
                  <a:pt x="171450" y="66675"/>
                </a:cubicBezTo>
                <a:lnTo>
                  <a:pt x="171450" y="95250"/>
                </a:lnTo>
                <a:cubicBezTo>
                  <a:pt x="171450" y="100519"/>
                  <a:pt x="175706" y="104775"/>
                  <a:pt x="180975" y="104775"/>
                </a:cubicBezTo>
                <a:cubicBezTo>
                  <a:pt x="186244" y="104775"/>
                  <a:pt x="190500" y="100519"/>
                  <a:pt x="190500" y="95250"/>
                </a:cubicBezTo>
                <a:lnTo>
                  <a:pt x="190500" y="66675"/>
                </a:lnTo>
                <a:cubicBezTo>
                  <a:pt x="190500" y="61406"/>
                  <a:pt x="186244" y="57150"/>
                  <a:pt x="180975" y="5715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2" name="Text 9"/>
          <p:cNvSpPr/>
          <p:nvPr/>
        </p:nvSpPr>
        <p:spPr>
          <a:xfrm>
            <a:off x="4653558" y="6248400"/>
            <a:ext cx="714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Claude AI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518309" y="6286500"/>
            <a:ext cx="9525" cy="152400"/>
          </a:xfrm>
          <a:prstGeom prst="roundRect">
            <a:avLst>
              <a:gd name="adj" fmla="val 0"/>
            </a:avLst>
          </a:prstGeom>
          <a:solidFill>
            <a:srgbClr val="F8FAFC">
              <a:alpha val="2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5775484" y="6286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9924" y="-9227"/>
                </a:moveTo>
                <a:cubicBezTo>
                  <a:pt x="113467" y="-10269"/>
                  <a:pt x="117187" y="-8424"/>
                  <a:pt x="118556" y="-5090"/>
                </a:cubicBezTo>
                <a:lnTo>
                  <a:pt x="118795" y="-4405"/>
                </a:lnTo>
                <a:lnTo>
                  <a:pt x="130701" y="36076"/>
                </a:lnTo>
                <a:cubicBezTo>
                  <a:pt x="131445" y="38576"/>
                  <a:pt x="130731" y="41285"/>
                  <a:pt x="128885" y="43130"/>
                </a:cubicBezTo>
                <a:lnTo>
                  <a:pt x="109805" y="62210"/>
                </a:lnTo>
                <a:lnTo>
                  <a:pt x="132546" y="56019"/>
                </a:lnTo>
                <a:lnTo>
                  <a:pt x="138470" y="38219"/>
                </a:lnTo>
                <a:lnTo>
                  <a:pt x="138738" y="37534"/>
                </a:lnTo>
                <a:cubicBezTo>
                  <a:pt x="140226" y="34230"/>
                  <a:pt x="144006" y="32534"/>
                  <a:pt x="147518" y="33695"/>
                </a:cubicBezTo>
                <a:cubicBezTo>
                  <a:pt x="151031" y="34856"/>
                  <a:pt x="153025" y="38487"/>
                  <a:pt x="152221" y="42029"/>
                </a:cubicBezTo>
                <a:lnTo>
                  <a:pt x="152013" y="42743"/>
                </a:lnTo>
                <a:lnTo>
                  <a:pt x="144869" y="64175"/>
                </a:lnTo>
                <a:cubicBezTo>
                  <a:pt x="144125" y="66437"/>
                  <a:pt x="142280" y="68163"/>
                  <a:pt x="139958" y="68818"/>
                </a:cubicBezTo>
                <a:lnTo>
                  <a:pt x="112841" y="76200"/>
                </a:lnTo>
                <a:lnTo>
                  <a:pt x="139958" y="83582"/>
                </a:lnTo>
                <a:cubicBezTo>
                  <a:pt x="142250" y="84207"/>
                  <a:pt x="144095" y="85963"/>
                  <a:pt x="144869" y="88225"/>
                </a:cubicBezTo>
                <a:lnTo>
                  <a:pt x="152013" y="109657"/>
                </a:lnTo>
                <a:lnTo>
                  <a:pt x="152221" y="110371"/>
                </a:lnTo>
                <a:cubicBezTo>
                  <a:pt x="153025" y="113913"/>
                  <a:pt x="151001" y="117544"/>
                  <a:pt x="147518" y="118705"/>
                </a:cubicBezTo>
                <a:cubicBezTo>
                  <a:pt x="144006" y="119866"/>
                  <a:pt x="140226" y="118170"/>
                  <a:pt x="138738" y="114866"/>
                </a:cubicBezTo>
                <a:lnTo>
                  <a:pt x="138470" y="114181"/>
                </a:lnTo>
                <a:lnTo>
                  <a:pt x="132546" y="96381"/>
                </a:lnTo>
                <a:lnTo>
                  <a:pt x="109805" y="90190"/>
                </a:lnTo>
                <a:lnTo>
                  <a:pt x="128885" y="109270"/>
                </a:lnTo>
                <a:cubicBezTo>
                  <a:pt x="130701" y="111085"/>
                  <a:pt x="131415" y="113764"/>
                  <a:pt x="130731" y="116235"/>
                </a:cubicBezTo>
                <a:lnTo>
                  <a:pt x="118824" y="159097"/>
                </a:lnTo>
                <a:lnTo>
                  <a:pt x="118586" y="159782"/>
                </a:lnTo>
                <a:cubicBezTo>
                  <a:pt x="117277" y="163145"/>
                  <a:pt x="113586" y="165050"/>
                  <a:pt x="110014" y="164068"/>
                </a:cubicBezTo>
                <a:cubicBezTo>
                  <a:pt x="106442" y="163086"/>
                  <a:pt x="104269" y="159544"/>
                  <a:pt x="104894" y="155972"/>
                </a:cubicBezTo>
                <a:lnTo>
                  <a:pt x="105043" y="155257"/>
                </a:lnTo>
                <a:lnTo>
                  <a:pt x="115818" y="116413"/>
                </a:lnTo>
                <a:lnTo>
                  <a:pt x="104745" y="105341"/>
                </a:lnTo>
                <a:cubicBezTo>
                  <a:pt x="104477" y="120848"/>
                  <a:pt x="91797" y="133350"/>
                  <a:pt x="76200" y="133350"/>
                </a:cubicBezTo>
                <a:cubicBezTo>
                  <a:pt x="60603" y="133350"/>
                  <a:pt x="47923" y="120848"/>
                  <a:pt x="47625" y="105341"/>
                </a:cubicBezTo>
                <a:lnTo>
                  <a:pt x="36612" y="116354"/>
                </a:lnTo>
                <a:lnTo>
                  <a:pt x="47327" y="152757"/>
                </a:lnTo>
                <a:lnTo>
                  <a:pt x="47506" y="153472"/>
                </a:lnTo>
                <a:cubicBezTo>
                  <a:pt x="48161" y="157014"/>
                  <a:pt x="46047" y="160586"/>
                  <a:pt x="42505" y="161627"/>
                </a:cubicBezTo>
                <a:cubicBezTo>
                  <a:pt x="38963" y="162669"/>
                  <a:pt x="35242" y="160824"/>
                  <a:pt x="33873" y="157490"/>
                </a:cubicBezTo>
                <a:lnTo>
                  <a:pt x="33635" y="156805"/>
                </a:lnTo>
                <a:lnTo>
                  <a:pt x="21729" y="116324"/>
                </a:lnTo>
                <a:cubicBezTo>
                  <a:pt x="20985" y="113824"/>
                  <a:pt x="21699" y="111115"/>
                  <a:pt x="23545" y="109240"/>
                </a:cubicBezTo>
                <a:lnTo>
                  <a:pt x="42624" y="90160"/>
                </a:lnTo>
                <a:lnTo>
                  <a:pt x="19883" y="96351"/>
                </a:lnTo>
                <a:lnTo>
                  <a:pt x="13960" y="114151"/>
                </a:lnTo>
                <a:lnTo>
                  <a:pt x="13692" y="114836"/>
                </a:lnTo>
                <a:cubicBezTo>
                  <a:pt x="12204" y="118140"/>
                  <a:pt x="8424" y="119836"/>
                  <a:pt x="4911" y="118676"/>
                </a:cubicBezTo>
                <a:cubicBezTo>
                  <a:pt x="1399" y="117515"/>
                  <a:pt x="-595" y="113883"/>
                  <a:pt x="208" y="110341"/>
                </a:cubicBezTo>
                <a:lnTo>
                  <a:pt x="417" y="109627"/>
                </a:lnTo>
                <a:lnTo>
                  <a:pt x="7560" y="88196"/>
                </a:lnTo>
                <a:cubicBezTo>
                  <a:pt x="8305" y="85933"/>
                  <a:pt x="10150" y="84207"/>
                  <a:pt x="12472" y="83552"/>
                </a:cubicBezTo>
                <a:lnTo>
                  <a:pt x="39588" y="76170"/>
                </a:lnTo>
                <a:lnTo>
                  <a:pt x="12472" y="68788"/>
                </a:lnTo>
                <a:cubicBezTo>
                  <a:pt x="10180" y="68163"/>
                  <a:pt x="8334" y="66407"/>
                  <a:pt x="7560" y="64145"/>
                </a:cubicBezTo>
                <a:lnTo>
                  <a:pt x="417" y="42714"/>
                </a:lnTo>
                <a:lnTo>
                  <a:pt x="208" y="41999"/>
                </a:lnTo>
                <a:cubicBezTo>
                  <a:pt x="-595" y="38457"/>
                  <a:pt x="1429" y="34826"/>
                  <a:pt x="4911" y="33665"/>
                </a:cubicBezTo>
                <a:cubicBezTo>
                  <a:pt x="8394" y="32504"/>
                  <a:pt x="12204" y="34201"/>
                  <a:pt x="13692" y="37505"/>
                </a:cubicBezTo>
                <a:lnTo>
                  <a:pt x="13960" y="38189"/>
                </a:lnTo>
                <a:lnTo>
                  <a:pt x="19883" y="55989"/>
                </a:lnTo>
                <a:lnTo>
                  <a:pt x="42624" y="62180"/>
                </a:lnTo>
                <a:lnTo>
                  <a:pt x="23545" y="43101"/>
                </a:lnTo>
                <a:cubicBezTo>
                  <a:pt x="21699" y="41255"/>
                  <a:pt x="21015" y="38546"/>
                  <a:pt x="21729" y="36046"/>
                </a:cubicBezTo>
                <a:lnTo>
                  <a:pt x="33635" y="-4435"/>
                </a:lnTo>
                <a:lnTo>
                  <a:pt x="33873" y="-5120"/>
                </a:lnTo>
                <a:cubicBezTo>
                  <a:pt x="35243" y="-8483"/>
                  <a:pt x="38963" y="-10299"/>
                  <a:pt x="42505" y="-9257"/>
                </a:cubicBezTo>
                <a:cubicBezTo>
                  <a:pt x="46047" y="-8215"/>
                  <a:pt x="48161" y="-4643"/>
                  <a:pt x="47506" y="-1101"/>
                </a:cubicBezTo>
                <a:lnTo>
                  <a:pt x="47327" y="-387"/>
                </a:lnTo>
                <a:lnTo>
                  <a:pt x="36612" y="36016"/>
                </a:lnTo>
                <a:lnTo>
                  <a:pt x="52388" y="51792"/>
                </a:lnTo>
                <a:cubicBezTo>
                  <a:pt x="52685" y="38904"/>
                  <a:pt x="63222" y="28545"/>
                  <a:pt x="76170" y="28545"/>
                </a:cubicBezTo>
                <a:cubicBezTo>
                  <a:pt x="89118" y="28545"/>
                  <a:pt x="99655" y="38904"/>
                  <a:pt x="99953" y="51822"/>
                </a:cubicBezTo>
                <a:lnTo>
                  <a:pt x="115759" y="36016"/>
                </a:lnTo>
                <a:lnTo>
                  <a:pt x="105043" y="-387"/>
                </a:lnTo>
                <a:lnTo>
                  <a:pt x="104864" y="-1101"/>
                </a:lnTo>
                <a:cubicBezTo>
                  <a:pt x="104209" y="-4673"/>
                  <a:pt x="106323" y="-8215"/>
                  <a:pt x="109865" y="-9257"/>
                </a:cubicBezTo>
                <a:close/>
              </a:path>
            </a:pathLst>
          </a:custGeom>
          <a:solidFill>
            <a:srgbClr val="A855F7"/>
          </a:solidFill>
          <a:ln/>
        </p:spPr>
      </p:sp>
      <p:sp>
        <p:nvSpPr>
          <p:cNvPr id="15" name="Text 12"/>
          <p:cNvSpPr/>
          <p:nvPr/>
        </p:nvSpPr>
        <p:spPr>
          <a:xfrm>
            <a:off x="6023134" y="62484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Firecrawl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860620" y="6286500"/>
            <a:ext cx="9525" cy="152400"/>
          </a:xfrm>
          <a:prstGeom prst="roundRect">
            <a:avLst>
              <a:gd name="adj" fmla="val 0"/>
            </a:avLst>
          </a:prstGeom>
          <a:solidFill>
            <a:srgbClr val="F8FAFC">
              <a:alpha val="2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7117795" y="6286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8" name="Text 15"/>
          <p:cNvSpPr/>
          <p:nvPr/>
        </p:nvSpPr>
        <p:spPr>
          <a:xfrm>
            <a:off x="7365445" y="6248400"/>
            <a:ext cx="514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mem0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38100" cy="381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EF4444"/>
              </a:gs>
              <a:gs pos="0">
                <a:srgbClr val="FFFFFF"/>
              </a:gs>
              <a:gs pos="100000">
                <a:srgbClr val="F97316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33400" y="381000"/>
            <a:ext cx="5953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 We Are Solving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952500"/>
            <a:ext cx="11372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E-commerce content creation is broken. Here is why teams are struggling.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451610"/>
            <a:ext cx="3674745" cy="3836670"/>
          </a:xfrm>
          <a:prstGeom prst="roundRect">
            <a:avLst>
              <a:gd name="adj" fmla="val 4147"/>
            </a:avLst>
          </a:prstGeom>
          <a:gradFill flip="none" rotWithShape="1">
            <a:gsLst>
              <a:gs pos="0">
                <a:srgbClr val="EF4444">
                  <a:alpha val="15000"/>
                </a:srgbClr>
              </a:gs>
              <a:gs pos="100000">
                <a:srgbClr val="EF4444">
                  <a:alpha val="5000"/>
                </a:srgbClr>
              </a:gs>
            </a:gsLst>
            <a:lin ang="2700000" scaled="1"/>
          </a:gradFill>
          <a:ln w="10160">
            <a:solidFill>
              <a:srgbClr val="EF4444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9120" y="1645920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EF4444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05326" y="176974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ubicBezTo>
                  <a:pt x="0" y="64020"/>
                  <a:pt x="64020" y="0"/>
                  <a:pt x="142875" y="0"/>
                </a:cubicBezTo>
                <a:close/>
                <a:moveTo>
                  <a:pt x="129480" y="66973"/>
                </a:moveTo>
                <a:lnTo>
                  <a:pt x="129480" y="142875"/>
                </a:lnTo>
                <a:cubicBezTo>
                  <a:pt x="129480" y="147340"/>
                  <a:pt x="131713" y="151526"/>
                  <a:pt x="135452" y="154037"/>
                </a:cubicBezTo>
                <a:lnTo>
                  <a:pt x="189030" y="189756"/>
                </a:lnTo>
                <a:cubicBezTo>
                  <a:pt x="195169" y="193886"/>
                  <a:pt x="203485" y="192212"/>
                  <a:pt x="207615" y="186017"/>
                </a:cubicBezTo>
                <a:cubicBezTo>
                  <a:pt x="211745" y="179822"/>
                  <a:pt x="210071" y="171562"/>
                  <a:pt x="203876" y="167432"/>
                </a:cubicBezTo>
                <a:lnTo>
                  <a:pt x="156270" y="135731"/>
                </a:lnTo>
                <a:lnTo>
                  <a:pt x="156270" y="66973"/>
                </a:lnTo>
                <a:cubicBezTo>
                  <a:pt x="156270" y="59550"/>
                  <a:pt x="150298" y="53578"/>
                  <a:pt x="142875" y="53578"/>
                </a:cubicBezTo>
                <a:cubicBezTo>
                  <a:pt x="135452" y="53578"/>
                  <a:pt x="129480" y="59550"/>
                  <a:pt x="129480" y="66973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579120" y="2331720"/>
            <a:ext cx="3400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Time-Consuming &amp; Expensive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9120" y="2750701"/>
            <a:ext cx="3362325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Writing product descriptions manually takes </a:t>
            </a:r>
            <a:r>
              <a:rPr lang="en-US" sz="120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hours per product</a:t>
            </a: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. With hundreds or thousands of SKUs, teams face impossible backlogs or ballooning freelance costs.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9120" y="4713089"/>
            <a:ext cx="3286125" cy="7620"/>
          </a:xfrm>
          <a:prstGeom prst="roundRect">
            <a:avLst>
              <a:gd name="adj" fmla="val 0"/>
            </a:avLst>
          </a:prstGeom>
          <a:solidFill>
            <a:srgbClr val="EF4444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98170" y="490739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845820" y="4869299"/>
            <a:ext cx="236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Average: 2-4 hours per description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58270" y="1451610"/>
            <a:ext cx="3674745" cy="3836670"/>
          </a:xfrm>
          <a:prstGeom prst="roundRect">
            <a:avLst>
              <a:gd name="adj" fmla="val 4147"/>
            </a:avLst>
          </a:prstGeom>
          <a:gradFill flip="none" rotWithShape="1">
            <a:gsLst>
              <a:gs pos="0">
                <a:srgbClr val="F97316">
                  <a:alpha val="15000"/>
                </a:srgbClr>
              </a:gs>
              <a:gs pos="100000">
                <a:srgbClr val="F97316">
                  <a:alpha val="5000"/>
                </a:srgbClr>
              </a:gs>
            </a:gsLst>
            <a:lin ang="2700000" scaled="1"/>
          </a:gradFill>
          <a:ln w="10160">
            <a:solidFill>
              <a:srgbClr val="F97316">
                <a:alpha val="30196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52580" y="1645920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F97316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578787" y="176974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32172" y="116086"/>
                </a:moveTo>
                <a:cubicBezTo>
                  <a:pt x="232172" y="141703"/>
                  <a:pt x="223856" y="165367"/>
                  <a:pt x="209848" y="184565"/>
                </a:cubicBezTo>
                <a:lnTo>
                  <a:pt x="280504" y="255277"/>
                </a:lnTo>
                <a:cubicBezTo>
                  <a:pt x="287480" y="262254"/>
                  <a:pt x="287480" y="273583"/>
                  <a:pt x="280504" y="280560"/>
                </a:cubicBezTo>
                <a:cubicBezTo>
                  <a:pt x="273527" y="287536"/>
                  <a:pt x="262198" y="287536"/>
                  <a:pt x="255222" y="280560"/>
                </a:cubicBezTo>
                <a:lnTo>
                  <a:pt x="184565" y="209848"/>
                </a:lnTo>
                <a:cubicBezTo>
                  <a:pt x="165367" y="223856"/>
                  <a:pt x="141703" y="232172"/>
                  <a:pt x="116086" y="232172"/>
                </a:cubicBezTo>
                <a:cubicBezTo>
                  <a:pt x="51960" y="232172"/>
                  <a:pt x="0" y="180212"/>
                  <a:pt x="0" y="116086"/>
                </a:cubicBezTo>
                <a:cubicBezTo>
                  <a:pt x="0" y="51960"/>
                  <a:pt x="51960" y="0"/>
                  <a:pt x="116086" y="0"/>
                </a:cubicBezTo>
                <a:cubicBezTo>
                  <a:pt x="180212" y="0"/>
                  <a:pt x="232172" y="51960"/>
                  <a:pt x="232172" y="116086"/>
                </a:cubicBezTo>
                <a:close/>
                <a:moveTo>
                  <a:pt x="116086" y="196453"/>
                </a:moveTo>
                <a:cubicBezTo>
                  <a:pt x="160442" y="196453"/>
                  <a:pt x="196453" y="160442"/>
                  <a:pt x="196453" y="116086"/>
                </a:cubicBezTo>
                <a:cubicBezTo>
                  <a:pt x="196453" y="71730"/>
                  <a:pt x="160442" y="35719"/>
                  <a:pt x="116086" y="35719"/>
                </a:cubicBezTo>
                <a:cubicBezTo>
                  <a:pt x="71730" y="35719"/>
                  <a:pt x="35719" y="71730"/>
                  <a:pt x="35719" y="116086"/>
                </a:cubicBezTo>
                <a:cubicBezTo>
                  <a:pt x="35719" y="160442"/>
                  <a:pt x="71730" y="196453"/>
                  <a:pt x="116086" y="196453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4452580" y="2331720"/>
            <a:ext cx="3400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Manual Research Overload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52580" y="2750701"/>
            <a:ext cx="3362325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Competitor research requires </a:t>
            </a:r>
            <a:r>
              <a:rPr lang="en-US" sz="1200" b="1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hours of manual browsing</a:t>
            </a: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across multiple sites. Teams struggle to extract meaningful patterns, USPs, and positioning insights at scale.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452580" y="4713089"/>
            <a:ext cx="3286125" cy="7620"/>
          </a:xfrm>
          <a:prstGeom prst="roundRect">
            <a:avLst>
              <a:gd name="adj" fmla="val 0"/>
            </a:avLst>
          </a:prstGeom>
          <a:solidFill>
            <a:srgbClr val="F97316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471630" y="490739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4719280" y="4869299"/>
            <a:ext cx="2381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5-10 competitor pages per analysis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31731" y="1451610"/>
            <a:ext cx="3674745" cy="3836670"/>
          </a:xfrm>
          <a:prstGeom prst="roundRect">
            <a:avLst>
              <a:gd name="adj" fmla="val 4147"/>
            </a:avLst>
          </a:prstGeom>
          <a:gradFill flip="none" rotWithShape="1">
            <a:gsLst>
              <a:gs pos="0">
                <a:srgbClr val="EF4444">
                  <a:alpha val="15000"/>
                </a:srgbClr>
              </a:gs>
              <a:gs pos="100000">
                <a:srgbClr val="F97316">
                  <a:alpha val="5000"/>
                </a:srgbClr>
              </a:gs>
            </a:gsLst>
            <a:lin ang="2700000" scaled="1"/>
          </a:gradFill>
          <a:ln w="10160">
            <a:solidFill>
              <a:srgbClr val="EF4444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26041" y="1645920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EF4444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452247" y="176974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8326041" y="2331720"/>
            <a:ext cx="3400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Inconsistent Copy Quality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26041" y="2750701"/>
            <a:ext cx="3362325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Inconsistent quality </a:t>
            </a:r>
            <a:r>
              <a:rPr lang="en-US" sz="120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hurts SEO rankings and conversions</a:t>
            </a: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. Poor keyword targeting, weak CTAs, and generic messaging directly impact revenue and search visibility.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26041" y="4713089"/>
            <a:ext cx="3286125" cy="7620"/>
          </a:xfrm>
          <a:prstGeom prst="roundRect">
            <a:avLst>
              <a:gd name="adj" fmla="val 0"/>
            </a:avLst>
          </a:prstGeom>
          <a:solidFill>
            <a:srgbClr val="EF4444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345091" y="490739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8592741" y="4869299"/>
            <a:ext cx="2828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impact: 15-30% lost conversions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00050" y="5486520"/>
            <a:ext cx="11410950" cy="990600"/>
          </a:xfrm>
          <a:custGeom>
            <a:avLst/>
            <a:gdLst/>
            <a:ahLst/>
            <a:cxnLst/>
            <a:rect l="l" t="t" r="r" b="b"/>
            <a:pathLst>
              <a:path w="11410950" h="990600">
                <a:moveTo>
                  <a:pt x="0" y="0"/>
                </a:moveTo>
                <a:lnTo>
                  <a:pt x="11296650" y="0"/>
                </a:lnTo>
                <a:cubicBezTo>
                  <a:pt x="11359734" y="0"/>
                  <a:pt x="11410950" y="51216"/>
                  <a:pt x="11410950" y="114300"/>
                </a:cubicBezTo>
                <a:lnTo>
                  <a:pt x="11410950" y="876300"/>
                </a:lnTo>
                <a:cubicBezTo>
                  <a:pt x="11410950" y="939384"/>
                  <a:pt x="11359734" y="990600"/>
                  <a:pt x="11296650" y="990600"/>
                </a:cubicBezTo>
                <a:lnTo>
                  <a:pt x="0" y="9906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EF4444">
                  <a:alpha val="20000"/>
                </a:srgbClr>
              </a:gs>
              <a:gs pos="50000">
                <a:srgbClr val="F97316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0" name="Shape 28"/>
          <p:cNvSpPr/>
          <p:nvPr/>
        </p:nvSpPr>
        <p:spPr>
          <a:xfrm>
            <a:off x="400050" y="5486520"/>
            <a:ext cx="38100" cy="990600"/>
          </a:xfrm>
          <a:prstGeom prst="roundRect">
            <a:avLst>
              <a:gd name="adj" fmla="val 0"/>
            </a:avLst>
          </a:prstGeom>
          <a:solidFill>
            <a:srgbClr val="EF4444"/>
          </a:solidFill>
          <a:ln/>
        </p:spPr>
      </p:sp>
      <p:sp>
        <p:nvSpPr>
          <p:cNvPr id="31" name="Shape 29"/>
          <p:cNvSpPr/>
          <p:nvPr/>
        </p:nvSpPr>
        <p:spPr>
          <a:xfrm>
            <a:off x="652463" y="58102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50" y="342900"/>
                </a:moveTo>
                <a:cubicBezTo>
                  <a:pt x="266076" y="342900"/>
                  <a:pt x="342900" y="266076"/>
                  <a:pt x="342900" y="171450"/>
                </a:cubicBezTo>
                <a:cubicBezTo>
                  <a:pt x="342900" y="76824"/>
                  <a:pt x="266076" y="0"/>
                  <a:pt x="171450" y="0"/>
                </a:cubicBezTo>
                <a:cubicBezTo>
                  <a:pt x="76824" y="0"/>
                  <a:pt x="0" y="76824"/>
                  <a:pt x="0" y="171450"/>
                </a:cubicBezTo>
                <a:cubicBezTo>
                  <a:pt x="0" y="266076"/>
                  <a:pt x="76824" y="342900"/>
                  <a:pt x="171450" y="342900"/>
                </a:cubicBezTo>
                <a:close/>
                <a:moveTo>
                  <a:pt x="171450" y="91083"/>
                </a:moveTo>
                <a:cubicBezTo>
                  <a:pt x="180357" y="91083"/>
                  <a:pt x="187523" y="98249"/>
                  <a:pt x="187523" y="107156"/>
                </a:cubicBezTo>
                <a:lnTo>
                  <a:pt x="187523" y="182166"/>
                </a:lnTo>
                <a:cubicBezTo>
                  <a:pt x="187523" y="191073"/>
                  <a:pt x="180357" y="198239"/>
                  <a:pt x="171450" y="198239"/>
                </a:cubicBezTo>
                <a:cubicBezTo>
                  <a:pt x="162543" y="198239"/>
                  <a:pt x="155377" y="191073"/>
                  <a:pt x="155377" y="182166"/>
                </a:cubicBezTo>
                <a:lnTo>
                  <a:pt x="155377" y="107156"/>
                </a:lnTo>
                <a:cubicBezTo>
                  <a:pt x="155377" y="98249"/>
                  <a:pt x="162543" y="91083"/>
                  <a:pt x="171450" y="91083"/>
                </a:cubicBezTo>
                <a:close/>
                <a:moveTo>
                  <a:pt x="153568" y="235744"/>
                </a:moveTo>
                <a:cubicBezTo>
                  <a:pt x="153162" y="229106"/>
                  <a:pt x="156472" y="222791"/>
                  <a:pt x="162162" y="219350"/>
                </a:cubicBezTo>
                <a:cubicBezTo>
                  <a:pt x="167852" y="215908"/>
                  <a:pt x="174981" y="215908"/>
                  <a:pt x="180671" y="219350"/>
                </a:cubicBezTo>
                <a:cubicBezTo>
                  <a:pt x="186361" y="222791"/>
                  <a:pt x="189672" y="229106"/>
                  <a:pt x="189265" y="235744"/>
                </a:cubicBezTo>
                <a:cubicBezTo>
                  <a:pt x="189672" y="242381"/>
                  <a:pt x="186361" y="248696"/>
                  <a:pt x="180671" y="252138"/>
                </a:cubicBezTo>
                <a:cubicBezTo>
                  <a:pt x="174981" y="255580"/>
                  <a:pt x="167852" y="255580"/>
                  <a:pt x="162162" y="252138"/>
                </a:cubicBezTo>
                <a:cubicBezTo>
                  <a:pt x="156472" y="248696"/>
                  <a:pt x="153162" y="242381"/>
                  <a:pt x="153568" y="235744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1190625" y="5677020"/>
            <a:ext cx="6219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Bottom Line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90625" y="6019800"/>
            <a:ext cx="619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8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E-commerce teams waste </a:t>
            </a:r>
            <a:r>
              <a:rPr lang="en-US" sz="135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thousands of hours</a:t>
            </a:r>
            <a:r>
              <a:rPr lang="en-US" sz="1350" dirty="0">
                <a:solidFill>
                  <a:srgbClr val="F8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 content that </a:t>
            </a:r>
            <a:r>
              <a:rPr lang="en-US" sz="1350" b="1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still underperforms</a:t>
            </a:r>
            <a:r>
              <a:rPr lang="en-US" sz="1350" dirty="0">
                <a:solidFill>
                  <a:srgbClr val="F8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04328" y="384810"/>
            <a:ext cx="1979295" cy="312420"/>
          </a:xfrm>
          <a:prstGeom prst="roundRect">
            <a:avLst>
              <a:gd name="adj" fmla="val 50000"/>
            </a:avLst>
          </a:pr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279589" y="46482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95250"/>
                </a:moveTo>
                <a:lnTo>
                  <a:pt x="7293" y="95250"/>
                </a:lnTo>
                <a:cubicBezTo>
                  <a:pt x="-119" y="95250"/>
                  <a:pt x="-4673" y="87184"/>
                  <a:pt x="-863" y="80814"/>
                </a:cubicBezTo>
                <a:lnTo>
                  <a:pt x="14883" y="54560"/>
                </a:lnTo>
                <a:cubicBezTo>
                  <a:pt x="17472" y="50244"/>
                  <a:pt x="22116" y="47625"/>
                  <a:pt x="27146" y="47625"/>
                </a:cubicBezTo>
                <a:lnTo>
                  <a:pt x="55424" y="47625"/>
                </a:lnTo>
                <a:cubicBezTo>
                  <a:pt x="78075" y="9257"/>
                  <a:pt x="111859" y="7322"/>
                  <a:pt x="134451" y="10626"/>
                </a:cubicBezTo>
                <a:cubicBezTo>
                  <a:pt x="138261" y="11192"/>
                  <a:pt x="141238" y="14168"/>
                  <a:pt x="141774" y="17949"/>
                </a:cubicBezTo>
                <a:cubicBezTo>
                  <a:pt x="145078" y="40541"/>
                  <a:pt x="143143" y="74325"/>
                  <a:pt x="104775" y="96976"/>
                </a:cubicBezTo>
                <a:lnTo>
                  <a:pt x="104775" y="125254"/>
                </a:lnTo>
                <a:cubicBezTo>
                  <a:pt x="104775" y="130284"/>
                  <a:pt x="102156" y="134928"/>
                  <a:pt x="97840" y="137517"/>
                </a:cubicBezTo>
                <a:lnTo>
                  <a:pt x="71586" y="153263"/>
                </a:lnTo>
                <a:cubicBezTo>
                  <a:pt x="65246" y="157073"/>
                  <a:pt x="57150" y="152489"/>
                  <a:pt x="57150" y="145107"/>
                </a:cubicBezTo>
                <a:lnTo>
                  <a:pt x="57150" y="114300"/>
                </a:lnTo>
                <a:cubicBezTo>
                  <a:pt x="57150" y="103793"/>
                  <a:pt x="48607" y="95250"/>
                  <a:pt x="38100" y="95250"/>
                </a:cubicBezTo>
                <a:lnTo>
                  <a:pt x="38070" y="95250"/>
                </a:lnTo>
                <a:close/>
                <a:moveTo>
                  <a:pt x="119062" y="47625"/>
                </a:moveTo>
                <a:cubicBezTo>
                  <a:pt x="119062" y="39740"/>
                  <a:pt x="112660" y="33338"/>
                  <a:pt x="104775" y="33338"/>
                </a:cubicBezTo>
                <a:cubicBezTo>
                  <a:pt x="96890" y="33338"/>
                  <a:pt x="90488" y="39740"/>
                  <a:pt x="90488" y="47625"/>
                </a:cubicBezTo>
                <a:cubicBezTo>
                  <a:pt x="90488" y="55510"/>
                  <a:pt x="96890" y="61912"/>
                  <a:pt x="104775" y="61912"/>
                </a:cubicBezTo>
                <a:cubicBezTo>
                  <a:pt x="112660" y="61912"/>
                  <a:pt x="119062" y="55510"/>
                  <a:pt x="119062" y="4762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493901" y="445770"/>
            <a:ext cx="146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kern="0" spc="53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 Overview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66700" y="85344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ContentBoost AI?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619250"/>
            <a:ext cx="11418570" cy="1083945"/>
          </a:xfrm>
          <a:prstGeom prst="roundRect">
            <a:avLst>
              <a:gd name="adj" fmla="val 14060"/>
            </a:avLst>
          </a:prstGeom>
          <a:gradFill flip="none" rotWithShape="1">
            <a:gsLst>
              <a:gs pos="0">
                <a:srgbClr val="6366F1">
                  <a:alpha val="15000"/>
                </a:srgbClr>
              </a:gs>
              <a:gs pos="50000">
                <a:srgbClr val="A855F7">
                  <a:alpha val="10000"/>
                </a:srgbClr>
              </a:gs>
              <a:gs pos="100000">
                <a:srgbClr val="6366F1">
                  <a:alpha val="15000"/>
                </a:srgbClr>
              </a:gs>
            </a:gsLst>
            <a:lin ang="0" scaled="1"/>
          </a:gra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9595" y="1851660"/>
            <a:ext cx="11049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8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AI-powered product description optimization engine that generates </a:t>
            </a:r>
            <a:r>
              <a:rPr lang="en-US" sz="1500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SEO-ready</a:t>
            </a:r>
            <a:r>
              <a:rPr lang="en-US" sz="1500" dirty="0">
                <a:solidFill>
                  <a:srgbClr val="F8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r>
              <a:rPr lang="en-US" sz="1500" b="1" dirty="0">
                <a:solidFill>
                  <a:srgbClr val="A85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conversion-focused</a:t>
            </a:r>
            <a:r>
              <a:rPr lang="en-US" sz="1500" dirty="0">
                <a:solidFill>
                  <a:srgbClr val="F8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</a:t>
            </a:r>
            <a:r>
              <a:rPr lang="en-US" sz="1500" b="1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brand-differentiated</a:t>
            </a:r>
            <a:r>
              <a:rPr lang="en-US" sz="1500" dirty="0">
                <a:solidFill>
                  <a:srgbClr val="F8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copy in seconds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4810" y="2901316"/>
            <a:ext cx="5627370" cy="1836420"/>
          </a:xfrm>
          <a:prstGeom prst="roundRect">
            <a:avLst>
              <a:gd name="adj" fmla="val 6224"/>
            </a:avLst>
          </a:prstGeom>
          <a:gradFill flip="none" rotWithShape="1">
            <a:gsLst>
              <a:gs pos="0">
                <a:srgbClr val="6366F1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6366F1">
                <a:alpha val="25098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9120" y="3095625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6366F1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05326" y="32194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06108" y="-17301"/>
                </a:moveTo>
                <a:cubicBezTo>
                  <a:pt x="212750" y="-19255"/>
                  <a:pt x="219726" y="-15794"/>
                  <a:pt x="222293" y="-9544"/>
                </a:cubicBezTo>
                <a:lnTo>
                  <a:pt x="222740" y="-8260"/>
                </a:lnTo>
                <a:lnTo>
                  <a:pt x="245064" y="67642"/>
                </a:lnTo>
                <a:cubicBezTo>
                  <a:pt x="246459" y="72330"/>
                  <a:pt x="245120" y="77409"/>
                  <a:pt x="241660" y="80869"/>
                </a:cubicBezTo>
                <a:lnTo>
                  <a:pt x="205885" y="116644"/>
                </a:lnTo>
                <a:lnTo>
                  <a:pt x="248524" y="105035"/>
                </a:lnTo>
                <a:lnTo>
                  <a:pt x="259631" y="71661"/>
                </a:lnTo>
                <a:lnTo>
                  <a:pt x="260133" y="70377"/>
                </a:lnTo>
                <a:cubicBezTo>
                  <a:pt x="262923" y="64182"/>
                  <a:pt x="270011" y="61001"/>
                  <a:pt x="276597" y="63178"/>
                </a:cubicBezTo>
                <a:cubicBezTo>
                  <a:pt x="283183" y="65354"/>
                  <a:pt x="286922" y="72163"/>
                  <a:pt x="285415" y="78804"/>
                </a:cubicBezTo>
                <a:lnTo>
                  <a:pt x="285024" y="80144"/>
                </a:lnTo>
                <a:lnTo>
                  <a:pt x="271630" y="120328"/>
                </a:lnTo>
                <a:cubicBezTo>
                  <a:pt x="270235" y="124569"/>
                  <a:pt x="266774" y="127806"/>
                  <a:pt x="262421" y="129034"/>
                </a:cubicBezTo>
                <a:lnTo>
                  <a:pt x="211578" y="142875"/>
                </a:lnTo>
                <a:lnTo>
                  <a:pt x="262421" y="156716"/>
                </a:lnTo>
                <a:cubicBezTo>
                  <a:pt x="266719" y="157888"/>
                  <a:pt x="270179" y="161181"/>
                  <a:pt x="271630" y="165422"/>
                </a:cubicBezTo>
                <a:lnTo>
                  <a:pt x="285024" y="205606"/>
                </a:lnTo>
                <a:lnTo>
                  <a:pt x="285415" y="206946"/>
                </a:lnTo>
                <a:cubicBezTo>
                  <a:pt x="286922" y="213587"/>
                  <a:pt x="283127" y="220396"/>
                  <a:pt x="276597" y="222572"/>
                </a:cubicBezTo>
                <a:cubicBezTo>
                  <a:pt x="270011" y="224749"/>
                  <a:pt x="262923" y="221568"/>
                  <a:pt x="260133" y="215373"/>
                </a:cubicBezTo>
                <a:lnTo>
                  <a:pt x="259631" y="214089"/>
                </a:lnTo>
                <a:lnTo>
                  <a:pt x="248524" y="180715"/>
                </a:lnTo>
                <a:lnTo>
                  <a:pt x="205885" y="169106"/>
                </a:lnTo>
                <a:lnTo>
                  <a:pt x="241660" y="204881"/>
                </a:lnTo>
                <a:cubicBezTo>
                  <a:pt x="245064" y="208285"/>
                  <a:pt x="246404" y="213308"/>
                  <a:pt x="245120" y="217940"/>
                </a:cubicBezTo>
                <a:lnTo>
                  <a:pt x="222796" y="298307"/>
                </a:lnTo>
                <a:lnTo>
                  <a:pt x="222349" y="299591"/>
                </a:lnTo>
                <a:cubicBezTo>
                  <a:pt x="219894" y="305898"/>
                  <a:pt x="212973" y="309469"/>
                  <a:pt x="206276" y="307628"/>
                </a:cubicBezTo>
                <a:cubicBezTo>
                  <a:pt x="199579" y="305786"/>
                  <a:pt x="195504" y="299145"/>
                  <a:pt x="196676" y="292447"/>
                </a:cubicBezTo>
                <a:lnTo>
                  <a:pt x="196955" y="291108"/>
                </a:lnTo>
                <a:lnTo>
                  <a:pt x="217159" y="218275"/>
                </a:lnTo>
                <a:lnTo>
                  <a:pt x="196397" y="197514"/>
                </a:lnTo>
                <a:cubicBezTo>
                  <a:pt x="195895" y="226591"/>
                  <a:pt x="172120" y="250031"/>
                  <a:pt x="142875" y="250031"/>
                </a:cubicBezTo>
                <a:cubicBezTo>
                  <a:pt x="113630" y="250031"/>
                  <a:pt x="89855" y="226591"/>
                  <a:pt x="89297" y="197514"/>
                </a:cubicBezTo>
                <a:lnTo>
                  <a:pt x="68647" y="218163"/>
                </a:lnTo>
                <a:lnTo>
                  <a:pt x="88739" y="286420"/>
                </a:lnTo>
                <a:lnTo>
                  <a:pt x="89074" y="287759"/>
                </a:lnTo>
                <a:cubicBezTo>
                  <a:pt x="90301" y="294401"/>
                  <a:pt x="86339" y="301098"/>
                  <a:pt x="79697" y="303051"/>
                </a:cubicBezTo>
                <a:cubicBezTo>
                  <a:pt x="73056" y="305005"/>
                  <a:pt x="66080" y="301544"/>
                  <a:pt x="63512" y="295294"/>
                </a:cubicBezTo>
                <a:lnTo>
                  <a:pt x="63066" y="294010"/>
                </a:lnTo>
                <a:lnTo>
                  <a:pt x="40742" y="218108"/>
                </a:lnTo>
                <a:cubicBezTo>
                  <a:pt x="39346" y="213420"/>
                  <a:pt x="40686" y="208341"/>
                  <a:pt x="44146" y="204825"/>
                </a:cubicBezTo>
                <a:lnTo>
                  <a:pt x="79921" y="169050"/>
                </a:lnTo>
                <a:lnTo>
                  <a:pt x="37281" y="180659"/>
                </a:lnTo>
                <a:lnTo>
                  <a:pt x="26175" y="214033"/>
                </a:lnTo>
                <a:lnTo>
                  <a:pt x="25673" y="215317"/>
                </a:lnTo>
                <a:cubicBezTo>
                  <a:pt x="22882" y="221512"/>
                  <a:pt x="15794" y="224693"/>
                  <a:pt x="9209" y="222517"/>
                </a:cubicBezTo>
                <a:cubicBezTo>
                  <a:pt x="2623" y="220340"/>
                  <a:pt x="-1116" y="213531"/>
                  <a:pt x="391" y="206890"/>
                </a:cubicBezTo>
                <a:lnTo>
                  <a:pt x="781" y="205550"/>
                </a:lnTo>
                <a:lnTo>
                  <a:pt x="14176" y="165367"/>
                </a:lnTo>
                <a:cubicBezTo>
                  <a:pt x="15571" y="161125"/>
                  <a:pt x="19031" y="157888"/>
                  <a:pt x="23385" y="156660"/>
                </a:cubicBezTo>
                <a:lnTo>
                  <a:pt x="74228" y="142819"/>
                </a:lnTo>
                <a:lnTo>
                  <a:pt x="23385" y="128978"/>
                </a:lnTo>
                <a:cubicBezTo>
                  <a:pt x="19087" y="127806"/>
                  <a:pt x="15627" y="124513"/>
                  <a:pt x="14176" y="120272"/>
                </a:cubicBezTo>
                <a:lnTo>
                  <a:pt x="781" y="80088"/>
                </a:lnTo>
                <a:lnTo>
                  <a:pt x="391" y="78749"/>
                </a:lnTo>
                <a:cubicBezTo>
                  <a:pt x="-1116" y="72107"/>
                  <a:pt x="2679" y="65298"/>
                  <a:pt x="9209" y="63122"/>
                </a:cubicBezTo>
                <a:cubicBezTo>
                  <a:pt x="15739" y="60945"/>
                  <a:pt x="22882" y="64126"/>
                  <a:pt x="25673" y="70321"/>
                </a:cubicBezTo>
                <a:lnTo>
                  <a:pt x="26175" y="71605"/>
                </a:lnTo>
                <a:lnTo>
                  <a:pt x="37281" y="104980"/>
                </a:lnTo>
                <a:lnTo>
                  <a:pt x="79921" y="116588"/>
                </a:lnTo>
                <a:lnTo>
                  <a:pt x="44146" y="80814"/>
                </a:lnTo>
                <a:cubicBezTo>
                  <a:pt x="40686" y="77353"/>
                  <a:pt x="39402" y="72275"/>
                  <a:pt x="40742" y="67587"/>
                </a:cubicBezTo>
                <a:lnTo>
                  <a:pt x="63066" y="-8316"/>
                </a:lnTo>
                <a:lnTo>
                  <a:pt x="63512" y="-9599"/>
                </a:lnTo>
                <a:cubicBezTo>
                  <a:pt x="66080" y="-15906"/>
                  <a:pt x="73056" y="-19310"/>
                  <a:pt x="79697" y="-17357"/>
                </a:cubicBezTo>
                <a:cubicBezTo>
                  <a:pt x="86339" y="-15404"/>
                  <a:pt x="90301" y="-8706"/>
                  <a:pt x="89074" y="-2065"/>
                </a:cubicBezTo>
                <a:lnTo>
                  <a:pt x="88739" y="-726"/>
                </a:lnTo>
                <a:lnTo>
                  <a:pt x="68647" y="67531"/>
                </a:lnTo>
                <a:lnTo>
                  <a:pt x="98227" y="97110"/>
                </a:lnTo>
                <a:cubicBezTo>
                  <a:pt x="98785" y="72944"/>
                  <a:pt x="118542" y="53522"/>
                  <a:pt x="142819" y="53522"/>
                </a:cubicBezTo>
                <a:cubicBezTo>
                  <a:pt x="167097" y="53522"/>
                  <a:pt x="186854" y="72944"/>
                  <a:pt x="187412" y="97166"/>
                </a:cubicBezTo>
                <a:lnTo>
                  <a:pt x="217047" y="67531"/>
                </a:lnTo>
                <a:lnTo>
                  <a:pt x="196955" y="-726"/>
                </a:lnTo>
                <a:lnTo>
                  <a:pt x="196621" y="-2065"/>
                </a:lnTo>
                <a:cubicBezTo>
                  <a:pt x="195393" y="-8762"/>
                  <a:pt x="199355" y="-15404"/>
                  <a:pt x="205997" y="-1735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264920" y="3209925"/>
            <a:ext cx="342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Competitor Intelligence Scraping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9120" y="3743325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Automatically scrapes up to </a:t>
            </a:r>
            <a:r>
              <a:rPr lang="en-US" sz="1200" b="1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competitor URLs</a:t>
            </a: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using Firecrawl, extracting USPs, tone, keyword patterns, and market positioning in real-time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8170" y="43719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845820" y="4352925"/>
            <a:ext cx="1838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competitive analysis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76010" y="2901316"/>
            <a:ext cx="5627370" cy="1836420"/>
          </a:xfrm>
          <a:prstGeom prst="roundRect">
            <a:avLst>
              <a:gd name="adj" fmla="val 6224"/>
            </a:avLst>
          </a:prstGeom>
          <a:gradFill flip="none" rotWithShape="1">
            <a:gsLst>
              <a:gs pos="0">
                <a:srgbClr val="A855F7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A855F7">
                <a:alpha val="25098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70320" y="3095625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A855F7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478667" y="3219450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34125" y="53578"/>
                </a:moveTo>
                <a:cubicBezTo>
                  <a:pt x="224861" y="53578"/>
                  <a:pt x="215875" y="56090"/>
                  <a:pt x="208006" y="60666"/>
                </a:cubicBezTo>
                <a:cubicBezTo>
                  <a:pt x="199188" y="51736"/>
                  <a:pt x="188919" y="44258"/>
                  <a:pt x="177589" y="38621"/>
                </a:cubicBezTo>
                <a:cubicBezTo>
                  <a:pt x="193328" y="25226"/>
                  <a:pt x="213364" y="17859"/>
                  <a:pt x="234125" y="17859"/>
                </a:cubicBezTo>
                <a:cubicBezTo>
                  <a:pt x="282346" y="17859"/>
                  <a:pt x="321469" y="56927"/>
                  <a:pt x="321469" y="105203"/>
                </a:cubicBezTo>
                <a:cubicBezTo>
                  <a:pt x="321469" y="128364"/>
                  <a:pt x="312260" y="150577"/>
                  <a:pt x="295908" y="166929"/>
                </a:cubicBezTo>
                <a:lnTo>
                  <a:pt x="256226" y="206611"/>
                </a:lnTo>
                <a:cubicBezTo>
                  <a:pt x="239874" y="222963"/>
                  <a:pt x="217661" y="232172"/>
                  <a:pt x="194500" y="232172"/>
                </a:cubicBezTo>
                <a:cubicBezTo>
                  <a:pt x="146279" y="232172"/>
                  <a:pt x="107156" y="193104"/>
                  <a:pt x="107156" y="144828"/>
                </a:cubicBezTo>
                <a:cubicBezTo>
                  <a:pt x="107156" y="143991"/>
                  <a:pt x="107156" y="143154"/>
                  <a:pt x="107212" y="142317"/>
                </a:cubicBezTo>
                <a:cubicBezTo>
                  <a:pt x="107491" y="132438"/>
                  <a:pt x="115695" y="124681"/>
                  <a:pt x="125574" y="124960"/>
                </a:cubicBezTo>
                <a:cubicBezTo>
                  <a:pt x="135452" y="125239"/>
                  <a:pt x="143210" y="133443"/>
                  <a:pt x="142931" y="143321"/>
                </a:cubicBezTo>
                <a:cubicBezTo>
                  <a:pt x="142931" y="143824"/>
                  <a:pt x="142931" y="144326"/>
                  <a:pt x="142931" y="144773"/>
                </a:cubicBezTo>
                <a:cubicBezTo>
                  <a:pt x="142931" y="173292"/>
                  <a:pt x="166036" y="196397"/>
                  <a:pt x="194556" y="196397"/>
                </a:cubicBezTo>
                <a:cubicBezTo>
                  <a:pt x="208229" y="196397"/>
                  <a:pt x="221345" y="190984"/>
                  <a:pt x="231056" y="181273"/>
                </a:cubicBezTo>
                <a:lnTo>
                  <a:pt x="270737" y="141591"/>
                </a:lnTo>
                <a:cubicBezTo>
                  <a:pt x="280392" y="131936"/>
                  <a:pt x="285862" y="118765"/>
                  <a:pt x="285862" y="105091"/>
                </a:cubicBezTo>
                <a:cubicBezTo>
                  <a:pt x="285862" y="76572"/>
                  <a:pt x="262756" y="53467"/>
                  <a:pt x="234237" y="53467"/>
                </a:cubicBezTo>
                <a:close/>
                <a:moveTo>
                  <a:pt x="153591" y="96720"/>
                </a:moveTo>
                <a:cubicBezTo>
                  <a:pt x="152530" y="96273"/>
                  <a:pt x="151470" y="95659"/>
                  <a:pt x="150521" y="94990"/>
                </a:cubicBezTo>
                <a:cubicBezTo>
                  <a:pt x="143489" y="91362"/>
                  <a:pt x="135452" y="89297"/>
                  <a:pt x="127025" y="89297"/>
                </a:cubicBezTo>
                <a:cubicBezTo>
                  <a:pt x="113351" y="89297"/>
                  <a:pt x="100236" y="94710"/>
                  <a:pt x="90525" y="104422"/>
                </a:cubicBezTo>
                <a:lnTo>
                  <a:pt x="50843" y="144103"/>
                </a:lnTo>
                <a:cubicBezTo>
                  <a:pt x="41188" y="153758"/>
                  <a:pt x="35719" y="166929"/>
                  <a:pt x="35719" y="180603"/>
                </a:cubicBezTo>
                <a:cubicBezTo>
                  <a:pt x="35719" y="209122"/>
                  <a:pt x="58824" y="232228"/>
                  <a:pt x="87344" y="232228"/>
                </a:cubicBezTo>
                <a:cubicBezTo>
                  <a:pt x="96552" y="232228"/>
                  <a:pt x="105538" y="229772"/>
                  <a:pt x="113407" y="225196"/>
                </a:cubicBezTo>
                <a:cubicBezTo>
                  <a:pt x="122225" y="234125"/>
                  <a:pt x="132494" y="241604"/>
                  <a:pt x="143880" y="247241"/>
                </a:cubicBezTo>
                <a:cubicBezTo>
                  <a:pt x="128141" y="260579"/>
                  <a:pt x="108161" y="268002"/>
                  <a:pt x="87344" y="268002"/>
                </a:cubicBezTo>
                <a:cubicBezTo>
                  <a:pt x="39123" y="268002"/>
                  <a:pt x="0" y="228935"/>
                  <a:pt x="0" y="180659"/>
                </a:cubicBezTo>
                <a:cubicBezTo>
                  <a:pt x="0" y="157497"/>
                  <a:pt x="9209" y="135285"/>
                  <a:pt x="25561" y="118932"/>
                </a:cubicBezTo>
                <a:lnTo>
                  <a:pt x="65243" y="79251"/>
                </a:lnTo>
                <a:cubicBezTo>
                  <a:pt x="81595" y="62898"/>
                  <a:pt x="103808" y="53690"/>
                  <a:pt x="126969" y="53690"/>
                </a:cubicBezTo>
                <a:cubicBezTo>
                  <a:pt x="175301" y="53690"/>
                  <a:pt x="214313" y="93092"/>
                  <a:pt x="214313" y="141256"/>
                </a:cubicBezTo>
                <a:cubicBezTo>
                  <a:pt x="214313" y="141982"/>
                  <a:pt x="214313" y="142708"/>
                  <a:pt x="214313" y="143433"/>
                </a:cubicBezTo>
                <a:cubicBezTo>
                  <a:pt x="214089" y="153312"/>
                  <a:pt x="205885" y="161069"/>
                  <a:pt x="196007" y="160846"/>
                </a:cubicBezTo>
                <a:cubicBezTo>
                  <a:pt x="186128" y="160623"/>
                  <a:pt x="178371" y="152419"/>
                  <a:pt x="178594" y="142540"/>
                </a:cubicBezTo>
                <a:cubicBezTo>
                  <a:pt x="178594" y="142094"/>
                  <a:pt x="178594" y="141703"/>
                  <a:pt x="178594" y="141256"/>
                </a:cubicBezTo>
                <a:cubicBezTo>
                  <a:pt x="178594" y="122448"/>
                  <a:pt x="168548" y="105928"/>
                  <a:pt x="153591" y="96831"/>
                </a:cubicBezTo>
                <a:close/>
              </a:path>
            </a:pathLst>
          </a:custGeom>
          <a:solidFill>
            <a:srgbClr val="A855F7"/>
          </a:solidFill>
          <a:ln/>
        </p:spPr>
      </p:sp>
      <p:sp>
        <p:nvSpPr>
          <p:cNvPr id="18" name="Text 16"/>
          <p:cNvSpPr/>
          <p:nvPr/>
        </p:nvSpPr>
        <p:spPr>
          <a:xfrm>
            <a:off x="7056120" y="3209925"/>
            <a:ext cx="2057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3-Stage LLM Chain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70320" y="3743325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sophisticated pipeline combining </a:t>
            </a:r>
            <a:r>
              <a:rPr lang="en-US" sz="1200" b="1" dirty="0">
                <a:solidFill>
                  <a:srgbClr val="A85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competitor analysis</a:t>
            </a: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r>
              <a:rPr lang="en-US" sz="1200" b="1" dirty="0">
                <a:solidFill>
                  <a:srgbClr val="A85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retrieval</a:t>
            </a: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</a:t>
            </a:r>
            <a:r>
              <a:rPr lang="en-US" sz="1200" b="1" dirty="0">
                <a:solidFill>
                  <a:srgbClr val="A85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variant generation</a:t>
            </a: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powered by Claude AI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89370" y="43719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A855F7"/>
          </a:solidFill>
          <a:ln/>
        </p:spPr>
      </p:sp>
      <p:sp>
        <p:nvSpPr>
          <p:cNvPr id="21" name="Text 19"/>
          <p:cNvSpPr/>
          <p:nvPr/>
        </p:nvSpPr>
        <p:spPr>
          <a:xfrm>
            <a:off x="6637020" y="4352925"/>
            <a:ext cx="1438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A85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automation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4810" y="4897755"/>
            <a:ext cx="5627370" cy="1836420"/>
          </a:xfrm>
          <a:prstGeom prst="roundRect">
            <a:avLst>
              <a:gd name="adj" fmla="val 6224"/>
            </a:avLst>
          </a:prstGeom>
          <a:gradFill flip="none" rotWithShape="1">
            <a:gsLst>
              <a:gs pos="0">
                <a:srgbClr val="22D3EE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22D3EE">
                <a:alpha val="25098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9120" y="5092066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22D3EE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05326" y="521589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25" name="Text 23"/>
          <p:cNvSpPr/>
          <p:nvPr/>
        </p:nvSpPr>
        <p:spPr>
          <a:xfrm>
            <a:off x="1264920" y="5206366"/>
            <a:ext cx="2600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Memory-Based Learning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79120" y="5739766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Uses </a:t>
            </a:r>
            <a:r>
              <a:rPr lang="en-US" sz="1200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mem0 vector memory</a:t>
            </a: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store successful descriptions as embeddings, enabling the system to learn and improve with every optimization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98170" y="636841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28" name="Text 26"/>
          <p:cNvSpPr/>
          <p:nvPr/>
        </p:nvSpPr>
        <p:spPr>
          <a:xfrm>
            <a:off x="845820" y="6349366"/>
            <a:ext cx="1857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Continuously improving quality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76010" y="4897755"/>
            <a:ext cx="5627370" cy="1836420"/>
          </a:xfrm>
          <a:prstGeom prst="roundRect">
            <a:avLst>
              <a:gd name="adj" fmla="val 6224"/>
            </a:avLst>
          </a:prstGeom>
          <a:gradFill flip="none" rotWithShape="1">
            <a:gsLst>
              <a:gs pos="0">
                <a:srgbClr val="6366F1">
                  <a:alpha val="15000"/>
                </a:srgbClr>
              </a:gs>
              <a:gs pos="100000">
                <a:srgbClr val="A855F7">
                  <a:alpha val="10000"/>
                </a:srgbClr>
              </a:gs>
            </a:gsLst>
            <a:lin ang="2700000" scaled="1"/>
          </a:gradFill>
          <a:ln w="10160">
            <a:solidFill>
              <a:srgbClr val="6366F1">
                <a:alpha val="25098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70320" y="5092066"/>
            <a:ext cx="533400" cy="533400"/>
          </a:xfrm>
          <a:prstGeom prst="roundRect">
            <a:avLst>
              <a:gd name="adj" fmla="val 21429"/>
            </a:avLst>
          </a:prstGeom>
          <a:gradFill flip="none" rotWithShape="1">
            <a:gsLst>
              <a:gs pos="0">
                <a:srgbClr val="6366F1">
                  <a:alpha val="20000"/>
                </a:srgbClr>
              </a:gs>
              <a:gs pos="100000">
                <a:srgbClr val="A855F7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31" name="Shape 29"/>
          <p:cNvSpPr/>
          <p:nvPr/>
        </p:nvSpPr>
        <p:spPr>
          <a:xfrm>
            <a:off x="6496526" y="521589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7859" y="17859"/>
                </a:moveTo>
                <a:cubicBezTo>
                  <a:pt x="27738" y="17859"/>
                  <a:pt x="35719" y="25840"/>
                  <a:pt x="35719" y="35719"/>
                </a:cubicBezTo>
                <a:lnTo>
                  <a:pt x="35719" y="223242"/>
                </a:lnTo>
                <a:cubicBezTo>
                  <a:pt x="35719" y="228154"/>
                  <a:pt x="39737" y="232172"/>
                  <a:pt x="44648" y="232172"/>
                </a:cubicBezTo>
                <a:lnTo>
                  <a:pt x="267891" y="232172"/>
                </a:lnTo>
                <a:cubicBezTo>
                  <a:pt x="277769" y="232172"/>
                  <a:pt x="285750" y="240153"/>
                  <a:pt x="285750" y="250031"/>
                </a:cubicBezTo>
                <a:cubicBezTo>
                  <a:pt x="285750" y="259910"/>
                  <a:pt x="277769" y="267891"/>
                  <a:pt x="267891" y="267891"/>
                </a:cubicBezTo>
                <a:lnTo>
                  <a:pt x="44648" y="267891"/>
                </a:lnTo>
                <a:cubicBezTo>
                  <a:pt x="19980" y="267891"/>
                  <a:pt x="0" y="247910"/>
                  <a:pt x="0" y="223242"/>
                </a:cubicBezTo>
                <a:lnTo>
                  <a:pt x="0" y="35719"/>
                </a:lnTo>
                <a:cubicBezTo>
                  <a:pt x="0" y="25840"/>
                  <a:pt x="7981" y="17859"/>
                  <a:pt x="17859" y="17859"/>
                </a:cubicBezTo>
                <a:close/>
                <a:moveTo>
                  <a:pt x="71438" y="53578"/>
                </a:moveTo>
                <a:cubicBezTo>
                  <a:pt x="71438" y="43700"/>
                  <a:pt x="79418" y="35719"/>
                  <a:pt x="89297" y="35719"/>
                </a:cubicBezTo>
                <a:lnTo>
                  <a:pt x="196453" y="35719"/>
                </a:lnTo>
                <a:cubicBezTo>
                  <a:pt x="206332" y="35719"/>
                  <a:pt x="214313" y="43700"/>
                  <a:pt x="214313" y="53578"/>
                </a:cubicBezTo>
                <a:cubicBezTo>
                  <a:pt x="214313" y="63457"/>
                  <a:pt x="206332" y="71438"/>
                  <a:pt x="196453" y="71438"/>
                </a:cubicBezTo>
                <a:lnTo>
                  <a:pt x="89297" y="71438"/>
                </a:lnTo>
                <a:cubicBezTo>
                  <a:pt x="79418" y="71438"/>
                  <a:pt x="71438" y="63457"/>
                  <a:pt x="71438" y="53578"/>
                </a:cubicBezTo>
                <a:close/>
                <a:moveTo>
                  <a:pt x="89297" y="98227"/>
                </a:moveTo>
                <a:lnTo>
                  <a:pt x="160734" y="98227"/>
                </a:lnTo>
                <a:cubicBezTo>
                  <a:pt x="170613" y="98227"/>
                  <a:pt x="178594" y="106207"/>
                  <a:pt x="178594" y="116086"/>
                </a:cubicBezTo>
                <a:cubicBezTo>
                  <a:pt x="178594" y="125964"/>
                  <a:pt x="170613" y="133945"/>
                  <a:pt x="160734" y="133945"/>
                </a:cubicBezTo>
                <a:lnTo>
                  <a:pt x="89297" y="133945"/>
                </a:lnTo>
                <a:cubicBezTo>
                  <a:pt x="79418" y="133945"/>
                  <a:pt x="71438" y="125964"/>
                  <a:pt x="71438" y="116086"/>
                </a:cubicBezTo>
                <a:cubicBezTo>
                  <a:pt x="71438" y="106207"/>
                  <a:pt x="79418" y="98227"/>
                  <a:pt x="89297" y="98227"/>
                </a:cubicBezTo>
                <a:close/>
                <a:moveTo>
                  <a:pt x="89297" y="160734"/>
                </a:moveTo>
                <a:lnTo>
                  <a:pt x="232172" y="160734"/>
                </a:lnTo>
                <a:cubicBezTo>
                  <a:pt x="242050" y="160734"/>
                  <a:pt x="250031" y="168715"/>
                  <a:pt x="250031" y="178594"/>
                </a:cubicBezTo>
                <a:cubicBezTo>
                  <a:pt x="250031" y="188472"/>
                  <a:pt x="242050" y="196453"/>
                  <a:pt x="232172" y="196453"/>
                </a:cubicBezTo>
                <a:lnTo>
                  <a:pt x="89297" y="196453"/>
                </a:lnTo>
                <a:cubicBezTo>
                  <a:pt x="79418" y="196453"/>
                  <a:pt x="71438" y="188472"/>
                  <a:pt x="71438" y="178594"/>
                </a:cubicBezTo>
                <a:cubicBezTo>
                  <a:pt x="71438" y="168715"/>
                  <a:pt x="79418" y="160734"/>
                  <a:pt x="89297" y="16073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2" name="Text 30"/>
          <p:cNvSpPr/>
          <p:nvPr/>
        </p:nvSpPr>
        <p:spPr>
          <a:xfrm>
            <a:off x="7056120" y="5206366"/>
            <a:ext cx="2552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SEO Scoring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70320" y="5739766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Four-component </a:t>
            </a:r>
            <a:r>
              <a:rPr lang="en-US" sz="1200" b="1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weighted scoring system</a:t>
            </a: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(0-100) evaluating keyword match, optimal length, readability, and power words for instant quality assessment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89370" y="636841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5" name="Text 33"/>
          <p:cNvSpPr/>
          <p:nvPr/>
        </p:nvSpPr>
        <p:spPr>
          <a:xfrm>
            <a:off x="6637020" y="6349366"/>
            <a:ext cx="1504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Objective quality metrics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1142" y="371142"/>
            <a:ext cx="11672402" cy="445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0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Technologies Powering ContentBoost AI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1142" y="890740"/>
            <a:ext cx="11533224" cy="259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5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modern full-stack architecture built for performance and scalability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9699" y="1336110"/>
            <a:ext cx="11431160" cy="1725808"/>
          </a:xfrm>
          <a:custGeom>
            <a:avLst/>
            <a:gdLst/>
            <a:ahLst/>
            <a:cxnLst/>
            <a:rect l="l" t="t" r="r" b="b"/>
            <a:pathLst>
              <a:path w="11431160" h="1725808">
                <a:moveTo>
                  <a:pt x="0" y="0"/>
                </a:moveTo>
                <a:lnTo>
                  <a:pt x="11319764" y="0"/>
                </a:lnTo>
                <a:cubicBezTo>
                  <a:pt x="11381277" y="0"/>
                  <a:pt x="11431143" y="49866"/>
                  <a:pt x="11431143" y="111379"/>
                </a:cubicBezTo>
                <a:lnTo>
                  <a:pt x="11431143" y="1614424"/>
                </a:lnTo>
                <a:cubicBezTo>
                  <a:pt x="11431143" y="1675937"/>
                  <a:pt x="11381277" y="1725803"/>
                  <a:pt x="11319764" y="1725803"/>
                </a:cubicBezTo>
                <a:lnTo>
                  <a:pt x="0" y="172580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6366F1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89699" y="1336110"/>
            <a:ext cx="37114" cy="1725808"/>
          </a:xfrm>
          <a:prstGeom prst="roundRect">
            <a:avLst>
              <a:gd name="adj" fmla="val 0"/>
            </a:avLst>
          </a:prstGeom>
          <a:solidFill>
            <a:srgbClr val="6366F1"/>
          </a:solidFill>
          <a:ln/>
        </p:spPr>
      </p:sp>
      <p:sp>
        <p:nvSpPr>
          <p:cNvPr id="6" name="Shape 4"/>
          <p:cNvSpPr/>
          <p:nvPr/>
        </p:nvSpPr>
        <p:spPr>
          <a:xfrm>
            <a:off x="556712" y="1484566"/>
            <a:ext cx="371142" cy="371142"/>
          </a:xfrm>
          <a:prstGeom prst="roundRect">
            <a:avLst>
              <a:gd name="adj" fmla="val 20000"/>
            </a:avLst>
          </a:prstGeom>
          <a:solidFill>
            <a:srgbClr val="6366F1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096" y="1577352"/>
            <a:ext cx="162374" cy="185571"/>
          </a:xfrm>
          <a:custGeom>
            <a:avLst/>
            <a:gdLst/>
            <a:ahLst/>
            <a:cxnLst/>
            <a:rect l="l" t="t" r="r" b="b"/>
            <a:pathLst>
              <a:path w="162374" h="185571">
                <a:moveTo>
                  <a:pt x="23196" y="11598"/>
                </a:moveTo>
                <a:cubicBezTo>
                  <a:pt x="10402" y="11598"/>
                  <a:pt x="0" y="22000"/>
                  <a:pt x="0" y="34795"/>
                </a:cubicBezTo>
                <a:lnTo>
                  <a:pt x="0" y="57991"/>
                </a:lnTo>
                <a:cubicBezTo>
                  <a:pt x="0" y="70785"/>
                  <a:pt x="10402" y="81187"/>
                  <a:pt x="23196" y="81187"/>
                </a:cubicBezTo>
                <a:lnTo>
                  <a:pt x="139178" y="81187"/>
                </a:lnTo>
                <a:cubicBezTo>
                  <a:pt x="151972" y="81187"/>
                  <a:pt x="162374" y="70785"/>
                  <a:pt x="162374" y="57991"/>
                </a:cubicBezTo>
                <a:lnTo>
                  <a:pt x="162374" y="34795"/>
                </a:lnTo>
                <a:cubicBezTo>
                  <a:pt x="162374" y="22000"/>
                  <a:pt x="151972" y="11598"/>
                  <a:pt x="139178" y="11598"/>
                </a:cubicBezTo>
                <a:lnTo>
                  <a:pt x="23196" y="11598"/>
                </a:lnTo>
                <a:close/>
                <a:moveTo>
                  <a:pt x="101484" y="37694"/>
                </a:moveTo>
                <a:cubicBezTo>
                  <a:pt x="106285" y="37694"/>
                  <a:pt x="110183" y="41592"/>
                  <a:pt x="110183" y="46393"/>
                </a:cubicBezTo>
                <a:cubicBezTo>
                  <a:pt x="110183" y="51194"/>
                  <a:pt x="106285" y="55091"/>
                  <a:pt x="101484" y="55091"/>
                </a:cubicBezTo>
                <a:cubicBezTo>
                  <a:pt x="96683" y="55091"/>
                  <a:pt x="92785" y="51194"/>
                  <a:pt x="92785" y="46393"/>
                </a:cubicBezTo>
                <a:cubicBezTo>
                  <a:pt x="92785" y="41592"/>
                  <a:pt x="96683" y="37694"/>
                  <a:pt x="101484" y="37694"/>
                </a:cubicBezTo>
                <a:close/>
                <a:moveTo>
                  <a:pt x="121781" y="46393"/>
                </a:moveTo>
                <a:cubicBezTo>
                  <a:pt x="121781" y="41592"/>
                  <a:pt x="125679" y="37694"/>
                  <a:pt x="130479" y="37694"/>
                </a:cubicBezTo>
                <a:cubicBezTo>
                  <a:pt x="135280" y="37694"/>
                  <a:pt x="139178" y="41592"/>
                  <a:pt x="139178" y="46393"/>
                </a:cubicBezTo>
                <a:cubicBezTo>
                  <a:pt x="139178" y="51194"/>
                  <a:pt x="135280" y="55091"/>
                  <a:pt x="130479" y="55091"/>
                </a:cubicBezTo>
                <a:cubicBezTo>
                  <a:pt x="125679" y="55091"/>
                  <a:pt x="121781" y="51194"/>
                  <a:pt x="121781" y="46393"/>
                </a:cubicBezTo>
                <a:close/>
                <a:moveTo>
                  <a:pt x="23196" y="104384"/>
                </a:moveTo>
                <a:cubicBezTo>
                  <a:pt x="10402" y="104384"/>
                  <a:pt x="0" y="114786"/>
                  <a:pt x="0" y="127580"/>
                </a:cubicBezTo>
                <a:lnTo>
                  <a:pt x="0" y="150776"/>
                </a:lnTo>
                <a:cubicBezTo>
                  <a:pt x="0" y="163570"/>
                  <a:pt x="10402" y="173973"/>
                  <a:pt x="23196" y="173973"/>
                </a:cubicBezTo>
                <a:lnTo>
                  <a:pt x="139178" y="173973"/>
                </a:lnTo>
                <a:cubicBezTo>
                  <a:pt x="151972" y="173973"/>
                  <a:pt x="162374" y="163570"/>
                  <a:pt x="162374" y="150776"/>
                </a:cubicBezTo>
                <a:lnTo>
                  <a:pt x="162374" y="127580"/>
                </a:lnTo>
                <a:cubicBezTo>
                  <a:pt x="162374" y="114786"/>
                  <a:pt x="151972" y="104384"/>
                  <a:pt x="139178" y="104384"/>
                </a:cubicBezTo>
                <a:lnTo>
                  <a:pt x="23196" y="104384"/>
                </a:lnTo>
                <a:close/>
                <a:moveTo>
                  <a:pt x="101484" y="130479"/>
                </a:moveTo>
                <a:cubicBezTo>
                  <a:pt x="106285" y="130479"/>
                  <a:pt x="110183" y="134377"/>
                  <a:pt x="110183" y="139178"/>
                </a:cubicBezTo>
                <a:cubicBezTo>
                  <a:pt x="110183" y="143979"/>
                  <a:pt x="106285" y="147877"/>
                  <a:pt x="101484" y="147877"/>
                </a:cubicBezTo>
                <a:cubicBezTo>
                  <a:pt x="96683" y="147877"/>
                  <a:pt x="92785" y="143979"/>
                  <a:pt x="92785" y="139178"/>
                </a:cubicBezTo>
                <a:cubicBezTo>
                  <a:pt x="92785" y="134377"/>
                  <a:pt x="96683" y="130479"/>
                  <a:pt x="101484" y="130479"/>
                </a:cubicBezTo>
                <a:close/>
                <a:moveTo>
                  <a:pt x="121781" y="139178"/>
                </a:moveTo>
                <a:cubicBezTo>
                  <a:pt x="121781" y="134377"/>
                  <a:pt x="125679" y="130479"/>
                  <a:pt x="130479" y="130479"/>
                </a:cubicBezTo>
                <a:cubicBezTo>
                  <a:pt x="135280" y="130479"/>
                  <a:pt x="139178" y="134377"/>
                  <a:pt x="139178" y="139178"/>
                </a:cubicBezTo>
                <a:cubicBezTo>
                  <a:pt x="139178" y="143979"/>
                  <a:pt x="135280" y="147877"/>
                  <a:pt x="130479" y="147877"/>
                </a:cubicBezTo>
                <a:cubicBezTo>
                  <a:pt x="125679" y="147877"/>
                  <a:pt x="121781" y="143979"/>
                  <a:pt x="121781" y="13917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1039196" y="1521680"/>
            <a:ext cx="964968" cy="29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3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0424" y="1970762"/>
            <a:ext cx="2688921" cy="935277"/>
          </a:xfrm>
          <a:prstGeom prst="roundRect">
            <a:avLst>
              <a:gd name="adj" fmla="val 7937"/>
            </a:avLst>
          </a:prstGeom>
          <a:solidFill>
            <a:srgbClr val="0F1629"/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7231" y="2104373"/>
            <a:ext cx="194849" cy="222685"/>
          </a:xfrm>
          <a:custGeom>
            <a:avLst/>
            <a:gdLst/>
            <a:ahLst/>
            <a:cxnLst/>
            <a:rect l="l" t="t" r="r" b="b"/>
            <a:pathLst>
              <a:path w="194849" h="222685">
                <a:moveTo>
                  <a:pt x="191283" y="87204"/>
                </a:moveTo>
                <a:cubicBezTo>
                  <a:pt x="187934" y="73764"/>
                  <a:pt x="181584" y="63630"/>
                  <a:pt x="168058" y="63630"/>
                </a:cubicBezTo>
                <a:lnTo>
                  <a:pt x="150617" y="63630"/>
                </a:lnTo>
                <a:lnTo>
                  <a:pt x="150617" y="84246"/>
                </a:lnTo>
                <a:cubicBezTo>
                  <a:pt x="150617" y="100252"/>
                  <a:pt x="137047" y="113735"/>
                  <a:pt x="121563" y="113735"/>
                </a:cubicBezTo>
                <a:lnTo>
                  <a:pt x="75113" y="113735"/>
                </a:lnTo>
                <a:cubicBezTo>
                  <a:pt x="62413" y="113735"/>
                  <a:pt x="51887" y="124608"/>
                  <a:pt x="51887" y="137351"/>
                </a:cubicBezTo>
                <a:lnTo>
                  <a:pt x="51887" y="181627"/>
                </a:lnTo>
                <a:cubicBezTo>
                  <a:pt x="51887" y="194240"/>
                  <a:pt x="62848" y="201634"/>
                  <a:pt x="75113" y="205244"/>
                </a:cubicBezTo>
                <a:cubicBezTo>
                  <a:pt x="89813" y="209550"/>
                  <a:pt x="103949" y="210333"/>
                  <a:pt x="121563" y="205244"/>
                </a:cubicBezTo>
                <a:cubicBezTo>
                  <a:pt x="133263" y="201852"/>
                  <a:pt x="144789" y="195023"/>
                  <a:pt x="144789" y="181627"/>
                </a:cubicBezTo>
                <a:lnTo>
                  <a:pt x="144789" y="163926"/>
                </a:lnTo>
                <a:lnTo>
                  <a:pt x="98382" y="163926"/>
                </a:lnTo>
                <a:lnTo>
                  <a:pt x="98382" y="158011"/>
                </a:lnTo>
                <a:lnTo>
                  <a:pt x="168058" y="158011"/>
                </a:lnTo>
                <a:cubicBezTo>
                  <a:pt x="181584" y="158011"/>
                  <a:pt x="186586" y="148573"/>
                  <a:pt x="191283" y="134437"/>
                </a:cubicBezTo>
                <a:cubicBezTo>
                  <a:pt x="196154" y="119867"/>
                  <a:pt x="195937" y="105862"/>
                  <a:pt x="191283" y="87204"/>
                </a:cubicBezTo>
                <a:close/>
                <a:moveTo>
                  <a:pt x="124477" y="193414"/>
                </a:moveTo>
                <a:cubicBezTo>
                  <a:pt x="121167" y="193646"/>
                  <a:pt x="118004" y="192012"/>
                  <a:pt x="116278" y="189178"/>
                </a:cubicBezTo>
                <a:cubicBezTo>
                  <a:pt x="114553" y="186343"/>
                  <a:pt x="114553" y="182783"/>
                  <a:pt x="116278" y="179949"/>
                </a:cubicBezTo>
                <a:cubicBezTo>
                  <a:pt x="118004" y="177114"/>
                  <a:pt x="121167" y="175480"/>
                  <a:pt x="124477" y="175712"/>
                </a:cubicBezTo>
                <a:cubicBezTo>
                  <a:pt x="127788" y="175480"/>
                  <a:pt x="130951" y="177114"/>
                  <a:pt x="132676" y="179949"/>
                </a:cubicBezTo>
                <a:cubicBezTo>
                  <a:pt x="134402" y="182783"/>
                  <a:pt x="134402" y="186343"/>
                  <a:pt x="132676" y="189178"/>
                </a:cubicBezTo>
                <a:cubicBezTo>
                  <a:pt x="130951" y="192012"/>
                  <a:pt x="127788" y="193646"/>
                  <a:pt x="124477" y="193414"/>
                </a:cubicBezTo>
                <a:close/>
                <a:moveTo>
                  <a:pt x="72982" y="107907"/>
                </a:moveTo>
                <a:lnTo>
                  <a:pt x="119432" y="107907"/>
                </a:lnTo>
                <a:cubicBezTo>
                  <a:pt x="132350" y="107907"/>
                  <a:pt x="142658" y="97251"/>
                  <a:pt x="142658" y="84290"/>
                </a:cubicBezTo>
                <a:lnTo>
                  <a:pt x="142658" y="39970"/>
                </a:lnTo>
                <a:cubicBezTo>
                  <a:pt x="142658" y="27357"/>
                  <a:pt x="132045" y="17919"/>
                  <a:pt x="119432" y="15788"/>
                </a:cubicBezTo>
                <a:cubicBezTo>
                  <a:pt x="103862" y="13222"/>
                  <a:pt x="86943" y="13352"/>
                  <a:pt x="72982" y="15832"/>
                </a:cubicBezTo>
                <a:cubicBezTo>
                  <a:pt x="53323" y="19311"/>
                  <a:pt x="49756" y="26574"/>
                  <a:pt x="49756" y="40014"/>
                </a:cubicBezTo>
                <a:lnTo>
                  <a:pt x="49756" y="57715"/>
                </a:lnTo>
                <a:lnTo>
                  <a:pt x="96250" y="57715"/>
                </a:lnTo>
                <a:lnTo>
                  <a:pt x="96250" y="63630"/>
                </a:lnTo>
                <a:lnTo>
                  <a:pt x="32315" y="63630"/>
                </a:lnTo>
                <a:cubicBezTo>
                  <a:pt x="18789" y="63630"/>
                  <a:pt x="6959" y="71764"/>
                  <a:pt x="3262" y="87204"/>
                </a:cubicBezTo>
                <a:cubicBezTo>
                  <a:pt x="-1000" y="104905"/>
                  <a:pt x="-1174" y="115953"/>
                  <a:pt x="3262" y="134437"/>
                </a:cubicBezTo>
                <a:cubicBezTo>
                  <a:pt x="6567" y="148181"/>
                  <a:pt x="14440" y="158011"/>
                  <a:pt x="27966" y="158011"/>
                </a:cubicBezTo>
                <a:lnTo>
                  <a:pt x="43928" y="158011"/>
                </a:lnTo>
                <a:lnTo>
                  <a:pt x="43928" y="136786"/>
                </a:lnTo>
                <a:cubicBezTo>
                  <a:pt x="43928" y="121433"/>
                  <a:pt x="57193" y="107907"/>
                  <a:pt x="72982" y="107907"/>
                </a:cubicBezTo>
                <a:close/>
                <a:moveTo>
                  <a:pt x="70111" y="28140"/>
                </a:moveTo>
                <a:cubicBezTo>
                  <a:pt x="75008" y="28140"/>
                  <a:pt x="78984" y="32116"/>
                  <a:pt x="78984" y="37013"/>
                </a:cubicBezTo>
                <a:cubicBezTo>
                  <a:pt x="78984" y="41910"/>
                  <a:pt x="75008" y="45885"/>
                  <a:pt x="70111" y="45885"/>
                </a:cubicBezTo>
                <a:cubicBezTo>
                  <a:pt x="65214" y="45885"/>
                  <a:pt x="61238" y="41910"/>
                  <a:pt x="61238" y="37013"/>
                </a:cubicBezTo>
                <a:cubicBezTo>
                  <a:pt x="61238" y="32116"/>
                  <a:pt x="65214" y="28140"/>
                  <a:pt x="70111" y="2814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28062" y="2085816"/>
            <a:ext cx="603105" cy="259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5478" y="2419843"/>
            <a:ext cx="2523763" cy="371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3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language for AI/ML logic and data processing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66602" y="1970762"/>
            <a:ext cx="2688921" cy="935277"/>
          </a:xfrm>
          <a:prstGeom prst="roundRect">
            <a:avLst>
              <a:gd name="adj" fmla="val 7937"/>
            </a:avLst>
          </a:prstGeom>
          <a:solidFill>
            <a:srgbClr val="0F1629"/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3409" y="2104373"/>
            <a:ext cx="194849" cy="222685"/>
          </a:xfrm>
          <a:custGeom>
            <a:avLst/>
            <a:gdLst/>
            <a:ahLst/>
            <a:cxnLst/>
            <a:rect l="l" t="t" r="r" b="b"/>
            <a:pathLst>
              <a:path w="194849" h="222685">
                <a:moveTo>
                  <a:pt x="125260" y="0"/>
                </a:moveTo>
                <a:lnTo>
                  <a:pt x="55671" y="0"/>
                </a:lnTo>
                <a:cubicBezTo>
                  <a:pt x="47973" y="0"/>
                  <a:pt x="41753" y="6220"/>
                  <a:pt x="41753" y="13918"/>
                </a:cubicBezTo>
                <a:cubicBezTo>
                  <a:pt x="41753" y="21616"/>
                  <a:pt x="47973" y="27836"/>
                  <a:pt x="55671" y="27836"/>
                </a:cubicBezTo>
                <a:lnTo>
                  <a:pt x="55671" y="93728"/>
                </a:lnTo>
                <a:lnTo>
                  <a:pt x="3262" y="185411"/>
                </a:lnTo>
                <a:cubicBezTo>
                  <a:pt x="1131" y="189195"/>
                  <a:pt x="0" y="193414"/>
                  <a:pt x="0" y="197763"/>
                </a:cubicBezTo>
                <a:cubicBezTo>
                  <a:pt x="0" y="211551"/>
                  <a:pt x="11134" y="222685"/>
                  <a:pt x="24922" y="222685"/>
                </a:cubicBezTo>
                <a:lnTo>
                  <a:pt x="169928" y="222685"/>
                </a:lnTo>
                <a:cubicBezTo>
                  <a:pt x="183672" y="222685"/>
                  <a:pt x="194849" y="211551"/>
                  <a:pt x="194849" y="197763"/>
                </a:cubicBezTo>
                <a:cubicBezTo>
                  <a:pt x="194849" y="193414"/>
                  <a:pt x="193718" y="189152"/>
                  <a:pt x="191587" y="185411"/>
                </a:cubicBezTo>
                <a:lnTo>
                  <a:pt x="139178" y="93728"/>
                </a:lnTo>
                <a:lnTo>
                  <a:pt x="139178" y="27836"/>
                </a:lnTo>
                <a:cubicBezTo>
                  <a:pt x="146876" y="27836"/>
                  <a:pt x="153096" y="21616"/>
                  <a:pt x="153096" y="13918"/>
                </a:cubicBezTo>
                <a:cubicBezTo>
                  <a:pt x="153096" y="6220"/>
                  <a:pt x="146876" y="0"/>
                  <a:pt x="139178" y="0"/>
                </a:cubicBezTo>
                <a:lnTo>
                  <a:pt x="125260" y="0"/>
                </a:lnTo>
                <a:close/>
                <a:moveTo>
                  <a:pt x="83507" y="93728"/>
                </a:moveTo>
                <a:lnTo>
                  <a:pt x="83507" y="27836"/>
                </a:lnTo>
                <a:lnTo>
                  <a:pt x="111342" y="27836"/>
                </a:lnTo>
                <a:lnTo>
                  <a:pt x="111342" y="93728"/>
                </a:lnTo>
                <a:cubicBezTo>
                  <a:pt x="111342" y="98555"/>
                  <a:pt x="112604" y="103340"/>
                  <a:pt x="114996" y="107559"/>
                </a:cubicBezTo>
                <a:lnTo>
                  <a:pt x="133089" y="139178"/>
                </a:lnTo>
                <a:lnTo>
                  <a:pt x="61760" y="139178"/>
                </a:lnTo>
                <a:lnTo>
                  <a:pt x="79853" y="107559"/>
                </a:lnTo>
                <a:cubicBezTo>
                  <a:pt x="82246" y="103340"/>
                  <a:pt x="83507" y="98599"/>
                  <a:pt x="83507" y="9372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3834240" y="2085816"/>
            <a:ext cx="473205" cy="259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Flask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81656" y="2419843"/>
            <a:ext cx="2523763" cy="371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3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Lightweight REST API framework for service endpoints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72896" y="1970762"/>
            <a:ext cx="2688921" cy="935277"/>
          </a:xfrm>
          <a:prstGeom prst="roundRect">
            <a:avLst>
              <a:gd name="adj" fmla="val 7937"/>
            </a:avLst>
          </a:prstGeom>
          <a:solidFill>
            <a:srgbClr val="0F1629"/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29703" y="2104373"/>
            <a:ext cx="194849" cy="222685"/>
          </a:xfrm>
          <a:custGeom>
            <a:avLst/>
            <a:gdLst/>
            <a:ahLst/>
            <a:cxnLst/>
            <a:rect l="l" t="t" r="r" b="b"/>
            <a:pathLst>
              <a:path w="194849" h="222685">
                <a:moveTo>
                  <a:pt x="194849" y="89509"/>
                </a:moveTo>
                <a:cubicBezTo>
                  <a:pt x="188412" y="93771"/>
                  <a:pt x="181018" y="97207"/>
                  <a:pt x="173320" y="99947"/>
                </a:cubicBezTo>
                <a:cubicBezTo>
                  <a:pt x="152878" y="107254"/>
                  <a:pt x="126043" y="111342"/>
                  <a:pt x="97425" y="111342"/>
                </a:cubicBezTo>
                <a:cubicBezTo>
                  <a:pt x="68806" y="111342"/>
                  <a:pt x="41927" y="107211"/>
                  <a:pt x="21529" y="99947"/>
                </a:cubicBezTo>
                <a:cubicBezTo>
                  <a:pt x="13874" y="97207"/>
                  <a:pt x="6437" y="93771"/>
                  <a:pt x="0" y="89509"/>
                </a:cubicBezTo>
                <a:lnTo>
                  <a:pt x="0" y="125260"/>
                </a:lnTo>
                <a:cubicBezTo>
                  <a:pt x="0" y="144484"/>
                  <a:pt x="43624" y="160055"/>
                  <a:pt x="97425" y="160055"/>
                </a:cubicBezTo>
                <a:cubicBezTo>
                  <a:pt x="151226" y="160055"/>
                  <a:pt x="194849" y="144484"/>
                  <a:pt x="194849" y="125260"/>
                </a:cubicBezTo>
                <a:lnTo>
                  <a:pt x="194849" y="89509"/>
                </a:lnTo>
                <a:close/>
                <a:moveTo>
                  <a:pt x="194849" y="55671"/>
                </a:moveTo>
                <a:lnTo>
                  <a:pt x="194849" y="34795"/>
                </a:lnTo>
                <a:cubicBezTo>
                  <a:pt x="194849" y="15571"/>
                  <a:pt x="151226" y="0"/>
                  <a:pt x="97425" y="0"/>
                </a:cubicBezTo>
                <a:cubicBezTo>
                  <a:pt x="43624" y="0"/>
                  <a:pt x="0" y="15571"/>
                  <a:pt x="0" y="34795"/>
                </a:cubicBezTo>
                <a:lnTo>
                  <a:pt x="0" y="55671"/>
                </a:lnTo>
                <a:cubicBezTo>
                  <a:pt x="0" y="74895"/>
                  <a:pt x="43624" y="90466"/>
                  <a:pt x="97425" y="90466"/>
                </a:cubicBezTo>
                <a:cubicBezTo>
                  <a:pt x="151226" y="90466"/>
                  <a:pt x="194849" y="74895"/>
                  <a:pt x="194849" y="55671"/>
                </a:cubicBezTo>
                <a:close/>
                <a:moveTo>
                  <a:pt x="173320" y="169536"/>
                </a:moveTo>
                <a:cubicBezTo>
                  <a:pt x="152922" y="176800"/>
                  <a:pt x="126087" y="180932"/>
                  <a:pt x="97425" y="180932"/>
                </a:cubicBezTo>
                <a:cubicBezTo>
                  <a:pt x="68763" y="180932"/>
                  <a:pt x="41927" y="176800"/>
                  <a:pt x="21529" y="169536"/>
                </a:cubicBezTo>
                <a:cubicBezTo>
                  <a:pt x="13874" y="166796"/>
                  <a:pt x="6437" y="163360"/>
                  <a:pt x="0" y="159098"/>
                </a:cubicBezTo>
                <a:lnTo>
                  <a:pt x="0" y="187890"/>
                </a:lnTo>
                <a:cubicBezTo>
                  <a:pt x="0" y="207114"/>
                  <a:pt x="43624" y="222685"/>
                  <a:pt x="97425" y="222685"/>
                </a:cubicBezTo>
                <a:cubicBezTo>
                  <a:pt x="151226" y="222685"/>
                  <a:pt x="194849" y="207114"/>
                  <a:pt x="194849" y="187890"/>
                </a:cubicBezTo>
                <a:lnTo>
                  <a:pt x="194849" y="159098"/>
                </a:lnTo>
                <a:cubicBezTo>
                  <a:pt x="188412" y="163360"/>
                  <a:pt x="181018" y="166796"/>
                  <a:pt x="173320" y="16953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6640534" y="2085816"/>
            <a:ext cx="584548" cy="259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SQLite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87950" y="2419843"/>
            <a:ext cx="2523763" cy="371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3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relational database for persistent storage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979074" y="1970762"/>
            <a:ext cx="2688921" cy="935277"/>
          </a:xfrm>
          <a:prstGeom prst="roundRect">
            <a:avLst>
              <a:gd name="adj" fmla="val 7937"/>
            </a:avLst>
          </a:prstGeom>
          <a:solidFill>
            <a:srgbClr val="0F1629"/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21963" y="2104373"/>
            <a:ext cx="222685" cy="222685"/>
          </a:xfrm>
          <a:custGeom>
            <a:avLst/>
            <a:gdLst/>
            <a:ahLst/>
            <a:cxnLst/>
            <a:rect l="l" t="t" r="r" b="b"/>
            <a:pathLst>
              <a:path w="222685" h="222685">
                <a:moveTo>
                  <a:pt x="84855" y="4132"/>
                </a:moveTo>
                <a:cubicBezTo>
                  <a:pt x="86160" y="-2305"/>
                  <a:pt x="91858" y="-6959"/>
                  <a:pt x="98468" y="-6959"/>
                </a:cubicBezTo>
                <a:lnTo>
                  <a:pt x="124477" y="-6959"/>
                </a:lnTo>
                <a:cubicBezTo>
                  <a:pt x="131088" y="-6959"/>
                  <a:pt x="136786" y="-2305"/>
                  <a:pt x="138091" y="4132"/>
                </a:cubicBezTo>
                <a:lnTo>
                  <a:pt x="144397" y="34577"/>
                </a:lnTo>
                <a:cubicBezTo>
                  <a:pt x="150530" y="37187"/>
                  <a:pt x="156271" y="40536"/>
                  <a:pt x="161490" y="44493"/>
                </a:cubicBezTo>
                <a:lnTo>
                  <a:pt x="190978" y="34708"/>
                </a:lnTo>
                <a:cubicBezTo>
                  <a:pt x="197241" y="32620"/>
                  <a:pt x="204113" y="35229"/>
                  <a:pt x="207419" y="40971"/>
                </a:cubicBezTo>
                <a:lnTo>
                  <a:pt x="220423" y="63500"/>
                </a:lnTo>
                <a:cubicBezTo>
                  <a:pt x="223729" y="69241"/>
                  <a:pt x="222554" y="76461"/>
                  <a:pt x="217596" y="80854"/>
                </a:cubicBezTo>
                <a:lnTo>
                  <a:pt x="194414" y="101470"/>
                </a:lnTo>
                <a:cubicBezTo>
                  <a:pt x="194806" y="104688"/>
                  <a:pt x="194980" y="107993"/>
                  <a:pt x="194980" y="111342"/>
                </a:cubicBezTo>
                <a:cubicBezTo>
                  <a:pt x="194980" y="114691"/>
                  <a:pt x="194762" y="117997"/>
                  <a:pt x="194414" y="121215"/>
                </a:cubicBezTo>
                <a:lnTo>
                  <a:pt x="217640" y="141875"/>
                </a:lnTo>
                <a:cubicBezTo>
                  <a:pt x="222598" y="146267"/>
                  <a:pt x="223729" y="153531"/>
                  <a:pt x="220467" y="159228"/>
                </a:cubicBezTo>
                <a:lnTo>
                  <a:pt x="207462" y="181758"/>
                </a:lnTo>
                <a:cubicBezTo>
                  <a:pt x="204157" y="187455"/>
                  <a:pt x="197285" y="190109"/>
                  <a:pt x="191022" y="188021"/>
                </a:cubicBezTo>
                <a:lnTo>
                  <a:pt x="161534" y="178235"/>
                </a:lnTo>
                <a:cubicBezTo>
                  <a:pt x="156271" y="182193"/>
                  <a:pt x="150530" y="185498"/>
                  <a:pt x="144441" y="188151"/>
                </a:cubicBezTo>
                <a:lnTo>
                  <a:pt x="138178" y="218553"/>
                </a:lnTo>
                <a:cubicBezTo>
                  <a:pt x="136829" y="225034"/>
                  <a:pt x="131132" y="229644"/>
                  <a:pt x="124564" y="229644"/>
                </a:cubicBezTo>
                <a:lnTo>
                  <a:pt x="98555" y="229644"/>
                </a:lnTo>
                <a:cubicBezTo>
                  <a:pt x="91945" y="229644"/>
                  <a:pt x="86247" y="224990"/>
                  <a:pt x="84942" y="218553"/>
                </a:cubicBezTo>
                <a:lnTo>
                  <a:pt x="78679" y="188151"/>
                </a:lnTo>
                <a:cubicBezTo>
                  <a:pt x="72547" y="185542"/>
                  <a:pt x="66849" y="182193"/>
                  <a:pt x="61586" y="178235"/>
                </a:cubicBezTo>
                <a:lnTo>
                  <a:pt x="31967" y="188021"/>
                </a:lnTo>
                <a:cubicBezTo>
                  <a:pt x="25704" y="190109"/>
                  <a:pt x="18833" y="187499"/>
                  <a:pt x="15527" y="181758"/>
                </a:cubicBezTo>
                <a:lnTo>
                  <a:pt x="2523" y="159228"/>
                </a:lnTo>
                <a:cubicBezTo>
                  <a:pt x="-783" y="153487"/>
                  <a:pt x="391" y="146267"/>
                  <a:pt x="5350" y="141875"/>
                </a:cubicBezTo>
                <a:lnTo>
                  <a:pt x="28575" y="121215"/>
                </a:lnTo>
                <a:cubicBezTo>
                  <a:pt x="28184" y="117997"/>
                  <a:pt x="28010" y="114691"/>
                  <a:pt x="28010" y="111342"/>
                </a:cubicBezTo>
                <a:cubicBezTo>
                  <a:pt x="28010" y="107993"/>
                  <a:pt x="28227" y="104688"/>
                  <a:pt x="28575" y="101470"/>
                </a:cubicBezTo>
                <a:lnTo>
                  <a:pt x="5350" y="80810"/>
                </a:lnTo>
                <a:cubicBezTo>
                  <a:pt x="391" y="76417"/>
                  <a:pt x="-739" y="69154"/>
                  <a:pt x="2523" y="63457"/>
                </a:cubicBezTo>
                <a:lnTo>
                  <a:pt x="15527" y="40927"/>
                </a:lnTo>
                <a:cubicBezTo>
                  <a:pt x="18833" y="35186"/>
                  <a:pt x="25704" y="32576"/>
                  <a:pt x="31967" y="34664"/>
                </a:cubicBezTo>
                <a:lnTo>
                  <a:pt x="61456" y="44450"/>
                </a:lnTo>
                <a:cubicBezTo>
                  <a:pt x="66718" y="40492"/>
                  <a:pt x="72460" y="37187"/>
                  <a:pt x="78549" y="34534"/>
                </a:cubicBezTo>
                <a:lnTo>
                  <a:pt x="84855" y="4132"/>
                </a:lnTo>
                <a:close/>
                <a:moveTo>
                  <a:pt x="111473" y="146137"/>
                </a:moveTo>
                <a:cubicBezTo>
                  <a:pt x="123904" y="146090"/>
                  <a:pt x="135366" y="139415"/>
                  <a:pt x="141541" y="128627"/>
                </a:cubicBezTo>
                <a:cubicBezTo>
                  <a:pt x="147716" y="117838"/>
                  <a:pt x="147666" y="104574"/>
                  <a:pt x="141410" y="93832"/>
                </a:cubicBezTo>
                <a:cubicBezTo>
                  <a:pt x="135154" y="83090"/>
                  <a:pt x="123643" y="76501"/>
                  <a:pt x="111212" y="76548"/>
                </a:cubicBezTo>
                <a:cubicBezTo>
                  <a:pt x="98781" y="76595"/>
                  <a:pt x="87319" y="83269"/>
                  <a:pt x="81144" y="94058"/>
                </a:cubicBezTo>
                <a:cubicBezTo>
                  <a:pt x="74969" y="104847"/>
                  <a:pt x="75019" y="118111"/>
                  <a:pt x="81275" y="128853"/>
                </a:cubicBezTo>
                <a:cubicBezTo>
                  <a:pt x="87531" y="139595"/>
                  <a:pt x="99042" y="146184"/>
                  <a:pt x="111473" y="14613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9446712" y="2085816"/>
            <a:ext cx="1178374" cy="259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python-dotenv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094128" y="2419843"/>
            <a:ext cx="2523763" cy="371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3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Environment variable management for configuration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9699" y="3206664"/>
            <a:ext cx="11431160" cy="1725808"/>
          </a:xfrm>
          <a:custGeom>
            <a:avLst/>
            <a:gdLst/>
            <a:ahLst/>
            <a:cxnLst/>
            <a:rect l="l" t="t" r="r" b="b"/>
            <a:pathLst>
              <a:path w="11431160" h="1725808">
                <a:moveTo>
                  <a:pt x="0" y="0"/>
                </a:moveTo>
                <a:lnTo>
                  <a:pt x="11319764" y="0"/>
                </a:lnTo>
                <a:cubicBezTo>
                  <a:pt x="11381277" y="0"/>
                  <a:pt x="11431143" y="49866"/>
                  <a:pt x="11431143" y="111379"/>
                </a:cubicBezTo>
                <a:lnTo>
                  <a:pt x="11431143" y="1614424"/>
                </a:lnTo>
                <a:cubicBezTo>
                  <a:pt x="11431143" y="1675937"/>
                  <a:pt x="11381277" y="1725803"/>
                  <a:pt x="11319764" y="1725803"/>
                </a:cubicBezTo>
                <a:lnTo>
                  <a:pt x="0" y="172580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A855F7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6" name="Shape 24"/>
          <p:cNvSpPr/>
          <p:nvPr/>
        </p:nvSpPr>
        <p:spPr>
          <a:xfrm>
            <a:off x="389699" y="3206664"/>
            <a:ext cx="37114" cy="1725808"/>
          </a:xfrm>
          <a:prstGeom prst="roundRect">
            <a:avLst>
              <a:gd name="adj" fmla="val 0"/>
            </a:avLst>
          </a:prstGeom>
          <a:solidFill>
            <a:srgbClr val="A855F7"/>
          </a:solidFill>
          <a:ln/>
        </p:spPr>
      </p:sp>
      <p:sp>
        <p:nvSpPr>
          <p:cNvPr id="27" name="Shape 25"/>
          <p:cNvSpPr/>
          <p:nvPr/>
        </p:nvSpPr>
        <p:spPr>
          <a:xfrm>
            <a:off x="556712" y="3355121"/>
            <a:ext cx="371142" cy="371142"/>
          </a:xfrm>
          <a:prstGeom prst="roundRect">
            <a:avLst>
              <a:gd name="adj" fmla="val 20000"/>
            </a:avLst>
          </a:prstGeom>
          <a:solidFill>
            <a:srgbClr val="A855F7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26301" y="3447906"/>
            <a:ext cx="231963" cy="185571"/>
          </a:xfrm>
          <a:custGeom>
            <a:avLst/>
            <a:gdLst/>
            <a:ahLst/>
            <a:cxnLst/>
            <a:rect l="l" t="t" r="r" b="b"/>
            <a:pathLst>
              <a:path w="231963" h="185571">
                <a:moveTo>
                  <a:pt x="127580" y="0"/>
                </a:moveTo>
                <a:cubicBezTo>
                  <a:pt x="127580" y="-6415"/>
                  <a:pt x="122397" y="-11598"/>
                  <a:pt x="115982" y="-11598"/>
                </a:cubicBezTo>
                <a:cubicBezTo>
                  <a:pt x="109566" y="-11598"/>
                  <a:pt x="104384" y="-6415"/>
                  <a:pt x="104384" y="0"/>
                </a:cubicBezTo>
                <a:lnTo>
                  <a:pt x="104384" y="23196"/>
                </a:lnTo>
                <a:lnTo>
                  <a:pt x="69589" y="23196"/>
                </a:lnTo>
                <a:cubicBezTo>
                  <a:pt x="50380" y="23196"/>
                  <a:pt x="34795" y="38781"/>
                  <a:pt x="34795" y="57991"/>
                </a:cubicBezTo>
                <a:lnTo>
                  <a:pt x="34795" y="139178"/>
                </a:lnTo>
                <a:cubicBezTo>
                  <a:pt x="34795" y="158388"/>
                  <a:pt x="50380" y="173973"/>
                  <a:pt x="69589" y="173973"/>
                </a:cubicBezTo>
                <a:lnTo>
                  <a:pt x="162374" y="173973"/>
                </a:lnTo>
                <a:cubicBezTo>
                  <a:pt x="181584" y="173973"/>
                  <a:pt x="197169" y="158388"/>
                  <a:pt x="197169" y="139178"/>
                </a:cubicBezTo>
                <a:lnTo>
                  <a:pt x="197169" y="57991"/>
                </a:lnTo>
                <a:cubicBezTo>
                  <a:pt x="197169" y="38781"/>
                  <a:pt x="181584" y="23196"/>
                  <a:pt x="162374" y="23196"/>
                </a:cubicBezTo>
                <a:lnTo>
                  <a:pt x="127580" y="23196"/>
                </a:lnTo>
                <a:lnTo>
                  <a:pt x="127580" y="0"/>
                </a:lnTo>
                <a:close/>
                <a:moveTo>
                  <a:pt x="57991" y="133379"/>
                </a:moveTo>
                <a:cubicBezTo>
                  <a:pt x="57991" y="128559"/>
                  <a:pt x="61869" y="124680"/>
                  <a:pt x="66689" y="124680"/>
                </a:cubicBezTo>
                <a:lnTo>
                  <a:pt x="78288" y="124680"/>
                </a:lnTo>
                <a:cubicBezTo>
                  <a:pt x="83108" y="124680"/>
                  <a:pt x="86986" y="128559"/>
                  <a:pt x="86986" y="133379"/>
                </a:cubicBezTo>
                <a:cubicBezTo>
                  <a:pt x="86986" y="138199"/>
                  <a:pt x="83108" y="142078"/>
                  <a:pt x="78288" y="142078"/>
                </a:cubicBezTo>
                <a:lnTo>
                  <a:pt x="66689" y="142078"/>
                </a:lnTo>
                <a:cubicBezTo>
                  <a:pt x="61869" y="142078"/>
                  <a:pt x="57991" y="138199"/>
                  <a:pt x="57991" y="133379"/>
                </a:cubicBezTo>
                <a:close/>
                <a:moveTo>
                  <a:pt x="101484" y="133379"/>
                </a:moveTo>
                <a:cubicBezTo>
                  <a:pt x="101484" y="128559"/>
                  <a:pt x="105362" y="124680"/>
                  <a:pt x="110183" y="124680"/>
                </a:cubicBezTo>
                <a:lnTo>
                  <a:pt x="121781" y="124680"/>
                </a:lnTo>
                <a:cubicBezTo>
                  <a:pt x="126601" y="124680"/>
                  <a:pt x="130479" y="128559"/>
                  <a:pt x="130479" y="133379"/>
                </a:cubicBezTo>
                <a:cubicBezTo>
                  <a:pt x="130479" y="138199"/>
                  <a:pt x="126601" y="142078"/>
                  <a:pt x="121781" y="142078"/>
                </a:cubicBezTo>
                <a:lnTo>
                  <a:pt x="110183" y="142078"/>
                </a:lnTo>
                <a:cubicBezTo>
                  <a:pt x="105362" y="142078"/>
                  <a:pt x="101484" y="138199"/>
                  <a:pt x="101484" y="133379"/>
                </a:cubicBezTo>
                <a:close/>
                <a:moveTo>
                  <a:pt x="144977" y="133379"/>
                </a:moveTo>
                <a:cubicBezTo>
                  <a:pt x="144977" y="128559"/>
                  <a:pt x="148855" y="124680"/>
                  <a:pt x="153676" y="124680"/>
                </a:cubicBezTo>
                <a:lnTo>
                  <a:pt x="165274" y="124680"/>
                </a:lnTo>
                <a:cubicBezTo>
                  <a:pt x="170094" y="124680"/>
                  <a:pt x="173973" y="128559"/>
                  <a:pt x="173973" y="133379"/>
                </a:cubicBezTo>
                <a:cubicBezTo>
                  <a:pt x="173973" y="138199"/>
                  <a:pt x="170094" y="142078"/>
                  <a:pt x="165274" y="142078"/>
                </a:cubicBezTo>
                <a:lnTo>
                  <a:pt x="153676" y="142078"/>
                </a:lnTo>
                <a:cubicBezTo>
                  <a:pt x="148855" y="142078"/>
                  <a:pt x="144977" y="138199"/>
                  <a:pt x="144977" y="133379"/>
                </a:cubicBezTo>
                <a:close/>
                <a:moveTo>
                  <a:pt x="81187" y="63790"/>
                </a:moveTo>
                <a:cubicBezTo>
                  <a:pt x="90789" y="63790"/>
                  <a:pt x="98584" y="71585"/>
                  <a:pt x="98584" y="81187"/>
                </a:cubicBezTo>
                <a:cubicBezTo>
                  <a:pt x="98584" y="90789"/>
                  <a:pt x="90789" y="98584"/>
                  <a:pt x="81187" y="98584"/>
                </a:cubicBezTo>
                <a:cubicBezTo>
                  <a:pt x="71585" y="98584"/>
                  <a:pt x="63790" y="90789"/>
                  <a:pt x="63790" y="81187"/>
                </a:cubicBezTo>
                <a:cubicBezTo>
                  <a:pt x="63790" y="71585"/>
                  <a:pt x="71585" y="63790"/>
                  <a:pt x="81187" y="63790"/>
                </a:cubicBezTo>
                <a:close/>
                <a:moveTo>
                  <a:pt x="133379" y="81187"/>
                </a:moveTo>
                <a:cubicBezTo>
                  <a:pt x="133379" y="71585"/>
                  <a:pt x="141174" y="63790"/>
                  <a:pt x="150776" y="63790"/>
                </a:cubicBezTo>
                <a:cubicBezTo>
                  <a:pt x="160378" y="63790"/>
                  <a:pt x="168174" y="71585"/>
                  <a:pt x="168174" y="81187"/>
                </a:cubicBezTo>
                <a:cubicBezTo>
                  <a:pt x="168174" y="90789"/>
                  <a:pt x="160378" y="98584"/>
                  <a:pt x="150776" y="98584"/>
                </a:cubicBezTo>
                <a:cubicBezTo>
                  <a:pt x="141174" y="98584"/>
                  <a:pt x="133379" y="90789"/>
                  <a:pt x="133379" y="81187"/>
                </a:cubicBezTo>
                <a:close/>
                <a:moveTo>
                  <a:pt x="23196" y="81187"/>
                </a:moveTo>
                <a:cubicBezTo>
                  <a:pt x="23196" y="74772"/>
                  <a:pt x="18013" y="69589"/>
                  <a:pt x="11598" y="69589"/>
                </a:cubicBezTo>
                <a:cubicBezTo>
                  <a:pt x="5183" y="69589"/>
                  <a:pt x="0" y="74772"/>
                  <a:pt x="0" y="81187"/>
                </a:cubicBezTo>
                <a:lnTo>
                  <a:pt x="0" y="115982"/>
                </a:lnTo>
                <a:cubicBezTo>
                  <a:pt x="0" y="122397"/>
                  <a:pt x="5183" y="127580"/>
                  <a:pt x="11598" y="127580"/>
                </a:cubicBezTo>
                <a:cubicBezTo>
                  <a:pt x="18013" y="127580"/>
                  <a:pt x="23196" y="122397"/>
                  <a:pt x="23196" y="115982"/>
                </a:cubicBezTo>
                <a:lnTo>
                  <a:pt x="23196" y="81187"/>
                </a:lnTo>
                <a:close/>
                <a:moveTo>
                  <a:pt x="220365" y="69589"/>
                </a:moveTo>
                <a:cubicBezTo>
                  <a:pt x="213950" y="69589"/>
                  <a:pt x="208767" y="74772"/>
                  <a:pt x="208767" y="81187"/>
                </a:cubicBezTo>
                <a:lnTo>
                  <a:pt x="208767" y="115982"/>
                </a:lnTo>
                <a:cubicBezTo>
                  <a:pt x="208767" y="122397"/>
                  <a:pt x="213950" y="127580"/>
                  <a:pt x="220365" y="127580"/>
                </a:cubicBezTo>
                <a:cubicBezTo>
                  <a:pt x="226781" y="127580"/>
                  <a:pt x="231963" y="122397"/>
                  <a:pt x="231963" y="115982"/>
                </a:cubicBezTo>
                <a:lnTo>
                  <a:pt x="231963" y="81187"/>
                </a:lnTo>
                <a:cubicBezTo>
                  <a:pt x="231963" y="74772"/>
                  <a:pt x="226781" y="69589"/>
                  <a:pt x="220365" y="69589"/>
                </a:cubicBezTo>
                <a:close/>
              </a:path>
            </a:pathLst>
          </a:custGeom>
          <a:solidFill>
            <a:srgbClr val="A855F7"/>
          </a:solidFill>
          <a:ln/>
        </p:spPr>
      </p:sp>
      <p:sp>
        <p:nvSpPr>
          <p:cNvPr id="29" name="Text 27"/>
          <p:cNvSpPr/>
          <p:nvPr/>
        </p:nvSpPr>
        <p:spPr>
          <a:xfrm>
            <a:off x="1039196" y="3392235"/>
            <a:ext cx="2263963" cy="29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3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&amp; External Services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60424" y="3841316"/>
            <a:ext cx="3626053" cy="935277"/>
          </a:xfrm>
          <a:prstGeom prst="roundRect">
            <a:avLst>
              <a:gd name="adj" fmla="val 7937"/>
            </a:avLst>
          </a:prstGeom>
          <a:solidFill>
            <a:srgbClr val="0F1629"/>
          </a:solidFill>
          <a:ln w="10160">
            <a:solidFill>
              <a:srgbClr val="A855F7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3313" y="3974927"/>
            <a:ext cx="222685" cy="222685"/>
          </a:xfrm>
          <a:custGeom>
            <a:avLst/>
            <a:gdLst/>
            <a:ahLst/>
            <a:cxnLst/>
            <a:rect l="l" t="t" r="r" b="b"/>
            <a:pathLst>
              <a:path w="222685" h="222685">
                <a:moveTo>
                  <a:pt x="52192" y="24356"/>
                </a:moveTo>
                <a:cubicBezTo>
                  <a:pt x="52192" y="10917"/>
                  <a:pt x="63109" y="0"/>
                  <a:pt x="76548" y="0"/>
                </a:cubicBezTo>
                <a:lnTo>
                  <a:pt x="86986" y="0"/>
                </a:lnTo>
                <a:cubicBezTo>
                  <a:pt x="94685" y="0"/>
                  <a:pt x="100904" y="6220"/>
                  <a:pt x="100904" y="13918"/>
                </a:cubicBezTo>
                <a:lnTo>
                  <a:pt x="100904" y="208767"/>
                </a:lnTo>
                <a:cubicBezTo>
                  <a:pt x="100904" y="216465"/>
                  <a:pt x="94685" y="222685"/>
                  <a:pt x="86986" y="222685"/>
                </a:cubicBezTo>
                <a:lnTo>
                  <a:pt x="73068" y="222685"/>
                </a:lnTo>
                <a:cubicBezTo>
                  <a:pt x="60108" y="222685"/>
                  <a:pt x="49191" y="213812"/>
                  <a:pt x="46103" y="201808"/>
                </a:cubicBezTo>
                <a:cubicBezTo>
                  <a:pt x="45798" y="201808"/>
                  <a:pt x="45537" y="201808"/>
                  <a:pt x="45233" y="201808"/>
                </a:cubicBezTo>
                <a:cubicBezTo>
                  <a:pt x="26009" y="201808"/>
                  <a:pt x="10438" y="186238"/>
                  <a:pt x="10438" y="167014"/>
                </a:cubicBezTo>
                <a:cubicBezTo>
                  <a:pt x="10438" y="159185"/>
                  <a:pt x="13048" y="151965"/>
                  <a:pt x="17397" y="146137"/>
                </a:cubicBezTo>
                <a:cubicBezTo>
                  <a:pt x="8960" y="139787"/>
                  <a:pt x="3479" y="129697"/>
                  <a:pt x="3479" y="118301"/>
                </a:cubicBezTo>
                <a:cubicBezTo>
                  <a:pt x="3479" y="104862"/>
                  <a:pt x="11134" y="93162"/>
                  <a:pt x="22268" y="87378"/>
                </a:cubicBezTo>
                <a:cubicBezTo>
                  <a:pt x="19180" y="82159"/>
                  <a:pt x="17397" y="76070"/>
                  <a:pt x="17397" y="69589"/>
                </a:cubicBezTo>
                <a:cubicBezTo>
                  <a:pt x="17397" y="50365"/>
                  <a:pt x="32968" y="34795"/>
                  <a:pt x="52192" y="34795"/>
                </a:cubicBezTo>
                <a:lnTo>
                  <a:pt x="52192" y="24356"/>
                </a:lnTo>
                <a:close/>
                <a:moveTo>
                  <a:pt x="170493" y="24356"/>
                </a:moveTo>
                <a:lnTo>
                  <a:pt x="170493" y="34795"/>
                </a:lnTo>
                <a:cubicBezTo>
                  <a:pt x="189717" y="34795"/>
                  <a:pt x="205288" y="50365"/>
                  <a:pt x="205288" y="69589"/>
                </a:cubicBezTo>
                <a:cubicBezTo>
                  <a:pt x="205288" y="76113"/>
                  <a:pt x="203504" y="82202"/>
                  <a:pt x="200416" y="87378"/>
                </a:cubicBezTo>
                <a:cubicBezTo>
                  <a:pt x="211594" y="93162"/>
                  <a:pt x="219205" y="104818"/>
                  <a:pt x="219205" y="118301"/>
                </a:cubicBezTo>
                <a:cubicBezTo>
                  <a:pt x="219205" y="129697"/>
                  <a:pt x="213725" y="139787"/>
                  <a:pt x="205288" y="146137"/>
                </a:cubicBezTo>
                <a:cubicBezTo>
                  <a:pt x="209637" y="151965"/>
                  <a:pt x="212247" y="159185"/>
                  <a:pt x="212247" y="167014"/>
                </a:cubicBezTo>
                <a:cubicBezTo>
                  <a:pt x="212247" y="186238"/>
                  <a:pt x="196676" y="201808"/>
                  <a:pt x="177452" y="201808"/>
                </a:cubicBezTo>
                <a:cubicBezTo>
                  <a:pt x="177148" y="201808"/>
                  <a:pt x="176887" y="201808"/>
                  <a:pt x="176582" y="201808"/>
                </a:cubicBezTo>
                <a:cubicBezTo>
                  <a:pt x="173494" y="213812"/>
                  <a:pt x="162577" y="222685"/>
                  <a:pt x="149616" y="222685"/>
                </a:cubicBezTo>
                <a:lnTo>
                  <a:pt x="135699" y="222685"/>
                </a:lnTo>
                <a:cubicBezTo>
                  <a:pt x="128000" y="222685"/>
                  <a:pt x="121781" y="216465"/>
                  <a:pt x="121781" y="208767"/>
                </a:cubicBezTo>
                <a:lnTo>
                  <a:pt x="121781" y="13918"/>
                </a:lnTo>
                <a:cubicBezTo>
                  <a:pt x="121781" y="6220"/>
                  <a:pt x="128000" y="0"/>
                  <a:pt x="135699" y="0"/>
                </a:cubicBezTo>
                <a:lnTo>
                  <a:pt x="146137" y="0"/>
                </a:lnTo>
                <a:cubicBezTo>
                  <a:pt x="159576" y="0"/>
                  <a:pt x="170493" y="10917"/>
                  <a:pt x="170493" y="24356"/>
                </a:cubicBezTo>
                <a:close/>
              </a:path>
            </a:pathLst>
          </a:custGeom>
          <a:solidFill>
            <a:srgbClr val="A855F7"/>
          </a:solidFill>
          <a:ln/>
        </p:spPr>
      </p:sp>
      <p:sp>
        <p:nvSpPr>
          <p:cNvPr id="32" name="Text 30"/>
          <p:cNvSpPr/>
          <p:nvPr/>
        </p:nvSpPr>
        <p:spPr>
          <a:xfrm>
            <a:off x="1028062" y="3956370"/>
            <a:ext cx="1363945" cy="259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Anthropic Claude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5478" y="4290398"/>
            <a:ext cx="3460895" cy="371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3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LLM for content generation, analysis, and synthesis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301995" y="3841316"/>
            <a:ext cx="3626053" cy="935277"/>
          </a:xfrm>
          <a:prstGeom prst="roundRect">
            <a:avLst>
              <a:gd name="adj" fmla="val 7937"/>
            </a:avLst>
          </a:prstGeom>
          <a:solidFill>
            <a:srgbClr val="0F1629"/>
          </a:solidFill>
          <a:ln w="10160">
            <a:solidFill>
              <a:srgbClr val="A855F7">
                <a:alpha val="3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44884" y="3974927"/>
            <a:ext cx="222685" cy="222685"/>
          </a:xfrm>
          <a:custGeom>
            <a:avLst/>
            <a:gdLst/>
            <a:ahLst/>
            <a:cxnLst/>
            <a:rect l="l" t="t" r="r" b="b"/>
            <a:pathLst>
              <a:path w="222685" h="222685">
                <a:moveTo>
                  <a:pt x="160620" y="-13483"/>
                </a:moveTo>
                <a:cubicBezTo>
                  <a:pt x="165796" y="-15005"/>
                  <a:pt x="171233" y="-12309"/>
                  <a:pt x="173233" y="-7437"/>
                </a:cubicBezTo>
                <a:lnTo>
                  <a:pt x="173581" y="-6437"/>
                </a:lnTo>
                <a:lnTo>
                  <a:pt x="190978" y="52714"/>
                </a:lnTo>
                <a:cubicBezTo>
                  <a:pt x="192066" y="56367"/>
                  <a:pt x="191022" y="60325"/>
                  <a:pt x="188325" y="63022"/>
                </a:cubicBezTo>
                <a:lnTo>
                  <a:pt x="160446" y="90901"/>
                </a:lnTo>
                <a:lnTo>
                  <a:pt x="193675" y="81854"/>
                </a:lnTo>
                <a:lnTo>
                  <a:pt x="202330" y="55845"/>
                </a:lnTo>
                <a:lnTo>
                  <a:pt x="202722" y="54845"/>
                </a:lnTo>
                <a:cubicBezTo>
                  <a:pt x="204896" y="50017"/>
                  <a:pt x="210420" y="47538"/>
                  <a:pt x="215552" y="49234"/>
                </a:cubicBezTo>
                <a:cubicBezTo>
                  <a:pt x="220684" y="50930"/>
                  <a:pt x="223598" y="56237"/>
                  <a:pt x="222424" y="61412"/>
                </a:cubicBezTo>
                <a:lnTo>
                  <a:pt x="222120" y="62456"/>
                </a:lnTo>
                <a:lnTo>
                  <a:pt x="211681" y="93771"/>
                </a:lnTo>
                <a:cubicBezTo>
                  <a:pt x="210594" y="97077"/>
                  <a:pt x="207897" y="99599"/>
                  <a:pt x="204505" y="100556"/>
                </a:cubicBezTo>
                <a:lnTo>
                  <a:pt x="164883" y="111342"/>
                </a:lnTo>
                <a:lnTo>
                  <a:pt x="204505" y="122129"/>
                </a:lnTo>
                <a:cubicBezTo>
                  <a:pt x="207854" y="123042"/>
                  <a:pt x="210550" y="125608"/>
                  <a:pt x="211681" y="128914"/>
                </a:cubicBezTo>
                <a:lnTo>
                  <a:pt x="222120" y="160229"/>
                </a:lnTo>
                <a:lnTo>
                  <a:pt x="222424" y="161273"/>
                </a:lnTo>
                <a:cubicBezTo>
                  <a:pt x="223598" y="166448"/>
                  <a:pt x="220641" y="171754"/>
                  <a:pt x="215552" y="173451"/>
                </a:cubicBezTo>
                <a:cubicBezTo>
                  <a:pt x="210420" y="175147"/>
                  <a:pt x="204896" y="172668"/>
                  <a:pt x="202722" y="167840"/>
                </a:cubicBezTo>
                <a:lnTo>
                  <a:pt x="202330" y="166840"/>
                </a:lnTo>
                <a:lnTo>
                  <a:pt x="193675" y="140831"/>
                </a:lnTo>
                <a:lnTo>
                  <a:pt x="160446" y="131784"/>
                </a:lnTo>
                <a:lnTo>
                  <a:pt x="188325" y="159663"/>
                </a:lnTo>
                <a:cubicBezTo>
                  <a:pt x="190978" y="162316"/>
                  <a:pt x="192022" y="166231"/>
                  <a:pt x="191022" y="169841"/>
                </a:cubicBezTo>
                <a:lnTo>
                  <a:pt x="173625" y="232471"/>
                </a:lnTo>
                <a:lnTo>
                  <a:pt x="173277" y="233471"/>
                </a:lnTo>
                <a:cubicBezTo>
                  <a:pt x="171363" y="238386"/>
                  <a:pt x="165970" y="241170"/>
                  <a:pt x="160751" y="239734"/>
                </a:cubicBezTo>
                <a:cubicBezTo>
                  <a:pt x="155532" y="238299"/>
                  <a:pt x="152357" y="233123"/>
                  <a:pt x="153270" y="227904"/>
                </a:cubicBezTo>
                <a:lnTo>
                  <a:pt x="153487" y="226860"/>
                </a:lnTo>
                <a:lnTo>
                  <a:pt x="169232" y="170102"/>
                </a:lnTo>
                <a:lnTo>
                  <a:pt x="153052" y="153922"/>
                </a:lnTo>
                <a:cubicBezTo>
                  <a:pt x="152661" y="176582"/>
                  <a:pt x="134133" y="194849"/>
                  <a:pt x="111342" y="194849"/>
                </a:cubicBezTo>
                <a:cubicBezTo>
                  <a:pt x="88552" y="194849"/>
                  <a:pt x="70024" y="176582"/>
                  <a:pt x="69589" y="153922"/>
                </a:cubicBezTo>
                <a:lnTo>
                  <a:pt x="53497" y="170015"/>
                </a:lnTo>
                <a:lnTo>
                  <a:pt x="69154" y="223207"/>
                </a:lnTo>
                <a:lnTo>
                  <a:pt x="69415" y="224251"/>
                </a:lnTo>
                <a:cubicBezTo>
                  <a:pt x="70372" y="229426"/>
                  <a:pt x="67284" y="234646"/>
                  <a:pt x="62108" y="236168"/>
                </a:cubicBezTo>
                <a:cubicBezTo>
                  <a:pt x="56933" y="237690"/>
                  <a:pt x="51496" y="234993"/>
                  <a:pt x="49495" y="230122"/>
                </a:cubicBezTo>
                <a:lnTo>
                  <a:pt x="49147" y="229122"/>
                </a:lnTo>
                <a:lnTo>
                  <a:pt x="31750" y="169971"/>
                </a:lnTo>
                <a:cubicBezTo>
                  <a:pt x="30663" y="166318"/>
                  <a:pt x="31707" y="162360"/>
                  <a:pt x="34403" y="159620"/>
                </a:cubicBezTo>
                <a:lnTo>
                  <a:pt x="62282" y="131741"/>
                </a:lnTo>
                <a:lnTo>
                  <a:pt x="29053" y="140787"/>
                </a:lnTo>
                <a:lnTo>
                  <a:pt x="20398" y="166796"/>
                </a:lnTo>
                <a:lnTo>
                  <a:pt x="20007" y="167797"/>
                </a:lnTo>
                <a:cubicBezTo>
                  <a:pt x="17832" y="172624"/>
                  <a:pt x="12309" y="175103"/>
                  <a:pt x="7176" y="173407"/>
                </a:cubicBezTo>
                <a:cubicBezTo>
                  <a:pt x="2044" y="171711"/>
                  <a:pt x="-870" y="166405"/>
                  <a:pt x="304" y="161229"/>
                </a:cubicBezTo>
                <a:lnTo>
                  <a:pt x="609" y="160185"/>
                </a:lnTo>
                <a:lnTo>
                  <a:pt x="11047" y="128870"/>
                </a:lnTo>
                <a:cubicBezTo>
                  <a:pt x="12135" y="125565"/>
                  <a:pt x="14831" y="123042"/>
                  <a:pt x="18224" y="122085"/>
                </a:cubicBezTo>
                <a:lnTo>
                  <a:pt x="57846" y="111299"/>
                </a:lnTo>
                <a:lnTo>
                  <a:pt x="18224" y="100513"/>
                </a:lnTo>
                <a:cubicBezTo>
                  <a:pt x="14875" y="99599"/>
                  <a:pt x="12178" y="97033"/>
                  <a:pt x="11047" y="93728"/>
                </a:cubicBezTo>
                <a:lnTo>
                  <a:pt x="609" y="62413"/>
                </a:lnTo>
                <a:lnTo>
                  <a:pt x="304" y="61369"/>
                </a:lnTo>
                <a:cubicBezTo>
                  <a:pt x="-870" y="56193"/>
                  <a:pt x="2088" y="50887"/>
                  <a:pt x="7176" y="49191"/>
                </a:cubicBezTo>
                <a:cubicBezTo>
                  <a:pt x="12265" y="47495"/>
                  <a:pt x="17832" y="49974"/>
                  <a:pt x="20007" y="54801"/>
                </a:cubicBezTo>
                <a:lnTo>
                  <a:pt x="20398" y="55802"/>
                </a:lnTo>
                <a:lnTo>
                  <a:pt x="29053" y="81811"/>
                </a:lnTo>
                <a:lnTo>
                  <a:pt x="62282" y="90857"/>
                </a:lnTo>
                <a:lnTo>
                  <a:pt x="34403" y="62978"/>
                </a:lnTo>
                <a:cubicBezTo>
                  <a:pt x="31707" y="60282"/>
                  <a:pt x="30706" y="56324"/>
                  <a:pt x="31750" y="52670"/>
                </a:cubicBezTo>
                <a:lnTo>
                  <a:pt x="49147" y="-6480"/>
                </a:lnTo>
                <a:lnTo>
                  <a:pt x="49495" y="-7481"/>
                </a:lnTo>
                <a:cubicBezTo>
                  <a:pt x="51496" y="-12396"/>
                  <a:pt x="56933" y="-15049"/>
                  <a:pt x="62108" y="-13526"/>
                </a:cubicBezTo>
                <a:cubicBezTo>
                  <a:pt x="67284" y="-12004"/>
                  <a:pt x="70372" y="-6785"/>
                  <a:pt x="69415" y="-1609"/>
                </a:cubicBezTo>
                <a:lnTo>
                  <a:pt x="69154" y="-565"/>
                </a:lnTo>
                <a:lnTo>
                  <a:pt x="53497" y="52627"/>
                </a:lnTo>
                <a:lnTo>
                  <a:pt x="76548" y="75678"/>
                </a:lnTo>
                <a:cubicBezTo>
                  <a:pt x="76983" y="56846"/>
                  <a:pt x="92379" y="41710"/>
                  <a:pt x="111299" y="41710"/>
                </a:cubicBezTo>
                <a:cubicBezTo>
                  <a:pt x="130218" y="41710"/>
                  <a:pt x="145615" y="56846"/>
                  <a:pt x="146050" y="75722"/>
                </a:cubicBezTo>
                <a:lnTo>
                  <a:pt x="169145" y="52627"/>
                </a:lnTo>
                <a:lnTo>
                  <a:pt x="153487" y="-565"/>
                </a:lnTo>
                <a:lnTo>
                  <a:pt x="153226" y="-1609"/>
                </a:lnTo>
                <a:cubicBezTo>
                  <a:pt x="152270" y="-6828"/>
                  <a:pt x="155358" y="-12004"/>
                  <a:pt x="160533" y="-13526"/>
                </a:cubicBezTo>
                <a:close/>
              </a:path>
            </a:pathLst>
          </a:custGeom>
          <a:solidFill>
            <a:srgbClr val="A855F7"/>
          </a:solidFill>
          <a:ln/>
        </p:spPr>
      </p:sp>
      <p:sp>
        <p:nvSpPr>
          <p:cNvPr id="36" name="Text 34"/>
          <p:cNvSpPr/>
          <p:nvPr/>
        </p:nvSpPr>
        <p:spPr>
          <a:xfrm>
            <a:off x="4769633" y="3956370"/>
            <a:ext cx="760840" cy="259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Firecrawl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417049" y="4290398"/>
            <a:ext cx="3460895" cy="185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3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 web scraping for competitor page extraction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043681" y="3841316"/>
            <a:ext cx="3626053" cy="935277"/>
          </a:xfrm>
          <a:prstGeom prst="roundRect">
            <a:avLst>
              <a:gd name="adj" fmla="val 7937"/>
            </a:avLst>
          </a:prstGeom>
          <a:solidFill>
            <a:srgbClr val="0F1629"/>
          </a:solidFill>
          <a:ln w="10160">
            <a:solidFill>
              <a:srgbClr val="A855F7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86571" y="3974927"/>
            <a:ext cx="222685" cy="222685"/>
          </a:xfrm>
          <a:custGeom>
            <a:avLst/>
            <a:gdLst/>
            <a:ahLst/>
            <a:cxnLst/>
            <a:rect l="l" t="t" r="r" b="b"/>
            <a:pathLst>
              <a:path w="222685" h="222685">
                <a:moveTo>
                  <a:pt x="27836" y="27836"/>
                </a:moveTo>
                <a:cubicBezTo>
                  <a:pt x="12483" y="27836"/>
                  <a:pt x="0" y="40318"/>
                  <a:pt x="0" y="55671"/>
                </a:cubicBezTo>
                <a:lnTo>
                  <a:pt x="0" y="58890"/>
                </a:lnTo>
                <a:cubicBezTo>
                  <a:pt x="0" y="61847"/>
                  <a:pt x="1914" y="64370"/>
                  <a:pt x="4393" y="65979"/>
                </a:cubicBezTo>
                <a:cubicBezTo>
                  <a:pt x="10134" y="69720"/>
                  <a:pt x="13918" y="76157"/>
                  <a:pt x="13918" y="83507"/>
                </a:cubicBezTo>
                <a:cubicBezTo>
                  <a:pt x="13918" y="90857"/>
                  <a:pt x="10134" y="97294"/>
                  <a:pt x="4393" y="101035"/>
                </a:cubicBezTo>
                <a:cubicBezTo>
                  <a:pt x="1914" y="102644"/>
                  <a:pt x="0" y="105166"/>
                  <a:pt x="0" y="108124"/>
                </a:cubicBezTo>
                <a:lnTo>
                  <a:pt x="0" y="132219"/>
                </a:lnTo>
                <a:lnTo>
                  <a:pt x="222685" y="132219"/>
                </a:lnTo>
                <a:lnTo>
                  <a:pt x="222685" y="108124"/>
                </a:lnTo>
                <a:cubicBezTo>
                  <a:pt x="222685" y="105166"/>
                  <a:pt x="220771" y="102644"/>
                  <a:pt x="218292" y="101035"/>
                </a:cubicBezTo>
                <a:cubicBezTo>
                  <a:pt x="212551" y="97294"/>
                  <a:pt x="208767" y="90857"/>
                  <a:pt x="208767" y="83507"/>
                </a:cubicBezTo>
                <a:cubicBezTo>
                  <a:pt x="208767" y="76157"/>
                  <a:pt x="212551" y="69720"/>
                  <a:pt x="218292" y="65979"/>
                </a:cubicBezTo>
                <a:cubicBezTo>
                  <a:pt x="220771" y="64370"/>
                  <a:pt x="222685" y="61847"/>
                  <a:pt x="222685" y="58890"/>
                </a:cubicBezTo>
                <a:lnTo>
                  <a:pt x="222685" y="55671"/>
                </a:lnTo>
                <a:cubicBezTo>
                  <a:pt x="222685" y="40318"/>
                  <a:pt x="210202" y="27836"/>
                  <a:pt x="194849" y="27836"/>
                </a:cubicBezTo>
                <a:lnTo>
                  <a:pt x="27836" y="27836"/>
                </a:lnTo>
                <a:close/>
                <a:moveTo>
                  <a:pt x="222685" y="180932"/>
                </a:moveTo>
                <a:lnTo>
                  <a:pt x="222685" y="153096"/>
                </a:lnTo>
                <a:lnTo>
                  <a:pt x="0" y="153096"/>
                </a:lnTo>
                <a:lnTo>
                  <a:pt x="0" y="180932"/>
                </a:lnTo>
                <a:cubicBezTo>
                  <a:pt x="0" y="188630"/>
                  <a:pt x="6220" y="194849"/>
                  <a:pt x="13918" y="194849"/>
                </a:cubicBezTo>
                <a:lnTo>
                  <a:pt x="41753" y="194849"/>
                </a:lnTo>
                <a:lnTo>
                  <a:pt x="41753" y="184411"/>
                </a:lnTo>
                <a:cubicBezTo>
                  <a:pt x="41753" y="178626"/>
                  <a:pt x="46407" y="173973"/>
                  <a:pt x="52192" y="173973"/>
                </a:cubicBezTo>
                <a:cubicBezTo>
                  <a:pt x="57976" y="173973"/>
                  <a:pt x="62630" y="178626"/>
                  <a:pt x="62630" y="184411"/>
                </a:cubicBezTo>
                <a:lnTo>
                  <a:pt x="62630" y="194849"/>
                </a:lnTo>
                <a:lnTo>
                  <a:pt x="100904" y="194849"/>
                </a:lnTo>
                <a:lnTo>
                  <a:pt x="100904" y="184411"/>
                </a:lnTo>
                <a:cubicBezTo>
                  <a:pt x="100904" y="178626"/>
                  <a:pt x="105558" y="173973"/>
                  <a:pt x="111342" y="173973"/>
                </a:cubicBezTo>
                <a:cubicBezTo>
                  <a:pt x="117127" y="173973"/>
                  <a:pt x="121781" y="178626"/>
                  <a:pt x="121781" y="184411"/>
                </a:cubicBezTo>
                <a:lnTo>
                  <a:pt x="121781" y="194849"/>
                </a:lnTo>
                <a:lnTo>
                  <a:pt x="160055" y="194849"/>
                </a:lnTo>
                <a:lnTo>
                  <a:pt x="160055" y="184411"/>
                </a:lnTo>
                <a:cubicBezTo>
                  <a:pt x="160055" y="178626"/>
                  <a:pt x="164709" y="173973"/>
                  <a:pt x="170493" y="173973"/>
                </a:cubicBezTo>
                <a:cubicBezTo>
                  <a:pt x="176278" y="173973"/>
                  <a:pt x="180932" y="178626"/>
                  <a:pt x="180932" y="184411"/>
                </a:cubicBezTo>
                <a:lnTo>
                  <a:pt x="180932" y="194849"/>
                </a:lnTo>
                <a:lnTo>
                  <a:pt x="208767" y="194849"/>
                </a:lnTo>
                <a:cubicBezTo>
                  <a:pt x="216465" y="194849"/>
                  <a:pt x="222685" y="188630"/>
                  <a:pt x="222685" y="180932"/>
                </a:cubicBezTo>
                <a:close/>
                <a:moveTo>
                  <a:pt x="69589" y="69589"/>
                </a:moveTo>
                <a:lnTo>
                  <a:pt x="69589" y="97425"/>
                </a:lnTo>
                <a:cubicBezTo>
                  <a:pt x="69589" y="105123"/>
                  <a:pt x="63370" y="111342"/>
                  <a:pt x="55671" y="111342"/>
                </a:cubicBezTo>
                <a:cubicBezTo>
                  <a:pt x="47973" y="111342"/>
                  <a:pt x="41753" y="105123"/>
                  <a:pt x="41753" y="97425"/>
                </a:cubicBezTo>
                <a:lnTo>
                  <a:pt x="41753" y="69589"/>
                </a:lnTo>
                <a:cubicBezTo>
                  <a:pt x="41753" y="61891"/>
                  <a:pt x="47973" y="55671"/>
                  <a:pt x="55671" y="55671"/>
                </a:cubicBezTo>
                <a:cubicBezTo>
                  <a:pt x="63370" y="55671"/>
                  <a:pt x="69589" y="61891"/>
                  <a:pt x="69589" y="69589"/>
                </a:cubicBezTo>
                <a:close/>
                <a:moveTo>
                  <a:pt x="125260" y="69589"/>
                </a:moveTo>
                <a:lnTo>
                  <a:pt x="125260" y="97425"/>
                </a:lnTo>
                <a:cubicBezTo>
                  <a:pt x="125260" y="105123"/>
                  <a:pt x="119041" y="111342"/>
                  <a:pt x="111342" y="111342"/>
                </a:cubicBezTo>
                <a:cubicBezTo>
                  <a:pt x="103644" y="111342"/>
                  <a:pt x="97425" y="105123"/>
                  <a:pt x="97425" y="97425"/>
                </a:cubicBezTo>
                <a:lnTo>
                  <a:pt x="97425" y="69589"/>
                </a:lnTo>
                <a:cubicBezTo>
                  <a:pt x="97425" y="61891"/>
                  <a:pt x="103644" y="55671"/>
                  <a:pt x="111342" y="55671"/>
                </a:cubicBezTo>
                <a:cubicBezTo>
                  <a:pt x="119041" y="55671"/>
                  <a:pt x="125260" y="61891"/>
                  <a:pt x="125260" y="69589"/>
                </a:cubicBezTo>
                <a:close/>
                <a:moveTo>
                  <a:pt x="180932" y="69589"/>
                </a:moveTo>
                <a:lnTo>
                  <a:pt x="180932" y="97425"/>
                </a:lnTo>
                <a:cubicBezTo>
                  <a:pt x="180932" y="105123"/>
                  <a:pt x="174712" y="111342"/>
                  <a:pt x="167014" y="111342"/>
                </a:cubicBezTo>
                <a:cubicBezTo>
                  <a:pt x="159315" y="111342"/>
                  <a:pt x="153096" y="105123"/>
                  <a:pt x="153096" y="97425"/>
                </a:cubicBezTo>
                <a:lnTo>
                  <a:pt x="153096" y="69589"/>
                </a:lnTo>
                <a:cubicBezTo>
                  <a:pt x="153096" y="61891"/>
                  <a:pt x="159315" y="55671"/>
                  <a:pt x="167014" y="55671"/>
                </a:cubicBezTo>
                <a:cubicBezTo>
                  <a:pt x="174712" y="55671"/>
                  <a:pt x="180932" y="61891"/>
                  <a:pt x="180932" y="69589"/>
                </a:cubicBezTo>
                <a:close/>
              </a:path>
            </a:pathLst>
          </a:custGeom>
          <a:solidFill>
            <a:srgbClr val="A855F7"/>
          </a:solidFill>
          <a:ln/>
        </p:spPr>
      </p:sp>
      <p:sp>
        <p:nvSpPr>
          <p:cNvPr id="40" name="Text 38"/>
          <p:cNvSpPr/>
          <p:nvPr/>
        </p:nvSpPr>
        <p:spPr>
          <a:xfrm>
            <a:off x="8511320" y="3956370"/>
            <a:ext cx="565991" cy="259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mem0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158735" y="4290398"/>
            <a:ext cx="3460895" cy="185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3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Vector memory system for persistent learning and retrieval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89699" y="5077216"/>
            <a:ext cx="11431160" cy="1781479"/>
          </a:xfrm>
          <a:custGeom>
            <a:avLst/>
            <a:gdLst/>
            <a:ahLst/>
            <a:cxnLst/>
            <a:rect l="l" t="t" r="r" b="b"/>
            <a:pathLst>
              <a:path w="11431160" h="1781479">
                <a:moveTo>
                  <a:pt x="0" y="0"/>
                </a:moveTo>
                <a:lnTo>
                  <a:pt x="11319764" y="0"/>
                </a:lnTo>
                <a:cubicBezTo>
                  <a:pt x="11381277" y="0"/>
                  <a:pt x="11431143" y="49866"/>
                  <a:pt x="11431143" y="111379"/>
                </a:cubicBezTo>
                <a:lnTo>
                  <a:pt x="11431143" y="1670177"/>
                </a:lnTo>
                <a:cubicBezTo>
                  <a:pt x="11431073" y="1731640"/>
                  <a:pt x="11381227" y="1781429"/>
                  <a:pt x="11319764" y="1781429"/>
                </a:cubicBezTo>
                <a:lnTo>
                  <a:pt x="0" y="1781429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2D3EE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3" name="Shape 41"/>
          <p:cNvSpPr/>
          <p:nvPr/>
        </p:nvSpPr>
        <p:spPr>
          <a:xfrm>
            <a:off x="389699" y="5077216"/>
            <a:ext cx="37114" cy="1781479"/>
          </a:xfrm>
          <a:prstGeom prst="roundRect">
            <a:avLst>
              <a:gd name="adj" fmla="val 0"/>
            </a:avLst>
          </a:prstGeom>
          <a:solidFill>
            <a:srgbClr val="22D3EE"/>
          </a:solidFill>
          <a:ln/>
        </p:spPr>
      </p:sp>
      <p:sp>
        <p:nvSpPr>
          <p:cNvPr id="44" name="Shape 42"/>
          <p:cNvSpPr/>
          <p:nvPr/>
        </p:nvSpPr>
        <p:spPr>
          <a:xfrm>
            <a:off x="556712" y="5225673"/>
            <a:ext cx="371142" cy="371142"/>
          </a:xfrm>
          <a:prstGeom prst="roundRect">
            <a:avLst>
              <a:gd name="adj" fmla="val 20000"/>
            </a:avLst>
          </a:prstGeom>
          <a:solidFill>
            <a:srgbClr val="22D3EE">
              <a:alpha val="2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49498" y="5318458"/>
            <a:ext cx="185571" cy="185571"/>
          </a:xfrm>
          <a:custGeom>
            <a:avLst/>
            <a:gdLst/>
            <a:ahLst/>
            <a:cxnLst/>
            <a:rect l="l" t="t" r="r" b="b"/>
            <a:pathLst>
              <a:path w="185571" h="185571">
                <a:moveTo>
                  <a:pt x="23196" y="11598"/>
                </a:moveTo>
                <a:cubicBezTo>
                  <a:pt x="10402" y="11598"/>
                  <a:pt x="0" y="22000"/>
                  <a:pt x="0" y="34795"/>
                </a:cubicBezTo>
                <a:lnTo>
                  <a:pt x="0" y="127580"/>
                </a:lnTo>
                <a:cubicBezTo>
                  <a:pt x="0" y="140374"/>
                  <a:pt x="10402" y="150776"/>
                  <a:pt x="23196" y="150776"/>
                </a:cubicBezTo>
                <a:lnTo>
                  <a:pt x="75388" y="150776"/>
                </a:lnTo>
                <a:lnTo>
                  <a:pt x="69589" y="168174"/>
                </a:lnTo>
                <a:lnTo>
                  <a:pt x="43493" y="168174"/>
                </a:lnTo>
                <a:cubicBezTo>
                  <a:pt x="38673" y="168174"/>
                  <a:pt x="34795" y="172052"/>
                  <a:pt x="34795" y="176872"/>
                </a:cubicBezTo>
                <a:cubicBezTo>
                  <a:pt x="34795" y="181693"/>
                  <a:pt x="38673" y="185571"/>
                  <a:pt x="43493" y="185571"/>
                </a:cubicBezTo>
                <a:lnTo>
                  <a:pt x="142078" y="185571"/>
                </a:lnTo>
                <a:cubicBezTo>
                  <a:pt x="146898" y="185571"/>
                  <a:pt x="150776" y="181693"/>
                  <a:pt x="150776" y="176872"/>
                </a:cubicBezTo>
                <a:cubicBezTo>
                  <a:pt x="150776" y="172052"/>
                  <a:pt x="146898" y="168174"/>
                  <a:pt x="142078" y="168174"/>
                </a:cubicBezTo>
                <a:lnTo>
                  <a:pt x="115982" y="168174"/>
                </a:lnTo>
                <a:lnTo>
                  <a:pt x="110183" y="150776"/>
                </a:lnTo>
                <a:lnTo>
                  <a:pt x="162374" y="150776"/>
                </a:lnTo>
                <a:cubicBezTo>
                  <a:pt x="175169" y="150776"/>
                  <a:pt x="185571" y="140374"/>
                  <a:pt x="185571" y="127580"/>
                </a:cubicBezTo>
                <a:lnTo>
                  <a:pt x="185571" y="34795"/>
                </a:lnTo>
                <a:cubicBezTo>
                  <a:pt x="185571" y="22000"/>
                  <a:pt x="175169" y="11598"/>
                  <a:pt x="162374" y="11598"/>
                </a:cubicBezTo>
                <a:lnTo>
                  <a:pt x="23196" y="11598"/>
                </a:lnTo>
                <a:close/>
                <a:moveTo>
                  <a:pt x="34795" y="34795"/>
                </a:moveTo>
                <a:lnTo>
                  <a:pt x="150776" y="34795"/>
                </a:lnTo>
                <a:cubicBezTo>
                  <a:pt x="157191" y="34795"/>
                  <a:pt x="162374" y="39977"/>
                  <a:pt x="162374" y="46393"/>
                </a:cubicBezTo>
                <a:lnTo>
                  <a:pt x="162374" y="104384"/>
                </a:lnTo>
                <a:cubicBezTo>
                  <a:pt x="162374" y="110799"/>
                  <a:pt x="157191" y="115982"/>
                  <a:pt x="150776" y="115982"/>
                </a:cubicBezTo>
                <a:lnTo>
                  <a:pt x="34795" y="115982"/>
                </a:lnTo>
                <a:cubicBezTo>
                  <a:pt x="28379" y="115982"/>
                  <a:pt x="23196" y="110799"/>
                  <a:pt x="23196" y="104384"/>
                </a:cubicBezTo>
                <a:lnTo>
                  <a:pt x="23196" y="46393"/>
                </a:lnTo>
                <a:cubicBezTo>
                  <a:pt x="23196" y="39977"/>
                  <a:pt x="28379" y="34795"/>
                  <a:pt x="34795" y="34795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46" name="Text 44"/>
          <p:cNvSpPr/>
          <p:nvPr/>
        </p:nvSpPr>
        <p:spPr>
          <a:xfrm>
            <a:off x="1039196" y="5262787"/>
            <a:ext cx="1002082" cy="29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3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60424" y="5711868"/>
            <a:ext cx="1751788" cy="990948"/>
          </a:xfrm>
          <a:prstGeom prst="roundRect">
            <a:avLst>
              <a:gd name="adj" fmla="val 7491"/>
            </a:avLst>
          </a:prstGeom>
          <a:solidFill>
            <a:srgbClr val="0F1629"/>
          </a:solidFill>
          <a:ln w="10160">
            <a:solidFill>
              <a:srgbClr val="22D3EE">
                <a:alpha val="30196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299575" y="5826922"/>
            <a:ext cx="278356" cy="278356"/>
          </a:xfrm>
          <a:custGeom>
            <a:avLst/>
            <a:gdLst/>
            <a:ahLst/>
            <a:cxnLst/>
            <a:rect l="l" t="t" r="r" b="b"/>
            <a:pathLst>
              <a:path w="278356" h="278356">
                <a:moveTo>
                  <a:pt x="227360" y="96337"/>
                </a:moveTo>
                <a:cubicBezTo>
                  <a:pt x="224425" y="95359"/>
                  <a:pt x="221489" y="94435"/>
                  <a:pt x="218553" y="93565"/>
                </a:cubicBezTo>
                <a:cubicBezTo>
                  <a:pt x="219042" y="91553"/>
                  <a:pt x="219477" y="89542"/>
                  <a:pt x="219912" y="87530"/>
                </a:cubicBezTo>
                <a:cubicBezTo>
                  <a:pt x="226599" y="55128"/>
                  <a:pt x="222196" y="29086"/>
                  <a:pt x="207354" y="20496"/>
                </a:cubicBezTo>
                <a:cubicBezTo>
                  <a:pt x="193055" y="12287"/>
                  <a:pt x="169732" y="20822"/>
                  <a:pt x="146137" y="41373"/>
                </a:cubicBezTo>
                <a:cubicBezTo>
                  <a:pt x="143799" y="43384"/>
                  <a:pt x="141516" y="45505"/>
                  <a:pt x="139341" y="47625"/>
                </a:cubicBezTo>
                <a:cubicBezTo>
                  <a:pt x="137873" y="46211"/>
                  <a:pt x="136351" y="44798"/>
                  <a:pt x="134829" y="43439"/>
                </a:cubicBezTo>
                <a:cubicBezTo>
                  <a:pt x="110092" y="21475"/>
                  <a:pt x="85301" y="12232"/>
                  <a:pt x="70459" y="20877"/>
                </a:cubicBezTo>
                <a:cubicBezTo>
                  <a:pt x="56215" y="29140"/>
                  <a:pt x="51974" y="53660"/>
                  <a:pt x="57955" y="84322"/>
                </a:cubicBezTo>
                <a:cubicBezTo>
                  <a:pt x="58553" y="87367"/>
                  <a:pt x="59205" y="90357"/>
                  <a:pt x="59966" y="93402"/>
                </a:cubicBezTo>
                <a:cubicBezTo>
                  <a:pt x="56487" y="94380"/>
                  <a:pt x="53062" y="95467"/>
                  <a:pt x="49854" y="96609"/>
                </a:cubicBezTo>
                <a:cubicBezTo>
                  <a:pt x="20822" y="106667"/>
                  <a:pt x="0" y="122542"/>
                  <a:pt x="0" y="138961"/>
                </a:cubicBezTo>
                <a:cubicBezTo>
                  <a:pt x="0" y="155923"/>
                  <a:pt x="22182" y="172940"/>
                  <a:pt x="52355" y="183269"/>
                </a:cubicBezTo>
                <a:cubicBezTo>
                  <a:pt x="54801" y="184085"/>
                  <a:pt x="57248" y="184900"/>
                  <a:pt x="59749" y="185607"/>
                </a:cubicBezTo>
                <a:cubicBezTo>
                  <a:pt x="58933" y="188869"/>
                  <a:pt x="58226" y="192077"/>
                  <a:pt x="57574" y="195393"/>
                </a:cubicBezTo>
                <a:cubicBezTo>
                  <a:pt x="51866" y="225566"/>
                  <a:pt x="56324" y="249488"/>
                  <a:pt x="70568" y="257697"/>
                </a:cubicBezTo>
                <a:cubicBezTo>
                  <a:pt x="85247" y="266178"/>
                  <a:pt x="109929" y="257479"/>
                  <a:pt x="133959" y="236440"/>
                </a:cubicBezTo>
                <a:cubicBezTo>
                  <a:pt x="135862" y="234754"/>
                  <a:pt x="137765" y="233015"/>
                  <a:pt x="139667" y="231166"/>
                </a:cubicBezTo>
                <a:cubicBezTo>
                  <a:pt x="142060" y="233504"/>
                  <a:pt x="144560" y="235733"/>
                  <a:pt x="147061" y="237908"/>
                </a:cubicBezTo>
                <a:cubicBezTo>
                  <a:pt x="170330" y="257914"/>
                  <a:pt x="193327" y="266015"/>
                  <a:pt x="207517" y="257806"/>
                </a:cubicBezTo>
                <a:cubicBezTo>
                  <a:pt x="222196" y="249324"/>
                  <a:pt x="226980" y="223609"/>
                  <a:pt x="220782" y="192294"/>
                </a:cubicBezTo>
                <a:cubicBezTo>
                  <a:pt x="220293" y="189902"/>
                  <a:pt x="219749" y="187455"/>
                  <a:pt x="219151" y="184955"/>
                </a:cubicBezTo>
                <a:cubicBezTo>
                  <a:pt x="220891" y="184465"/>
                  <a:pt x="222576" y="183922"/>
                  <a:pt x="224262" y="183378"/>
                </a:cubicBezTo>
                <a:cubicBezTo>
                  <a:pt x="255631" y="172994"/>
                  <a:pt x="278356" y="156195"/>
                  <a:pt x="278356" y="138961"/>
                </a:cubicBezTo>
                <a:cubicBezTo>
                  <a:pt x="278356" y="122488"/>
                  <a:pt x="256936" y="106504"/>
                  <a:pt x="227360" y="96337"/>
                </a:cubicBezTo>
                <a:close/>
                <a:moveTo>
                  <a:pt x="153803" y="50180"/>
                </a:moveTo>
                <a:cubicBezTo>
                  <a:pt x="174027" y="32565"/>
                  <a:pt x="192892" y="25661"/>
                  <a:pt x="201482" y="30608"/>
                </a:cubicBezTo>
                <a:cubicBezTo>
                  <a:pt x="210670" y="35882"/>
                  <a:pt x="214204" y="57193"/>
                  <a:pt x="208441" y="85192"/>
                </a:cubicBezTo>
                <a:cubicBezTo>
                  <a:pt x="208060" y="87041"/>
                  <a:pt x="207680" y="88835"/>
                  <a:pt x="207190" y="90629"/>
                </a:cubicBezTo>
                <a:cubicBezTo>
                  <a:pt x="195121" y="87911"/>
                  <a:pt x="182889" y="85953"/>
                  <a:pt x="170602" y="84866"/>
                </a:cubicBezTo>
                <a:cubicBezTo>
                  <a:pt x="163534" y="74754"/>
                  <a:pt x="155814" y="65077"/>
                  <a:pt x="147442" y="55997"/>
                </a:cubicBezTo>
                <a:cubicBezTo>
                  <a:pt x="149562" y="53986"/>
                  <a:pt x="151628" y="52083"/>
                  <a:pt x="153803" y="50180"/>
                </a:cubicBezTo>
                <a:close/>
                <a:moveTo>
                  <a:pt x="90901" y="167177"/>
                </a:moveTo>
                <a:cubicBezTo>
                  <a:pt x="93673" y="171907"/>
                  <a:pt x="96500" y="176637"/>
                  <a:pt x="99491" y="181258"/>
                </a:cubicBezTo>
                <a:cubicBezTo>
                  <a:pt x="91009" y="180333"/>
                  <a:pt x="82583" y="178974"/>
                  <a:pt x="74265" y="177180"/>
                </a:cubicBezTo>
                <a:cubicBezTo>
                  <a:pt x="76657" y="169351"/>
                  <a:pt x="79647" y="161251"/>
                  <a:pt x="83126" y="152987"/>
                </a:cubicBezTo>
                <a:cubicBezTo>
                  <a:pt x="85627" y="157771"/>
                  <a:pt x="88182" y="162501"/>
                  <a:pt x="90901" y="167177"/>
                </a:cubicBezTo>
                <a:close/>
                <a:moveTo>
                  <a:pt x="74428" y="101774"/>
                </a:moveTo>
                <a:cubicBezTo>
                  <a:pt x="82256" y="100034"/>
                  <a:pt x="90574" y="98621"/>
                  <a:pt x="99219" y="97533"/>
                </a:cubicBezTo>
                <a:cubicBezTo>
                  <a:pt x="96337" y="102046"/>
                  <a:pt x="93510" y="106667"/>
                  <a:pt x="90846" y="111342"/>
                </a:cubicBezTo>
                <a:cubicBezTo>
                  <a:pt x="88182" y="115964"/>
                  <a:pt x="85573" y="120693"/>
                  <a:pt x="83126" y="125478"/>
                </a:cubicBezTo>
                <a:cubicBezTo>
                  <a:pt x="79701" y="117377"/>
                  <a:pt x="76820" y="109440"/>
                  <a:pt x="74428" y="101774"/>
                </a:cubicBezTo>
                <a:close/>
                <a:moveTo>
                  <a:pt x="89324" y="139232"/>
                </a:moveTo>
                <a:cubicBezTo>
                  <a:pt x="92912" y="131730"/>
                  <a:pt x="96827" y="124390"/>
                  <a:pt x="100958" y="117160"/>
                </a:cubicBezTo>
                <a:cubicBezTo>
                  <a:pt x="105090" y="109929"/>
                  <a:pt x="109548" y="102916"/>
                  <a:pt x="114224" y="96011"/>
                </a:cubicBezTo>
                <a:cubicBezTo>
                  <a:pt x="122379" y="95413"/>
                  <a:pt x="130697" y="95087"/>
                  <a:pt x="139178" y="95087"/>
                </a:cubicBezTo>
                <a:cubicBezTo>
                  <a:pt x="147659" y="95087"/>
                  <a:pt x="156032" y="95413"/>
                  <a:pt x="164132" y="96011"/>
                </a:cubicBezTo>
                <a:cubicBezTo>
                  <a:pt x="168753" y="102861"/>
                  <a:pt x="173157" y="109875"/>
                  <a:pt x="177343" y="117051"/>
                </a:cubicBezTo>
                <a:cubicBezTo>
                  <a:pt x="181530" y="124227"/>
                  <a:pt x="185444" y="131567"/>
                  <a:pt x="189141" y="139015"/>
                </a:cubicBezTo>
                <a:cubicBezTo>
                  <a:pt x="185498" y="146518"/>
                  <a:pt x="181584" y="153911"/>
                  <a:pt x="177398" y="161196"/>
                </a:cubicBezTo>
                <a:cubicBezTo>
                  <a:pt x="173266" y="168427"/>
                  <a:pt x="168862" y="175440"/>
                  <a:pt x="164241" y="182399"/>
                </a:cubicBezTo>
                <a:cubicBezTo>
                  <a:pt x="156140" y="182997"/>
                  <a:pt x="147714" y="183269"/>
                  <a:pt x="139178" y="183269"/>
                </a:cubicBezTo>
                <a:cubicBezTo>
                  <a:pt x="130643" y="183269"/>
                  <a:pt x="122379" y="182997"/>
                  <a:pt x="114387" y="182508"/>
                </a:cubicBezTo>
                <a:cubicBezTo>
                  <a:pt x="109657" y="175604"/>
                  <a:pt x="105199" y="168536"/>
                  <a:pt x="101013" y="161305"/>
                </a:cubicBezTo>
                <a:cubicBezTo>
                  <a:pt x="96827" y="154074"/>
                  <a:pt x="92967" y="146735"/>
                  <a:pt x="89324" y="139232"/>
                </a:cubicBezTo>
                <a:close/>
                <a:moveTo>
                  <a:pt x="187510" y="167068"/>
                </a:moveTo>
                <a:cubicBezTo>
                  <a:pt x="190283" y="162284"/>
                  <a:pt x="192892" y="157445"/>
                  <a:pt x="195447" y="152552"/>
                </a:cubicBezTo>
                <a:cubicBezTo>
                  <a:pt x="198927" y="160435"/>
                  <a:pt x="201971" y="168427"/>
                  <a:pt x="204635" y="176637"/>
                </a:cubicBezTo>
                <a:cubicBezTo>
                  <a:pt x="196208" y="178539"/>
                  <a:pt x="187673" y="180007"/>
                  <a:pt x="179083" y="180986"/>
                </a:cubicBezTo>
                <a:cubicBezTo>
                  <a:pt x="182019" y="176419"/>
                  <a:pt x="184792" y="171744"/>
                  <a:pt x="187510" y="167068"/>
                </a:cubicBezTo>
                <a:close/>
                <a:moveTo>
                  <a:pt x="195339" y="125478"/>
                </a:moveTo>
                <a:cubicBezTo>
                  <a:pt x="192783" y="120693"/>
                  <a:pt x="190174" y="115909"/>
                  <a:pt x="187455" y="111234"/>
                </a:cubicBezTo>
                <a:cubicBezTo>
                  <a:pt x="184792" y="106613"/>
                  <a:pt x="182019" y="102046"/>
                  <a:pt x="179137" y="97533"/>
                </a:cubicBezTo>
                <a:cubicBezTo>
                  <a:pt x="187890" y="98621"/>
                  <a:pt x="196263" y="100089"/>
                  <a:pt x="204092" y="101883"/>
                </a:cubicBezTo>
                <a:cubicBezTo>
                  <a:pt x="201591" y="109929"/>
                  <a:pt x="198655" y="117758"/>
                  <a:pt x="195339" y="125478"/>
                </a:cubicBezTo>
                <a:close/>
                <a:moveTo>
                  <a:pt x="139287" y="64315"/>
                </a:moveTo>
                <a:cubicBezTo>
                  <a:pt x="144995" y="70513"/>
                  <a:pt x="150378" y="77037"/>
                  <a:pt x="155379" y="83779"/>
                </a:cubicBezTo>
                <a:cubicBezTo>
                  <a:pt x="144615" y="83289"/>
                  <a:pt x="133796" y="83289"/>
                  <a:pt x="123031" y="83779"/>
                </a:cubicBezTo>
                <a:cubicBezTo>
                  <a:pt x="128359" y="76765"/>
                  <a:pt x="133850" y="70241"/>
                  <a:pt x="139287" y="64315"/>
                </a:cubicBezTo>
                <a:close/>
                <a:moveTo>
                  <a:pt x="76222" y="30989"/>
                </a:moveTo>
                <a:cubicBezTo>
                  <a:pt x="85355" y="25661"/>
                  <a:pt x="105634" y="33272"/>
                  <a:pt x="127000" y="52192"/>
                </a:cubicBezTo>
                <a:cubicBezTo>
                  <a:pt x="128359" y="53388"/>
                  <a:pt x="129718" y="54693"/>
                  <a:pt x="131132" y="55997"/>
                </a:cubicBezTo>
                <a:cubicBezTo>
                  <a:pt x="122705" y="65077"/>
                  <a:pt x="114931" y="74754"/>
                  <a:pt x="107809" y="84866"/>
                </a:cubicBezTo>
                <a:cubicBezTo>
                  <a:pt x="95522" y="85953"/>
                  <a:pt x="83344" y="87856"/>
                  <a:pt x="71274" y="90520"/>
                </a:cubicBezTo>
                <a:cubicBezTo>
                  <a:pt x="70568" y="87747"/>
                  <a:pt x="69970" y="84920"/>
                  <a:pt x="69372" y="82093"/>
                </a:cubicBezTo>
                <a:cubicBezTo>
                  <a:pt x="64261" y="55780"/>
                  <a:pt x="67632" y="35936"/>
                  <a:pt x="76222" y="30989"/>
                </a:cubicBezTo>
                <a:close/>
                <a:moveTo>
                  <a:pt x="62902" y="174299"/>
                </a:moveTo>
                <a:cubicBezTo>
                  <a:pt x="60619" y="173646"/>
                  <a:pt x="58390" y="172940"/>
                  <a:pt x="56161" y="172179"/>
                </a:cubicBezTo>
                <a:cubicBezTo>
                  <a:pt x="44580" y="168536"/>
                  <a:pt x="31424" y="162773"/>
                  <a:pt x="21910" y="155216"/>
                </a:cubicBezTo>
                <a:cubicBezTo>
                  <a:pt x="16419" y="151411"/>
                  <a:pt x="12722" y="145539"/>
                  <a:pt x="11689" y="138961"/>
                </a:cubicBezTo>
                <a:cubicBezTo>
                  <a:pt x="11689" y="129012"/>
                  <a:pt x="28869" y="116290"/>
                  <a:pt x="53660" y="107646"/>
                </a:cubicBezTo>
                <a:cubicBezTo>
                  <a:pt x="56759" y="106558"/>
                  <a:pt x="59912" y="105580"/>
                  <a:pt x="63065" y="104655"/>
                </a:cubicBezTo>
                <a:cubicBezTo>
                  <a:pt x="66762" y="116453"/>
                  <a:pt x="71220" y="128033"/>
                  <a:pt x="76385" y="139232"/>
                </a:cubicBezTo>
                <a:cubicBezTo>
                  <a:pt x="71166" y="150595"/>
                  <a:pt x="66653" y="162338"/>
                  <a:pt x="62902" y="174299"/>
                </a:cubicBezTo>
                <a:close/>
                <a:moveTo>
                  <a:pt x="126293" y="227578"/>
                </a:moveTo>
                <a:cubicBezTo>
                  <a:pt x="117323" y="235787"/>
                  <a:pt x="106939" y="242311"/>
                  <a:pt x="95631" y="246769"/>
                </a:cubicBezTo>
                <a:cubicBezTo>
                  <a:pt x="89596" y="249651"/>
                  <a:pt x="82637" y="249923"/>
                  <a:pt x="76439" y="247476"/>
                </a:cubicBezTo>
                <a:cubicBezTo>
                  <a:pt x="67795" y="242474"/>
                  <a:pt x="64207" y="223283"/>
                  <a:pt x="69100" y="197459"/>
                </a:cubicBezTo>
                <a:cubicBezTo>
                  <a:pt x="69698" y="194414"/>
                  <a:pt x="70350" y="191370"/>
                  <a:pt x="71111" y="188380"/>
                </a:cubicBezTo>
                <a:cubicBezTo>
                  <a:pt x="83289" y="190989"/>
                  <a:pt x="95576" y="192783"/>
                  <a:pt x="108026" y="193708"/>
                </a:cubicBezTo>
                <a:cubicBezTo>
                  <a:pt x="115202" y="203874"/>
                  <a:pt x="123086" y="213606"/>
                  <a:pt x="131512" y="222739"/>
                </a:cubicBezTo>
                <a:cubicBezTo>
                  <a:pt x="129773" y="224425"/>
                  <a:pt x="128033" y="226056"/>
                  <a:pt x="126293" y="227578"/>
                </a:cubicBezTo>
                <a:close/>
                <a:moveTo>
                  <a:pt x="139613" y="214367"/>
                </a:moveTo>
                <a:cubicBezTo>
                  <a:pt x="134068" y="208387"/>
                  <a:pt x="128522" y="201754"/>
                  <a:pt x="123140" y="194632"/>
                </a:cubicBezTo>
                <a:cubicBezTo>
                  <a:pt x="128359" y="194849"/>
                  <a:pt x="133741" y="194958"/>
                  <a:pt x="139178" y="194958"/>
                </a:cubicBezTo>
                <a:cubicBezTo>
                  <a:pt x="144778" y="194958"/>
                  <a:pt x="150269" y="194849"/>
                  <a:pt x="155705" y="194577"/>
                </a:cubicBezTo>
                <a:cubicBezTo>
                  <a:pt x="150704" y="201482"/>
                  <a:pt x="145321" y="208060"/>
                  <a:pt x="139613" y="214367"/>
                </a:cubicBezTo>
                <a:close/>
                <a:moveTo>
                  <a:pt x="210670" y="230677"/>
                </a:moveTo>
                <a:cubicBezTo>
                  <a:pt x="210181" y="237310"/>
                  <a:pt x="206919" y="243507"/>
                  <a:pt x="201699" y="247693"/>
                </a:cubicBezTo>
                <a:cubicBezTo>
                  <a:pt x="193055" y="252695"/>
                  <a:pt x="174625" y="246171"/>
                  <a:pt x="154727" y="229100"/>
                </a:cubicBezTo>
                <a:cubicBezTo>
                  <a:pt x="152443" y="227143"/>
                  <a:pt x="150160" y="225023"/>
                  <a:pt x="147822" y="222848"/>
                </a:cubicBezTo>
                <a:cubicBezTo>
                  <a:pt x="156140" y="213660"/>
                  <a:pt x="163806" y="203929"/>
                  <a:pt x="170765" y="193708"/>
                </a:cubicBezTo>
                <a:cubicBezTo>
                  <a:pt x="183215" y="192675"/>
                  <a:pt x="195610" y="190772"/>
                  <a:pt x="207843" y="187999"/>
                </a:cubicBezTo>
                <a:cubicBezTo>
                  <a:pt x="208387" y="190228"/>
                  <a:pt x="208876" y="192457"/>
                  <a:pt x="209311" y="194632"/>
                </a:cubicBezTo>
                <a:cubicBezTo>
                  <a:pt x="211975" y="206375"/>
                  <a:pt x="212410" y="218607"/>
                  <a:pt x="210670" y="230677"/>
                </a:cubicBezTo>
                <a:close/>
                <a:moveTo>
                  <a:pt x="220565" y="172233"/>
                </a:moveTo>
                <a:cubicBezTo>
                  <a:pt x="219042" y="172722"/>
                  <a:pt x="217520" y="173211"/>
                  <a:pt x="215943" y="173646"/>
                </a:cubicBezTo>
                <a:cubicBezTo>
                  <a:pt x="212138" y="161795"/>
                  <a:pt x="207462" y="150214"/>
                  <a:pt x="202080" y="138961"/>
                </a:cubicBezTo>
                <a:cubicBezTo>
                  <a:pt x="207299" y="127870"/>
                  <a:pt x="211703" y="116453"/>
                  <a:pt x="215400" y="104764"/>
                </a:cubicBezTo>
                <a:cubicBezTo>
                  <a:pt x="218227" y="105580"/>
                  <a:pt x="220945" y="106449"/>
                  <a:pt x="223555" y="107319"/>
                </a:cubicBezTo>
                <a:cubicBezTo>
                  <a:pt x="248890" y="116018"/>
                  <a:pt x="266667" y="128957"/>
                  <a:pt x="266667" y="138852"/>
                </a:cubicBezTo>
                <a:cubicBezTo>
                  <a:pt x="266667" y="149508"/>
                  <a:pt x="247693" y="163262"/>
                  <a:pt x="220565" y="172233"/>
                </a:cubicBezTo>
                <a:close/>
                <a:moveTo>
                  <a:pt x="139178" y="164078"/>
                </a:moveTo>
                <a:cubicBezTo>
                  <a:pt x="152921" y="164078"/>
                  <a:pt x="164078" y="152921"/>
                  <a:pt x="164078" y="139178"/>
                </a:cubicBezTo>
                <a:cubicBezTo>
                  <a:pt x="164078" y="125435"/>
                  <a:pt x="152921" y="114278"/>
                  <a:pt x="139178" y="114278"/>
                </a:cubicBezTo>
                <a:cubicBezTo>
                  <a:pt x="125435" y="114278"/>
                  <a:pt x="114278" y="125435"/>
                  <a:pt x="114278" y="139178"/>
                </a:cubicBezTo>
                <a:cubicBezTo>
                  <a:pt x="114278" y="152921"/>
                  <a:pt x="125435" y="164078"/>
                  <a:pt x="139178" y="164078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49" name="Text 47"/>
          <p:cNvSpPr/>
          <p:nvPr/>
        </p:nvSpPr>
        <p:spPr>
          <a:xfrm>
            <a:off x="638363" y="6179507"/>
            <a:ext cx="1595909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 19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47642" y="6439306"/>
            <a:ext cx="1577352" cy="148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7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UI framework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2431209" y="5711868"/>
            <a:ext cx="1751788" cy="990948"/>
          </a:xfrm>
          <a:prstGeom prst="roundRect">
            <a:avLst>
              <a:gd name="adj" fmla="val 7491"/>
            </a:avLst>
          </a:prstGeom>
          <a:solidFill>
            <a:srgbClr val="0F1629"/>
          </a:solidFill>
          <a:ln w="10160">
            <a:solidFill>
              <a:srgbClr val="22D3EE">
                <a:alpha val="30196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187758" y="5826922"/>
            <a:ext cx="243562" cy="278356"/>
          </a:xfrm>
          <a:custGeom>
            <a:avLst/>
            <a:gdLst/>
            <a:ahLst/>
            <a:cxnLst/>
            <a:rect l="l" t="t" r="r" b="b"/>
            <a:pathLst>
              <a:path w="243562" h="278356">
                <a:moveTo>
                  <a:pt x="0" y="17397"/>
                </a:moveTo>
                <a:lnTo>
                  <a:pt x="0" y="260959"/>
                </a:lnTo>
                <a:lnTo>
                  <a:pt x="243562" y="260959"/>
                </a:lnTo>
                <a:lnTo>
                  <a:pt x="243562" y="17397"/>
                </a:lnTo>
                <a:lnTo>
                  <a:pt x="0" y="17397"/>
                </a:lnTo>
                <a:close/>
                <a:moveTo>
                  <a:pt x="132545" y="207354"/>
                </a:moveTo>
                <a:cubicBezTo>
                  <a:pt x="132545" y="231057"/>
                  <a:pt x="118628" y="241876"/>
                  <a:pt x="98349" y="241876"/>
                </a:cubicBezTo>
                <a:cubicBezTo>
                  <a:pt x="80027" y="241876"/>
                  <a:pt x="69426" y="232417"/>
                  <a:pt x="63989" y="220945"/>
                </a:cubicBezTo>
                <a:lnTo>
                  <a:pt x="82637" y="209691"/>
                </a:lnTo>
                <a:cubicBezTo>
                  <a:pt x="86225" y="216052"/>
                  <a:pt x="89487" y="221435"/>
                  <a:pt x="97370" y="221435"/>
                </a:cubicBezTo>
                <a:cubicBezTo>
                  <a:pt x="104873" y="221435"/>
                  <a:pt x="109657" y="218499"/>
                  <a:pt x="109657" y="207027"/>
                </a:cubicBezTo>
                <a:lnTo>
                  <a:pt x="109657" y="129229"/>
                </a:lnTo>
                <a:lnTo>
                  <a:pt x="132545" y="129229"/>
                </a:lnTo>
                <a:lnTo>
                  <a:pt x="132545" y="207354"/>
                </a:lnTo>
                <a:close/>
                <a:moveTo>
                  <a:pt x="186694" y="241876"/>
                </a:moveTo>
                <a:cubicBezTo>
                  <a:pt x="165437" y="241876"/>
                  <a:pt x="151682" y="231764"/>
                  <a:pt x="144995" y="218499"/>
                </a:cubicBezTo>
                <a:lnTo>
                  <a:pt x="163643" y="207734"/>
                </a:lnTo>
                <a:cubicBezTo>
                  <a:pt x="168536" y="215726"/>
                  <a:pt x="174951" y="221652"/>
                  <a:pt x="186205" y="221652"/>
                </a:cubicBezTo>
                <a:cubicBezTo>
                  <a:pt x="195665" y="221652"/>
                  <a:pt x="201754" y="216922"/>
                  <a:pt x="201754" y="210344"/>
                </a:cubicBezTo>
                <a:cubicBezTo>
                  <a:pt x="201754" y="202515"/>
                  <a:pt x="195556" y="199742"/>
                  <a:pt x="185063" y="195121"/>
                </a:cubicBezTo>
                <a:lnTo>
                  <a:pt x="179355" y="192675"/>
                </a:lnTo>
                <a:cubicBezTo>
                  <a:pt x="162827" y="185661"/>
                  <a:pt x="151900" y="176800"/>
                  <a:pt x="151900" y="158152"/>
                </a:cubicBezTo>
                <a:cubicBezTo>
                  <a:pt x="151900" y="140972"/>
                  <a:pt x="165002" y="127924"/>
                  <a:pt x="185390" y="127924"/>
                </a:cubicBezTo>
                <a:cubicBezTo>
                  <a:pt x="199960" y="127924"/>
                  <a:pt x="210398" y="132980"/>
                  <a:pt x="217901" y="146246"/>
                </a:cubicBezTo>
                <a:lnTo>
                  <a:pt x="200068" y="157663"/>
                </a:lnTo>
                <a:cubicBezTo>
                  <a:pt x="196154" y="150649"/>
                  <a:pt x="191914" y="147877"/>
                  <a:pt x="185335" y="147877"/>
                </a:cubicBezTo>
                <a:cubicBezTo>
                  <a:pt x="178648" y="147877"/>
                  <a:pt x="174408" y="152117"/>
                  <a:pt x="174408" y="157663"/>
                </a:cubicBezTo>
                <a:cubicBezTo>
                  <a:pt x="174408" y="164513"/>
                  <a:pt x="178648" y="167286"/>
                  <a:pt x="188488" y="171580"/>
                </a:cubicBezTo>
                <a:lnTo>
                  <a:pt x="194197" y="174027"/>
                </a:lnTo>
                <a:cubicBezTo>
                  <a:pt x="213660" y="182345"/>
                  <a:pt x="224588" y="190881"/>
                  <a:pt x="224588" y="210018"/>
                </a:cubicBezTo>
                <a:cubicBezTo>
                  <a:pt x="224588" y="230568"/>
                  <a:pt x="208387" y="241876"/>
                  <a:pt x="186694" y="241876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3" name="Text 51"/>
          <p:cNvSpPr/>
          <p:nvPr/>
        </p:nvSpPr>
        <p:spPr>
          <a:xfrm>
            <a:off x="2509149" y="6179507"/>
            <a:ext cx="1595909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TypeScript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2518428" y="6439306"/>
            <a:ext cx="1577352" cy="148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7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 safety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301995" y="5711868"/>
            <a:ext cx="1751788" cy="990948"/>
          </a:xfrm>
          <a:prstGeom prst="roundRect">
            <a:avLst>
              <a:gd name="adj" fmla="val 7491"/>
            </a:avLst>
          </a:prstGeom>
          <a:solidFill>
            <a:srgbClr val="0F1629"/>
          </a:solidFill>
          <a:ln w="10160">
            <a:solidFill>
              <a:srgbClr val="22D3EE">
                <a:alpha val="30196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041146" y="5826922"/>
            <a:ext cx="278356" cy="278356"/>
          </a:xfrm>
          <a:custGeom>
            <a:avLst/>
            <a:gdLst/>
            <a:ahLst/>
            <a:cxnLst/>
            <a:rect l="l" t="t" r="r" b="b"/>
            <a:pathLst>
              <a:path w="278356" h="278356">
                <a:moveTo>
                  <a:pt x="156575" y="17397"/>
                </a:moveTo>
                <a:cubicBezTo>
                  <a:pt x="156575" y="27020"/>
                  <a:pt x="164350" y="34795"/>
                  <a:pt x="173973" y="34795"/>
                </a:cubicBezTo>
                <a:lnTo>
                  <a:pt x="195719" y="34795"/>
                </a:lnTo>
                <a:cubicBezTo>
                  <a:pt x="202950" y="34795"/>
                  <a:pt x="208767" y="40612"/>
                  <a:pt x="208767" y="47842"/>
                </a:cubicBezTo>
                <a:cubicBezTo>
                  <a:pt x="208767" y="55073"/>
                  <a:pt x="202950" y="60890"/>
                  <a:pt x="195719" y="60890"/>
                </a:cubicBezTo>
                <a:lnTo>
                  <a:pt x="17397" y="60890"/>
                </a:lnTo>
                <a:cubicBezTo>
                  <a:pt x="7774" y="60890"/>
                  <a:pt x="0" y="68665"/>
                  <a:pt x="0" y="78288"/>
                </a:cubicBezTo>
                <a:cubicBezTo>
                  <a:pt x="0" y="87911"/>
                  <a:pt x="7774" y="95685"/>
                  <a:pt x="17397" y="95685"/>
                </a:cubicBezTo>
                <a:lnTo>
                  <a:pt x="195719" y="95685"/>
                </a:lnTo>
                <a:cubicBezTo>
                  <a:pt x="222141" y="95685"/>
                  <a:pt x="243562" y="74265"/>
                  <a:pt x="243562" y="47842"/>
                </a:cubicBezTo>
                <a:cubicBezTo>
                  <a:pt x="243562" y="21420"/>
                  <a:pt x="222141" y="0"/>
                  <a:pt x="195719" y="0"/>
                </a:cubicBezTo>
                <a:lnTo>
                  <a:pt x="173973" y="0"/>
                </a:lnTo>
                <a:cubicBezTo>
                  <a:pt x="164350" y="0"/>
                  <a:pt x="156575" y="7774"/>
                  <a:pt x="156575" y="17397"/>
                </a:cubicBezTo>
                <a:close/>
                <a:moveTo>
                  <a:pt x="191370" y="208767"/>
                </a:moveTo>
                <a:cubicBezTo>
                  <a:pt x="191370" y="218390"/>
                  <a:pt x="199144" y="226164"/>
                  <a:pt x="208767" y="226164"/>
                </a:cubicBezTo>
                <a:lnTo>
                  <a:pt x="226164" y="226164"/>
                </a:lnTo>
                <a:cubicBezTo>
                  <a:pt x="254979" y="226164"/>
                  <a:pt x="278356" y="202787"/>
                  <a:pt x="278356" y="173973"/>
                </a:cubicBezTo>
                <a:cubicBezTo>
                  <a:pt x="278356" y="145158"/>
                  <a:pt x="254979" y="121781"/>
                  <a:pt x="226164" y="121781"/>
                </a:cubicBezTo>
                <a:lnTo>
                  <a:pt x="17397" y="121781"/>
                </a:lnTo>
                <a:cubicBezTo>
                  <a:pt x="7774" y="121781"/>
                  <a:pt x="0" y="129555"/>
                  <a:pt x="0" y="139178"/>
                </a:cubicBezTo>
                <a:cubicBezTo>
                  <a:pt x="0" y="148801"/>
                  <a:pt x="7774" y="156575"/>
                  <a:pt x="17397" y="156575"/>
                </a:cubicBezTo>
                <a:lnTo>
                  <a:pt x="226164" y="156575"/>
                </a:lnTo>
                <a:cubicBezTo>
                  <a:pt x="235787" y="156575"/>
                  <a:pt x="243562" y="164350"/>
                  <a:pt x="243562" y="173973"/>
                </a:cubicBezTo>
                <a:cubicBezTo>
                  <a:pt x="243562" y="183595"/>
                  <a:pt x="235787" y="191370"/>
                  <a:pt x="226164" y="191370"/>
                </a:cubicBezTo>
                <a:lnTo>
                  <a:pt x="208767" y="191370"/>
                </a:lnTo>
                <a:cubicBezTo>
                  <a:pt x="199144" y="191370"/>
                  <a:pt x="191370" y="199144"/>
                  <a:pt x="191370" y="208767"/>
                </a:cubicBezTo>
                <a:close/>
                <a:moveTo>
                  <a:pt x="69589" y="278356"/>
                </a:moveTo>
                <a:lnTo>
                  <a:pt x="91336" y="278356"/>
                </a:lnTo>
                <a:cubicBezTo>
                  <a:pt x="117758" y="278356"/>
                  <a:pt x="139178" y="256936"/>
                  <a:pt x="139178" y="230514"/>
                </a:cubicBezTo>
                <a:cubicBezTo>
                  <a:pt x="139178" y="204092"/>
                  <a:pt x="117758" y="182671"/>
                  <a:pt x="91336" y="182671"/>
                </a:cubicBezTo>
                <a:lnTo>
                  <a:pt x="17397" y="182671"/>
                </a:lnTo>
                <a:cubicBezTo>
                  <a:pt x="7774" y="182671"/>
                  <a:pt x="0" y="190446"/>
                  <a:pt x="0" y="200068"/>
                </a:cubicBezTo>
                <a:cubicBezTo>
                  <a:pt x="0" y="209691"/>
                  <a:pt x="7774" y="217466"/>
                  <a:pt x="17397" y="217466"/>
                </a:cubicBezTo>
                <a:lnTo>
                  <a:pt x="91336" y="217466"/>
                </a:lnTo>
                <a:cubicBezTo>
                  <a:pt x="98566" y="217466"/>
                  <a:pt x="104384" y="223283"/>
                  <a:pt x="104384" y="230514"/>
                </a:cubicBezTo>
                <a:cubicBezTo>
                  <a:pt x="104384" y="237744"/>
                  <a:pt x="98566" y="243562"/>
                  <a:pt x="91336" y="243562"/>
                </a:cubicBezTo>
                <a:lnTo>
                  <a:pt x="69589" y="243562"/>
                </a:lnTo>
                <a:cubicBezTo>
                  <a:pt x="59966" y="243562"/>
                  <a:pt x="52192" y="251336"/>
                  <a:pt x="52192" y="260959"/>
                </a:cubicBezTo>
                <a:cubicBezTo>
                  <a:pt x="52192" y="270582"/>
                  <a:pt x="59966" y="278356"/>
                  <a:pt x="69589" y="278356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7" name="Text 55"/>
          <p:cNvSpPr/>
          <p:nvPr/>
        </p:nvSpPr>
        <p:spPr>
          <a:xfrm>
            <a:off x="4379934" y="6179507"/>
            <a:ext cx="1595909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Tailwind CSS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4389213" y="6439306"/>
            <a:ext cx="1577352" cy="148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7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Styling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172780" y="5711868"/>
            <a:ext cx="1751788" cy="990948"/>
          </a:xfrm>
          <a:prstGeom prst="roundRect">
            <a:avLst>
              <a:gd name="adj" fmla="val 7491"/>
            </a:avLst>
          </a:prstGeom>
          <a:solidFill>
            <a:srgbClr val="0F1629"/>
          </a:solidFill>
          <a:ln w="10160">
            <a:solidFill>
              <a:srgbClr val="22D3EE">
                <a:alpha val="30196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929329" y="5826922"/>
            <a:ext cx="243562" cy="278356"/>
          </a:xfrm>
          <a:custGeom>
            <a:avLst/>
            <a:gdLst/>
            <a:ahLst/>
            <a:cxnLst/>
            <a:rect l="l" t="t" r="r" b="b"/>
            <a:pathLst>
              <a:path w="243562" h="278356">
                <a:moveTo>
                  <a:pt x="184193" y="-5382"/>
                </a:moveTo>
                <a:cubicBezTo>
                  <a:pt x="190663" y="-707"/>
                  <a:pt x="193055" y="7774"/>
                  <a:pt x="190119" y="15168"/>
                </a:cubicBezTo>
                <a:lnTo>
                  <a:pt x="147496" y="121781"/>
                </a:lnTo>
                <a:lnTo>
                  <a:pt x="226164" y="121781"/>
                </a:lnTo>
                <a:cubicBezTo>
                  <a:pt x="233504" y="121781"/>
                  <a:pt x="240028" y="126348"/>
                  <a:pt x="242529" y="133252"/>
                </a:cubicBezTo>
                <a:cubicBezTo>
                  <a:pt x="245030" y="140157"/>
                  <a:pt x="242909" y="147877"/>
                  <a:pt x="237310" y="152552"/>
                </a:cubicBezTo>
                <a:lnTo>
                  <a:pt x="80734" y="283032"/>
                </a:lnTo>
                <a:cubicBezTo>
                  <a:pt x="74591" y="288142"/>
                  <a:pt x="65838" y="288414"/>
                  <a:pt x="59368" y="283738"/>
                </a:cubicBezTo>
                <a:cubicBezTo>
                  <a:pt x="52899" y="279063"/>
                  <a:pt x="50506" y="270582"/>
                  <a:pt x="53442" y="263188"/>
                </a:cubicBezTo>
                <a:lnTo>
                  <a:pt x="96065" y="156575"/>
                </a:lnTo>
                <a:lnTo>
                  <a:pt x="17397" y="156575"/>
                </a:lnTo>
                <a:cubicBezTo>
                  <a:pt x="10058" y="156575"/>
                  <a:pt x="3534" y="152009"/>
                  <a:pt x="1033" y="145104"/>
                </a:cubicBezTo>
                <a:cubicBezTo>
                  <a:pt x="-1468" y="138199"/>
                  <a:pt x="652" y="130479"/>
                  <a:pt x="6252" y="125804"/>
                </a:cubicBezTo>
                <a:lnTo>
                  <a:pt x="162827" y="-4676"/>
                </a:lnTo>
                <a:cubicBezTo>
                  <a:pt x="168971" y="-9786"/>
                  <a:pt x="177724" y="-10058"/>
                  <a:pt x="184193" y="-5382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61" name="Text 59"/>
          <p:cNvSpPr/>
          <p:nvPr/>
        </p:nvSpPr>
        <p:spPr>
          <a:xfrm>
            <a:off x="6250720" y="6179507"/>
            <a:ext cx="1595909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Vite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259998" y="6439306"/>
            <a:ext cx="1577352" cy="148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7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tool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043681" y="5711868"/>
            <a:ext cx="1751788" cy="990948"/>
          </a:xfrm>
          <a:prstGeom prst="roundRect">
            <a:avLst>
              <a:gd name="adj" fmla="val 7491"/>
            </a:avLst>
          </a:prstGeom>
          <a:solidFill>
            <a:srgbClr val="0F1629"/>
          </a:solidFill>
          <a:ln w="10160">
            <a:solidFill>
              <a:srgbClr val="22D3EE">
                <a:alpha val="30196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800230" y="5826922"/>
            <a:ext cx="243562" cy="278356"/>
          </a:xfrm>
          <a:custGeom>
            <a:avLst/>
            <a:gdLst/>
            <a:ahLst/>
            <a:cxnLst/>
            <a:rect l="l" t="t" r="r" b="b"/>
            <a:pathLst>
              <a:path w="243562" h="278356">
                <a:moveTo>
                  <a:pt x="0" y="52192"/>
                </a:moveTo>
                <a:cubicBezTo>
                  <a:pt x="0" y="33000"/>
                  <a:pt x="15603" y="17397"/>
                  <a:pt x="34795" y="17397"/>
                </a:cubicBezTo>
                <a:lnTo>
                  <a:pt x="208767" y="17397"/>
                </a:lnTo>
                <a:cubicBezTo>
                  <a:pt x="227958" y="17397"/>
                  <a:pt x="243562" y="33000"/>
                  <a:pt x="243562" y="52192"/>
                </a:cubicBezTo>
                <a:lnTo>
                  <a:pt x="243562" y="226164"/>
                </a:lnTo>
                <a:cubicBezTo>
                  <a:pt x="243562" y="245356"/>
                  <a:pt x="227958" y="260959"/>
                  <a:pt x="208767" y="260959"/>
                </a:cubicBezTo>
                <a:lnTo>
                  <a:pt x="34795" y="260959"/>
                </a:lnTo>
                <a:cubicBezTo>
                  <a:pt x="15603" y="260959"/>
                  <a:pt x="0" y="245356"/>
                  <a:pt x="0" y="226164"/>
                </a:cubicBezTo>
                <a:lnTo>
                  <a:pt x="0" y="52192"/>
                </a:lnTo>
                <a:close/>
                <a:moveTo>
                  <a:pt x="26096" y="200068"/>
                </a:moveTo>
                <a:lnTo>
                  <a:pt x="26096" y="217466"/>
                </a:lnTo>
                <a:cubicBezTo>
                  <a:pt x="26096" y="222250"/>
                  <a:pt x="30010" y="226164"/>
                  <a:pt x="34795" y="226164"/>
                </a:cubicBezTo>
                <a:lnTo>
                  <a:pt x="52192" y="226164"/>
                </a:lnTo>
                <a:cubicBezTo>
                  <a:pt x="56976" y="226164"/>
                  <a:pt x="60890" y="222250"/>
                  <a:pt x="60890" y="217466"/>
                </a:cubicBezTo>
                <a:lnTo>
                  <a:pt x="60890" y="200068"/>
                </a:lnTo>
                <a:cubicBezTo>
                  <a:pt x="60890" y="195284"/>
                  <a:pt x="56976" y="191370"/>
                  <a:pt x="52192" y="191370"/>
                </a:cubicBezTo>
                <a:lnTo>
                  <a:pt x="34795" y="191370"/>
                </a:lnTo>
                <a:cubicBezTo>
                  <a:pt x="30010" y="191370"/>
                  <a:pt x="26096" y="195284"/>
                  <a:pt x="26096" y="200068"/>
                </a:cubicBezTo>
                <a:close/>
                <a:moveTo>
                  <a:pt x="191370" y="191370"/>
                </a:moveTo>
                <a:cubicBezTo>
                  <a:pt x="186586" y="191370"/>
                  <a:pt x="182671" y="195284"/>
                  <a:pt x="182671" y="200068"/>
                </a:cubicBezTo>
                <a:lnTo>
                  <a:pt x="182671" y="217466"/>
                </a:lnTo>
                <a:cubicBezTo>
                  <a:pt x="182671" y="222250"/>
                  <a:pt x="186586" y="226164"/>
                  <a:pt x="191370" y="226164"/>
                </a:cubicBezTo>
                <a:lnTo>
                  <a:pt x="208767" y="226164"/>
                </a:lnTo>
                <a:cubicBezTo>
                  <a:pt x="213551" y="226164"/>
                  <a:pt x="217466" y="222250"/>
                  <a:pt x="217466" y="217466"/>
                </a:cubicBezTo>
                <a:lnTo>
                  <a:pt x="217466" y="200068"/>
                </a:lnTo>
                <a:cubicBezTo>
                  <a:pt x="217466" y="195284"/>
                  <a:pt x="213551" y="191370"/>
                  <a:pt x="208767" y="191370"/>
                </a:cubicBezTo>
                <a:lnTo>
                  <a:pt x="191370" y="191370"/>
                </a:lnTo>
                <a:close/>
                <a:moveTo>
                  <a:pt x="26096" y="130479"/>
                </a:moveTo>
                <a:lnTo>
                  <a:pt x="26096" y="147877"/>
                </a:lnTo>
                <a:cubicBezTo>
                  <a:pt x="26096" y="152661"/>
                  <a:pt x="30010" y="156575"/>
                  <a:pt x="34795" y="156575"/>
                </a:cubicBezTo>
                <a:lnTo>
                  <a:pt x="52192" y="156575"/>
                </a:lnTo>
                <a:cubicBezTo>
                  <a:pt x="56976" y="156575"/>
                  <a:pt x="60890" y="152661"/>
                  <a:pt x="60890" y="147877"/>
                </a:cubicBezTo>
                <a:lnTo>
                  <a:pt x="60890" y="130479"/>
                </a:lnTo>
                <a:cubicBezTo>
                  <a:pt x="60890" y="125695"/>
                  <a:pt x="56976" y="121781"/>
                  <a:pt x="52192" y="121781"/>
                </a:cubicBezTo>
                <a:lnTo>
                  <a:pt x="34795" y="121781"/>
                </a:lnTo>
                <a:cubicBezTo>
                  <a:pt x="30010" y="121781"/>
                  <a:pt x="26096" y="125695"/>
                  <a:pt x="26096" y="130479"/>
                </a:cubicBezTo>
                <a:close/>
                <a:moveTo>
                  <a:pt x="191370" y="121781"/>
                </a:moveTo>
                <a:cubicBezTo>
                  <a:pt x="186586" y="121781"/>
                  <a:pt x="182671" y="125695"/>
                  <a:pt x="182671" y="130479"/>
                </a:cubicBezTo>
                <a:lnTo>
                  <a:pt x="182671" y="147877"/>
                </a:lnTo>
                <a:cubicBezTo>
                  <a:pt x="182671" y="152661"/>
                  <a:pt x="186586" y="156575"/>
                  <a:pt x="191370" y="156575"/>
                </a:cubicBezTo>
                <a:lnTo>
                  <a:pt x="208767" y="156575"/>
                </a:lnTo>
                <a:cubicBezTo>
                  <a:pt x="213551" y="156575"/>
                  <a:pt x="217466" y="152661"/>
                  <a:pt x="217466" y="147877"/>
                </a:cubicBezTo>
                <a:lnTo>
                  <a:pt x="217466" y="130479"/>
                </a:lnTo>
                <a:cubicBezTo>
                  <a:pt x="217466" y="125695"/>
                  <a:pt x="213551" y="121781"/>
                  <a:pt x="208767" y="121781"/>
                </a:cubicBezTo>
                <a:lnTo>
                  <a:pt x="191370" y="121781"/>
                </a:lnTo>
                <a:close/>
                <a:moveTo>
                  <a:pt x="26096" y="60890"/>
                </a:moveTo>
                <a:lnTo>
                  <a:pt x="26096" y="78288"/>
                </a:lnTo>
                <a:cubicBezTo>
                  <a:pt x="26096" y="83072"/>
                  <a:pt x="30010" y="86986"/>
                  <a:pt x="34795" y="86986"/>
                </a:cubicBezTo>
                <a:lnTo>
                  <a:pt x="52192" y="86986"/>
                </a:lnTo>
                <a:cubicBezTo>
                  <a:pt x="56976" y="86986"/>
                  <a:pt x="60890" y="83072"/>
                  <a:pt x="60890" y="78288"/>
                </a:cubicBezTo>
                <a:lnTo>
                  <a:pt x="60890" y="60890"/>
                </a:lnTo>
                <a:cubicBezTo>
                  <a:pt x="60890" y="56106"/>
                  <a:pt x="56976" y="52192"/>
                  <a:pt x="52192" y="52192"/>
                </a:cubicBezTo>
                <a:lnTo>
                  <a:pt x="34795" y="52192"/>
                </a:lnTo>
                <a:cubicBezTo>
                  <a:pt x="30010" y="52192"/>
                  <a:pt x="26096" y="56106"/>
                  <a:pt x="26096" y="60890"/>
                </a:cubicBezTo>
                <a:close/>
                <a:moveTo>
                  <a:pt x="191370" y="52192"/>
                </a:moveTo>
                <a:cubicBezTo>
                  <a:pt x="186586" y="52192"/>
                  <a:pt x="182671" y="56106"/>
                  <a:pt x="182671" y="60890"/>
                </a:cubicBezTo>
                <a:lnTo>
                  <a:pt x="182671" y="78288"/>
                </a:lnTo>
                <a:cubicBezTo>
                  <a:pt x="182671" y="83072"/>
                  <a:pt x="186586" y="86986"/>
                  <a:pt x="191370" y="86986"/>
                </a:cubicBezTo>
                <a:lnTo>
                  <a:pt x="208767" y="86986"/>
                </a:lnTo>
                <a:cubicBezTo>
                  <a:pt x="213551" y="86986"/>
                  <a:pt x="217466" y="83072"/>
                  <a:pt x="217466" y="78288"/>
                </a:cubicBezTo>
                <a:lnTo>
                  <a:pt x="217466" y="60890"/>
                </a:lnTo>
                <a:cubicBezTo>
                  <a:pt x="217466" y="56106"/>
                  <a:pt x="213551" y="52192"/>
                  <a:pt x="208767" y="52192"/>
                </a:cubicBezTo>
                <a:lnTo>
                  <a:pt x="191370" y="52192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65" name="Text 63"/>
          <p:cNvSpPr/>
          <p:nvPr/>
        </p:nvSpPr>
        <p:spPr>
          <a:xfrm>
            <a:off x="8121621" y="6179507"/>
            <a:ext cx="1595909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Framer Motion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130900" y="6439306"/>
            <a:ext cx="1577352" cy="148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7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Animations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9914467" y="5711868"/>
            <a:ext cx="1751788" cy="990948"/>
          </a:xfrm>
          <a:prstGeom prst="roundRect">
            <a:avLst>
              <a:gd name="adj" fmla="val 7491"/>
            </a:avLst>
          </a:prstGeom>
          <a:solidFill>
            <a:srgbClr val="0F1629"/>
          </a:solidFill>
          <a:ln w="10160">
            <a:solidFill>
              <a:srgbClr val="22D3EE">
                <a:alpha val="30196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653619" y="5826922"/>
            <a:ext cx="278356" cy="278356"/>
          </a:xfrm>
          <a:custGeom>
            <a:avLst/>
            <a:gdLst/>
            <a:ahLst/>
            <a:cxnLst/>
            <a:rect l="l" t="t" r="r" b="b"/>
            <a:pathLst>
              <a:path w="278356" h="278356">
                <a:moveTo>
                  <a:pt x="126402" y="2827"/>
                </a:moveTo>
                <a:cubicBezTo>
                  <a:pt x="134503" y="-924"/>
                  <a:pt x="143854" y="-924"/>
                  <a:pt x="151954" y="2827"/>
                </a:cubicBezTo>
                <a:lnTo>
                  <a:pt x="270799" y="57737"/>
                </a:lnTo>
                <a:cubicBezTo>
                  <a:pt x="275420" y="59857"/>
                  <a:pt x="278356" y="64479"/>
                  <a:pt x="278356" y="69589"/>
                </a:cubicBezTo>
                <a:cubicBezTo>
                  <a:pt x="278356" y="74699"/>
                  <a:pt x="275420" y="79321"/>
                  <a:pt x="270799" y="81441"/>
                </a:cubicBezTo>
                <a:lnTo>
                  <a:pt x="151954" y="136351"/>
                </a:lnTo>
                <a:cubicBezTo>
                  <a:pt x="143854" y="140102"/>
                  <a:pt x="134503" y="140102"/>
                  <a:pt x="126402" y="136351"/>
                </a:cubicBezTo>
                <a:lnTo>
                  <a:pt x="7557" y="81441"/>
                </a:lnTo>
                <a:cubicBezTo>
                  <a:pt x="2936" y="79266"/>
                  <a:pt x="0" y="74645"/>
                  <a:pt x="0" y="69589"/>
                </a:cubicBezTo>
                <a:cubicBezTo>
                  <a:pt x="0" y="64533"/>
                  <a:pt x="2936" y="59857"/>
                  <a:pt x="7557" y="57737"/>
                </a:cubicBezTo>
                <a:lnTo>
                  <a:pt x="126402" y="2827"/>
                </a:lnTo>
                <a:close/>
                <a:moveTo>
                  <a:pt x="26150" y="118736"/>
                </a:moveTo>
                <a:lnTo>
                  <a:pt x="115474" y="160000"/>
                </a:lnTo>
                <a:cubicBezTo>
                  <a:pt x="130534" y="166959"/>
                  <a:pt x="147877" y="166959"/>
                  <a:pt x="162936" y="160000"/>
                </a:cubicBezTo>
                <a:lnTo>
                  <a:pt x="252260" y="118736"/>
                </a:lnTo>
                <a:lnTo>
                  <a:pt x="270799" y="127326"/>
                </a:lnTo>
                <a:cubicBezTo>
                  <a:pt x="275420" y="129446"/>
                  <a:pt x="278356" y="134068"/>
                  <a:pt x="278356" y="139178"/>
                </a:cubicBezTo>
                <a:cubicBezTo>
                  <a:pt x="278356" y="144289"/>
                  <a:pt x="275420" y="148910"/>
                  <a:pt x="270799" y="151030"/>
                </a:cubicBezTo>
                <a:lnTo>
                  <a:pt x="151954" y="205940"/>
                </a:lnTo>
                <a:cubicBezTo>
                  <a:pt x="143854" y="209691"/>
                  <a:pt x="134503" y="209691"/>
                  <a:pt x="126402" y="205940"/>
                </a:cubicBezTo>
                <a:lnTo>
                  <a:pt x="7557" y="151030"/>
                </a:lnTo>
                <a:cubicBezTo>
                  <a:pt x="2936" y="148855"/>
                  <a:pt x="0" y="144234"/>
                  <a:pt x="0" y="139178"/>
                </a:cubicBezTo>
                <a:cubicBezTo>
                  <a:pt x="0" y="134122"/>
                  <a:pt x="2936" y="129446"/>
                  <a:pt x="7557" y="127326"/>
                </a:cubicBezTo>
                <a:lnTo>
                  <a:pt x="26096" y="118736"/>
                </a:lnTo>
                <a:close/>
                <a:moveTo>
                  <a:pt x="7557" y="196915"/>
                </a:moveTo>
                <a:lnTo>
                  <a:pt x="26096" y="188325"/>
                </a:lnTo>
                <a:lnTo>
                  <a:pt x="115420" y="229589"/>
                </a:lnTo>
                <a:cubicBezTo>
                  <a:pt x="130479" y="236548"/>
                  <a:pt x="147822" y="236548"/>
                  <a:pt x="162882" y="229589"/>
                </a:cubicBezTo>
                <a:lnTo>
                  <a:pt x="252206" y="188325"/>
                </a:lnTo>
                <a:lnTo>
                  <a:pt x="270745" y="196915"/>
                </a:lnTo>
                <a:cubicBezTo>
                  <a:pt x="275366" y="199036"/>
                  <a:pt x="278302" y="203657"/>
                  <a:pt x="278302" y="208767"/>
                </a:cubicBezTo>
                <a:cubicBezTo>
                  <a:pt x="278302" y="213878"/>
                  <a:pt x="275366" y="218499"/>
                  <a:pt x="270745" y="220619"/>
                </a:cubicBezTo>
                <a:lnTo>
                  <a:pt x="151900" y="275529"/>
                </a:lnTo>
                <a:cubicBezTo>
                  <a:pt x="143799" y="279280"/>
                  <a:pt x="134448" y="279280"/>
                  <a:pt x="126348" y="275529"/>
                </a:cubicBezTo>
                <a:lnTo>
                  <a:pt x="7557" y="220619"/>
                </a:lnTo>
                <a:cubicBezTo>
                  <a:pt x="2936" y="218444"/>
                  <a:pt x="0" y="213823"/>
                  <a:pt x="0" y="208767"/>
                </a:cubicBezTo>
                <a:cubicBezTo>
                  <a:pt x="0" y="203711"/>
                  <a:pt x="2936" y="199036"/>
                  <a:pt x="7557" y="196915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69" name="Text 67"/>
          <p:cNvSpPr/>
          <p:nvPr/>
        </p:nvSpPr>
        <p:spPr>
          <a:xfrm>
            <a:off x="9992406" y="6179507"/>
            <a:ext cx="1595909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Radix UI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10001685" y="6439306"/>
            <a:ext cx="1577352" cy="148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7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Components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All Connects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9144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architecture with data flow visualization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74276" y="1882140"/>
            <a:ext cx="779145" cy="274320"/>
          </a:xfrm>
          <a:prstGeom prst="roundRect">
            <a:avLst>
              <a:gd name="adj" fmla="val 50000"/>
            </a:avLst>
          </a:prstGeom>
          <a:solidFill>
            <a:srgbClr val="22D3EE">
              <a:alpha val="14902"/>
            </a:srgbClr>
          </a:solidFill>
          <a:ln w="10160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2386" y="19812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1111448" y="1924050"/>
            <a:ext cx="457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Layer 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8620" y="2282190"/>
            <a:ext cx="1748790" cy="3339465"/>
          </a:xfrm>
          <a:prstGeom prst="roundRect">
            <a:avLst>
              <a:gd name="adj" fmla="val 6536"/>
            </a:avLst>
          </a:prstGeom>
          <a:gradFill flip="none" rotWithShape="1">
            <a:gsLst>
              <a:gs pos="0">
                <a:srgbClr val="22D3EE">
                  <a:alpha val="15000"/>
                </a:srgbClr>
              </a:gs>
              <a:gs pos="100000">
                <a:srgbClr val="22D3EE">
                  <a:alpha val="5000"/>
                </a:srgbClr>
              </a:gs>
            </a:gsLst>
            <a:lin ang="5400000" scaled="1"/>
          </a:gradFill>
          <a:ln w="20320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1015" y="2697480"/>
            <a:ext cx="152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Interface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2450" y="3120390"/>
            <a:ext cx="1426845" cy="1074420"/>
          </a:xfrm>
          <a:prstGeom prst="roundRect">
            <a:avLst>
              <a:gd name="adj" fmla="val 7092"/>
            </a:avLst>
          </a:prstGeom>
          <a:solidFill>
            <a:srgbClr val="0B0F19">
              <a:alpha val="80000"/>
            </a:srgbClr>
          </a:solidFill>
          <a:ln w="10160">
            <a:solidFill>
              <a:srgbClr val="22D3EE">
                <a:alpha val="30196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6273" y="3543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6720" y="79117"/>
                </a:moveTo>
                <a:cubicBezTo>
                  <a:pt x="184309" y="78313"/>
                  <a:pt x="181898" y="77554"/>
                  <a:pt x="179487" y="76840"/>
                </a:cubicBezTo>
                <a:cubicBezTo>
                  <a:pt x="179889" y="75188"/>
                  <a:pt x="180246" y="73536"/>
                  <a:pt x="180603" y="71884"/>
                </a:cubicBezTo>
                <a:cubicBezTo>
                  <a:pt x="186095" y="45274"/>
                  <a:pt x="182478" y="23887"/>
                  <a:pt x="170289" y="16832"/>
                </a:cubicBezTo>
                <a:cubicBezTo>
                  <a:pt x="158547" y="10091"/>
                  <a:pt x="139392" y="17100"/>
                  <a:pt x="120015" y="33977"/>
                </a:cubicBezTo>
                <a:cubicBezTo>
                  <a:pt x="118095" y="35629"/>
                  <a:pt x="116220" y="37371"/>
                  <a:pt x="114434" y="39112"/>
                </a:cubicBezTo>
                <a:cubicBezTo>
                  <a:pt x="113228" y="37951"/>
                  <a:pt x="111978" y="36790"/>
                  <a:pt x="110728" y="35674"/>
                </a:cubicBezTo>
                <a:cubicBezTo>
                  <a:pt x="90413" y="17636"/>
                  <a:pt x="70053" y="10046"/>
                  <a:pt x="57864" y="17145"/>
                </a:cubicBezTo>
                <a:cubicBezTo>
                  <a:pt x="46166" y="23932"/>
                  <a:pt x="42684" y="44068"/>
                  <a:pt x="47595" y="69250"/>
                </a:cubicBezTo>
                <a:cubicBezTo>
                  <a:pt x="48086" y="71750"/>
                  <a:pt x="48622" y="74206"/>
                  <a:pt x="49247" y="76706"/>
                </a:cubicBezTo>
                <a:cubicBezTo>
                  <a:pt x="46390" y="77510"/>
                  <a:pt x="43577" y="78403"/>
                  <a:pt x="40943" y="79340"/>
                </a:cubicBezTo>
                <a:cubicBezTo>
                  <a:pt x="17100" y="87600"/>
                  <a:pt x="0" y="100638"/>
                  <a:pt x="0" y="114121"/>
                </a:cubicBezTo>
                <a:cubicBezTo>
                  <a:pt x="0" y="128052"/>
                  <a:pt x="18217" y="142027"/>
                  <a:pt x="42996" y="150510"/>
                </a:cubicBezTo>
                <a:cubicBezTo>
                  <a:pt x="45006" y="151180"/>
                  <a:pt x="47015" y="151849"/>
                  <a:pt x="49069" y="152430"/>
                </a:cubicBezTo>
                <a:cubicBezTo>
                  <a:pt x="48399" y="155109"/>
                  <a:pt x="47818" y="157743"/>
                  <a:pt x="47283" y="160466"/>
                </a:cubicBezTo>
                <a:cubicBezTo>
                  <a:pt x="42595" y="185246"/>
                  <a:pt x="46256" y="204892"/>
                  <a:pt x="57954" y="211634"/>
                </a:cubicBezTo>
                <a:cubicBezTo>
                  <a:pt x="70009" y="218599"/>
                  <a:pt x="90279" y="211455"/>
                  <a:pt x="110014" y="194176"/>
                </a:cubicBezTo>
                <a:cubicBezTo>
                  <a:pt x="111576" y="192792"/>
                  <a:pt x="113139" y="191363"/>
                  <a:pt x="114702" y="189845"/>
                </a:cubicBezTo>
                <a:cubicBezTo>
                  <a:pt x="116666" y="191765"/>
                  <a:pt x="118720" y="193596"/>
                  <a:pt x="120774" y="195382"/>
                </a:cubicBezTo>
                <a:cubicBezTo>
                  <a:pt x="139884" y="211812"/>
                  <a:pt x="158770" y="218465"/>
                  <a:pt x="170423" y="211723"/>
                </a:cubicBezTo>
                <a:cubicBezTo>
                  <a:pt x="182478" y="204758"/>
                  <a:pt x="186407" y="183639"/>
                  <a:pt x="181317" y="157922"/>
                </a:cubicBezTo>
                <a:cubicBezTo>
                  <a:pt x="180915" y="155957"/>
                  <a:pt x="180469" y="153948"/>
                  <a:pt x="179978" y="151894"/>
                </a:cubicBezTo>
                <a:cubicBezTo>
                  <a:pt x="181407" y="151492"/>
                  <a:pt x="182791" y="151046"/>
                  <a:pt x="184175" y="150599"/>
                </a:cubicBezTo>
                <a:cubicBezTo>
                  <a:pt x="209937" y="142071"/>
                  <a:pt x="228600" y="128275"/>
                  <a:pt x="228600" y="114121"/>
                </a:cubicBezTo>
                <a:cubicBezTo>
                  <a:pt x="228600" y="100593"/>
                  <a:pt x="211009" y="87466"/>
                  <a:pt x="186720" y="79117"/>
                </a:cubicBezTo>
                <a:close/>
                <a:moveTo>
                  <a:pt x="126310" y="41211"/>
                </a:moveTo>
                <a:cubicBezTo>
                  <a:pt x="142920" y="26744"/>
                  <a:pt x="158413" y="21074"/>
                  <a:pt x="165467" y="25137"/>
                </a:cubicBezTo>
                <a:cubicBezTo>
                  <a:pt x="173013" y="29468"/>
                  <a:pt x="175915" y="46970"/>
                  <a:pt x="171182" y="69964"/>
                </a:cubicBezTo>
                <a:cubicBezTo>
                  <a:pt x="170870" y="71482"/>
                  <a:pt x="170557" y="72956"/>
                  <a:pt x="170155" y="74429"/>
                </a:cubicBezTo>
                <a:cubicBezTo>
                  <a:pt x="160243" y="72197"/>
                  <a:pt x="150197" y="70589"/>
                  <a:pt x="140107" y="69696"/>
                </a:cubicBezTo>
                <a:cubicBezTo>
                  <a:pt x="134302" y="61392"/>
                  <a:pt x="127962" y="53444"/>
                  <a:pt x="121087" y="45988"/>
                </a:cubicBezTo>
                <a:cubicBezTo>
                  <a:pt x="122828" y="44336"/>
                  <a:pt x="124524" y="42773"/>
                  <a:pt x="126310" y="41211"/>
                </a:cubicBezTo>
                <a:close/>
                <a:moveTo>
                  <a:pt x="74652" y="137294"/>
                </a:moveTo>
                <a:cubicBezTo>
                  <a:pt x="76929" y="141178"/>
                  <a:pt x="79251" y="145063"/>
                  <a:pt x="81707" y="148858"/>
                </a:cubicBezTo>
                <a:cubicBezTo>
                  <a:pt x="74741" y="148099"/>
                  <a:pt x="67821" y="146983"/>
                  <a:pt x="60990" y="145509"/>
                </a:cubicBezTo>
                <a:cubicBezTo>
                  <a:pt x="62954" y="139080"/>
                  <a:pt x="65410" y="132427"/>
                  <a:pt x="68267" y="125641"/>
                </a:cubicBezTo>
                <a:cubicBezTo>
                  <a:pt x="70321" y="129570"/>
                  <a:pt x="72420" y="133454"/>
                  <a:pt x="74652" y="137294"/>
                </a:cubicBezTo>
                <a:close/>
                <a:moveTo>
                  <a:pt x="61124" y="83582"/>
                </a:moveTo>
                <a:cubicBezTo>
                  <a:pt x="67553" y="82153"/>
                  <a:pt x="74384" y="80992"/>
                  <a:pt x="81483" y="80099"/>
                </a:cubicBezTo>
                <a:cubicBezTo>
                  <a:pt x="79117" y="83805"/>
                  <a:pt x="76795" y="87600"/>
                  <a:pt x="74608" y="91440"/>
                </a:cubicBezTo>
                <a:cubicBezTo>
                  <a:pt x="72420" y="95235"/>
                  <a:pt x="70277" y="99120"/>
                  <a:pt x="68267" y="103049"/>
                </a:cubicBezTo>
                <a:cubicBezTo>
                  <a:pt x="65455" y="96396"/>
                  <a:pt x="63088" y="89877"/>
                  <a:pt x="61124" y="83582"/>
                </a:cubicBezTo>
                <a:close/>
                <a:moveTo>
                  <a:pt x="73357" y="114345"/>
                </a:moveTo>
                <a:cubicBezTo>
                  <a:pt x="76304" y="108183"/>
                  <a:pt x="79519" y="102156"/>
                  <a:pt x="82912" y="96217"/>
                </a:cubicBezTo>
                <a:cubicBezTo>
                  <a:pt x="86305" y="90279"/>
                  <a:pt x="89967" y="84519"/>
                  <a:pt x="93806" y="78849"/>
                </a:cubicBezTo>
                <a:cubicBezTo>
                  <a:pt x="100504" y="78358"/>
                  <a:pt x="107335" y="78090"/>
                  <a:pt x="114300" y="78090"/>
                </a:cubicBezTo>
                <a:cubicBezTo>
                  <a:pt x="121265" y="78090"/>
                  <a:pt x="128141" y="78358"/>
                  <a:pt x="134794" y="78849"/>
                </a:cubicBezTo>
                <a:cubicBezTo>
                  <a:pt x="138589" y="84475"/>
                  <a:pt x="142205" y="90234"/>
                  <a:pt x="145643" y="96128"/>
                </a:cubicBezTo>
                <a:cubicBezTo>
                  <a:pt x="149081" y="102022"/>
                  <a:pt x="152296" y="108049"/>
                  <a:pt x="155332" y="114166"/>
                </a:cubicBezTo>
                <a:cubicBezTo>
                  <a:pt x="152340" y="120328"/>
                  <a:pt x="149126" y="126400"/>
                  <a:pt x="145688" y="132383"/>
                </a:cubicBezTo>
                <a:cubicBezTo>
                  <a:pt x="142295" y="138321"/>
                  <a:pt x="138678" y="144081"/>
                  <a:pt x="134883" y="149796"/>
                </a:cubicBezTo>
                <a:cubicBezTo>
                  <a:pt x="128230" y="150287"/>
                  <a:pt x="121310" y="150510"/>
                  <a:pt x="114300" y="150510"/>
                </a:cubicBezTo>
                <a:cubicBezTo>
                  <a:pt x="107290" y="150510"/>
                  <a:pt x="100504" y="150287"/>
                  <a:pt x="93940" y="149885"/>
                </a:cubicBezTo>
                <a:cubicBezTo>
                  <a:pt x="90056" y="144214"/>
                  <a:pt x="86395" y="138410"/>
                  <a:pt x="82957" y="132472"/>
                </a:cubicBezTo>
                <a:cubicBezTo>
                  <a:pt x="79519" y="126534"/>
                  <a:pt x="76349" y="120506"/>
                  <a:pt x="73357" y="114345"/>
                </a:cubicBezTo>
                <a:close/>
                <a:moveTo>
                  <a:pt x="153992" y="137205"/>
                </a:moveTo>
                <a:cubicBezTo>
                  <a:pt x="156270" y="133276"/>
                  <a:pt x="158413" y="129302"/>
                  <a:pt x="160511" y="125284"/>
                </a:cubicBezTo>
                <a:cubicBezTo>
                  <a:pt x="163369" y="131758"/>
                  <a:pt x="165869" y="138321"/>
                  <a:pt x="168057" y="145063"/>
                </a:cubicBezTo>
                <a:cubicBezTo>
                  <a:pt x="161136" y="146625"/>
                  <a:pt x="154126" y="147831"/>
                  <a:pt x="147072" y="148635"/>
                </a:cubicBezTo>
                <a:cubicBezTo>
                  <a:pt x="149483" y="144884"/>
                  <a:pt x="151760" y="141044"/>
                  <a:pt x="153992" y="137205"/>
                </a:cubicBezTo>
                <a:close/>
                <a:moveTo>
                  <a:pt x="160422" y="103049"/>
                </a:moveTo>
                <a:cubicBezTo>
                  <a:pt x="158323" y="99120"/>
                  <a:pt x="156180" y="95190"/>
                  <a:pt x="153948" y="91351"/>
                </a:cubicBezTo>
                <a:cubicBezTo>
                  <a:pt x="151760" y="87556"/>
                  <a:pt x="149483" y="83805"/>
                  <a:pt x="147117" y="80099"/>
                </a:cubicBezTo>
                <a:cubicBezTo>
                  <a:pt x="154305" y="80992"/>
                  <a:pt x="161181" y="82198"/>
                  <a:pt x="167610" y="83671"/>
                </a:cubicBezTo>
                <a:cubicBezTo>
                  <a:pt x="165556" y="90279"/>
                  <a:pt x="163145" y="96709"/>
                  <a:pt x="160422" y="103049"/>
                </a:cubicBezTo>
                <a:close/>
                <a:moveTo>
                  <a:pt x="114389" y="52819"/>
                </a:moveTo>
                <a:cubicBezTo>
                  <a:pt x="119077" y="57909"/>
                  <a:pt x="123498" y="63267"/>
                  <a:pt x="127605" y="68803"/>
                </a:cubicBezTo>
                <a:cubicBezTo>
                  <a:pt x="118765" y="68401"/>
                  <a:pt x="109880" y="68401"/>
                  <a:pt x="101039" y="68803"/>
                </a:cubicBezTo>
                <a:cubicBezTo>
                  <a:pt x="105415" y="63044"/>
                  <a:pt x="109924" y="57686"/>
                  <a:pt x="114389" y="52819"/>
                </a:cubicBezTo>
                <a:close/>
                <a:moveTo>
                  <a:pt x="62597" y="25450"/>
                </a:moveTo>
                <a:cubicBezTo>
                  <a:pt x="70098" y="21074"/>
                  <a:pt x="86752" y="27325"/>
                  <a:pt x="104299" y="42863"/>
                </a:cubicBezTo>
                <a:cubicBezTo>
                  <a:pt x="105415" y="43845"/>
                  <a:pt x="106531" y="44916"/>
                  <a:pt x="107692" y="45988"/>
                </a:cubicBezTo>
                <a:cubicBezTo>
                  <a:pt x="100772" y="53444"/>
                  <a:pt x="94387" y="61392"/>
                  <a:pt x="88538" y="69696"/>
                </a:cubicBezTo>
                <a:cubicBezTo>
                  <a:pt x="78447" y="70589"/>
                  <a:pt x="68446" y="72152"/>
                  <a:pt x="58534" y="74340"/>
                </a:cubicBezTo>
                <a:cubicBezTo>
                  <a:pt x="57954" y="72063"/>
                  <a:pt x="57463" y="69741"/>
                  <a:pt x="56971" y="67419"/>
                </a:cubicBezTo>
                <a:cubicBezTo>
                  <a:pt x="52774" y="45809"/>
                  <a:pt x="55543" y="29513"/>
                  <a:pt x="62597" y="25450"/>
                </a:cubicBezTo>
                <a:close/>
                <a:moveTo>
                  <a:pt x="51658" y="143143"/>
                </a:moveTo>
                <a:cubicBezTo>
                  <a:pt x="49783" y="142607"/>
                  <a:pt x="47952" y="142027"/>
                  <a:pt x="46122" y="141402"/>
                </a:cubicBezTo>
                <a:cubicBezTo>
                  <a:pt x="36612" y="138410"/>
                  <a:pt x="25807" y="133677"/>
                  <a:pt x="17993" y="127471"/>
                </a:cubicBezTo>
                <a:cubicBezTo>
                  <a:pt x="13484" y="124346"/>
                  <a:pt x="10448" y="119524"/>
                  <a:pt x="9599" y="114121"/>
                </a:cubicBezTo>
                <a:cubicBezTo>
                  <a:pt x="9599" y="105951"/>
                  <a:pt x="23708" y="95503"/>
                  <a:pt x="44068" y="88404"/>
                </a:cubicBezTo>
                <a:cubicBezTo>
                  <a:pt x="46613" y="87511"/>
                  <a:pt x="49203" y="86707"/>
                  <a:pt x="51792" y="85948"/>
                </a:cubicBezTo>
                <a:cubicBezTo>
                  <a:pt x="54828" y="95637"/>
                  <a:pt x="58489" y="105147"/>
                  <a:pt x="62731" y="114345"/>
                </a:cubicBezTo>
                <a:cubicBezTo>
                  <a:pt x="58445" y="123676"/>
                  <a:pt x="54739" y="133320"/>
                  <a:pt x="51658" y="143143"/>
                </a:cubicBezTo>
                <a:close/>
                <a:moveTo>
                  <a:pt x="103718" y="186898"/>
                </a:moveTo>
                <a:cubicBezTo>
                  <a:pt x="96351" y="193640"/>
                  <a:pt x="87823" y="198998"/>
                  <a:pt x="78537" y="202659"/>
                </a:cubicBezTo>
                <a:cubicBezTo>
                  <a:pt x="73581" y="205026"/>
                  <a:pt x="67866" y="205249"/>
                  <a:pt x="62776" y="203240"/>
                </a:cubicBezTo>
                <a:cubicBezTo>
                  <a:pt x="55677" y="199132"/>
                  <a:pt x="52730" y="183371"/>
                  <a:pt x="56748" y="162163"/>
                </a:cubicBezTo>
                <a:cubicBezTo>
                  <a:pt x="57239" y="159663"/>
                  <a:pt x="57775" y="157163"/>
                  <a:pt x="58400" y="154707"/>
                </a:cubicBezTo>
                <a:cubicBezTo>
                  <a:pt x="68401" y="156850"/>
                  <a:pt x="78492" y="158323"/>
                  <a:pt x="88716" y="159082"/>
                </a:cubicBezTo>
                <a:cubicBezTo>
                  <a:pt x="94610" y="167432"/>
                  <a:pt x="101084" y="175424"/>
                  <a:pt x="108005" y="182925"/>
                </a:cubicBezTo>
                <a:cubicBezTo>
                  <a:pt x="106576" y="184309"/>
                  <a:pt x="105147" y="185648"/>
                  <a:pt x="103718" y="186898"/>
                </a:cubicBezTo>
                <a:close/>
                <a:moveTo>
                  <a:pt x="114657" y="176049"/>
                </a:moveTo>
                <a:cubicBezTo>
                  <a:pt x="110103" y="171137"/>
                  <a:pt x="105549" y="165690"/>
                  <a:pt x="101129" y="159841"/>
                </a:cubicBezTo>
                <a:cubicBezTo>
                  <a:pt x="105415" y="160020"/>
                  <a:pt x="109835" y="160109"/>
                  <a:pt x="114300" y="160109"/>
                </a:cubicBezTo>
                <a:cubicBezTo>
                  <a:pt x="118899" y="160109"/>
                  <a:pt x="123408" y="160020"/>
                  <a:pt x="127873" y="159797"/>
                </a:cubicBezTo>
                <a:cubicBezTo>
                  <a:pt x="123765" y="165467"/>
                  <a:pt x="119345" y="170870"/>
                  <a:pt x="114657" y="176049"/>
                </a:cubicBezTo>
                <a:close/>
                <a:moveTo>
                  <a:pt x="173013" y="189443"/>
                </a:moveTo>
                <a:cubicBezTo>
                  <a:pt x="172611" y="194890"/>
                  <a:pt x="169932" y="199980"/>
                  <a:pt x="165646" y="203418"/>
                </a:cubicBezTo>
                <a:cubicBezTo>
                  <a:pt x="158547" y="207526"/>
                  <a:pt x="143411" y="202168"/>
                  <a:pt x="127069" y="188149"/>
                </a:cubicBezTo>
                <a:cubicBezTo>
                  <a:pt x="125194" y="186541"/>
                  <a:pt x="123319" y="184800"/>
                  <a:pt x="121399" y="183014"/>
                </a:cubicBezTo>
                <a:cubicBezTo>
                  <a:pt x="128230" y="175468"/>
                  <a:pt x="134526" y="167476"/>
                  <a:pt x="140241" y="159082"/>
                </a:cubicBezTo>
                <a:cubicBezTo>
                  <a:pt x="150465" y="158234"/>
                  <a:pt x="160645" y="156671"/>
                  <a:pt x="170691" y="154394"/>
                </a:cubicBezTo>
                <a:cubicBezTo>
                  <a:pt x="171137" y="156225"/>
                  <a:pt x="171539" y="158055"/>
                  <a:pt x="171896" y="159841"/>
                </a:cubicBezTo>
                <a:cubicBezTo>
                  <a:pt x="174084" y="169485"/>
                  <a:pt x="174441" y="179531"/>
                  <a:pt x="173013" y="189443"/>
                </a:cubicBezTo>
                <a:close/>
                <a:moveTo>
                  <a:pt x="181139" y="141446"/>
                </a:moveTo>
                <a:cubicBezTo>
                  <a:pt x="179889" y="141848"/>
                  <a:pt x="178638" y="142250"/>
                  <a:pt x="177344" y="142607"/>
                </a:cubicBezTo>
                <a:cubicBezTo>
                  <a:pt x="174218" y="132874"/>
                  <a:pt x="170378" y="123364"/>
                  <a:pt x="165958" y="114121"/>
                </a:cubicBezTo>
                <a:cubicBezTo>
                  <a:pt x="170244" y="105013"/>
                  <a:pt x="173861" y="95637"/>
                  <a:pt x="176897" y="86038"/>
                </a:cubicBezTo>
                <a:cubicBezTo>
                  <a:pt x="179219" y="86707"/>
                  <a:pt x="181451" y="87422"/>
                  <a:pt x="183594" y="88136"/>
                </a:cubicBezTo>
                <a:cubicBezTo>
                  <a:pt x="204401" y="95280"/>
                  <a:pt x="219001" y="105906"/>
                  <a:pt x="219001" y="114032"/>
                </a:cubicBezTo>
                <a:cubicBezTo>
                  <a:pt x="219001" y="122783"/>
                  <a:pt x="203418" y="134079"/>
                  <a:pt x="181139" y="141446"/>
                </a:cubicBezTo>
                <a:close/>
                <a:moveTo>
                  <a:pt x="114300" y="134749"/>
                </a:moveTo>
                <a:cubicBezTo>
                  <a:pt x="125586" y="134749"/>
                  <a:pt x="134749" y="125586"/>
                  <a:pt x="134749" y="114300"/>
                </a:cubicBezTo>
                <a:cubicBezTo>
                  <a:pt x="134749" y="103014"/>
                  <a:pt x="125586" y="93851"/>
                  <a:pt x="114300" y="93851"/>
                </a:cubicBezTo>
                <a:cubicBezTo>
                  <a:pt x="103014" y="93851"/>
                  <a:pt x="93851" y="103014"/>
                  <a:pt x="93851" y="114300"/>
                </a:cubicBezTo>
                <a:cubicBezTo>
                  <a:pt x="93851" y="125586"/>
                  <a:pt x="103014" y="134749"/>
                  <a:pt x="114300" y="134749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981194" y="3238500"/>
            <a:ext cx="95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 Frontend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81194" y="3695700"/>
            <a:ext cx="942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web interface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2450" y="4316730"/>
            <a:ext cx="1426845" cy="883920"/>
          </a:xfrm>
          <a:prstGeom prst="roundRect">
            <a:avLst>
              <a:gd name="adj" fmla="val 8621"/>
            </a:avLst>
          </a:prstGeom>
          <a:solidFill>
            <a:srgbClr val="0B0F19">
              <a:alpha val="80000"/>
            </a:srgbClr>
          </a:solidFill>
          <a:ln w="10160">
            <a:solidFill>
              <a:srgbClr val="22D3EE">
                <a:alpha val="30196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1510" y="464439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14288"/>
                </a:moveTo>
                <a:cubicBezTo>
                  <a:pt x="22190" y="14288"/>
                  <a:pt x="28575" y="20672"/>
                  <a:pt x="28575" y="28575"/>
                </a:cubicBez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214313" y="185738"/>
                </a:lnTo>
                <a:cubicBezTo>
                  <a:pt x="222215" y="185738"/>
                  <a:pt x="228600" y="192122"/>
                  <a:pt x="228600" y="200025"/>
                </a:cubicBezTo>
                <a:cubicBezTo>
                  <a:pt x="228600" y="207928"/>
                  <a:pt x="222215" y="214313"/>
                  <a:pt x="214313" y="214313"/>
                </a:cubicBezTo>
                <a:lnTo>
                  <a:pt x="35719" y="214313"/>
                </a:lnTo>
                <a:cubicBezTo>
                  <a:pt x="15984" y="214313"/>
                  <a:pt x="0" y="198328"/>
                  <a:pt x="0" y="178594"/>
                </a:cubicBezTo>
                <a:lnTo>
                  <a:pt x="0" y="28575"/>
                </a:lnTo>
                <a:cubicBezTo>
                  <a:pt x="0" y="20672"/>
                  <a:pt x="6385" y="14288"/>
                  <a:pt x="14288" y="14288"/>
                </a:cubicBezTo>
                <a:close/>
                <a:moveTo>
                  <a:pt x="57150" y="42863"/>
                </a:moveTo>
                <a:cubicBezTo>
                  <a:pt x="57150" y="34960"/>
                  <a:pt x="63535" y="28575"/>
                  <a:pt x="71438" y="28575"/>
                </a:cubicBezTo>
                <a:lnTo>
                  <a:pt x="157163" y="28575"/>
                </a:lnTo>
                <a:cubicBezTo>
                  <a:pt x="165065" y="28575"/>
                  <a:pt x="171450" y="34960"/>
                  <a:pt x="171450" y="42863"/>
                </a:cubicBezTo>
                <a:cubicBezTo>
                  <a:pt x="171450" y="50765"/>
                  <a:pt x="165065" y="57150"/>
                  <a:pt x="157163" y="57150"/>
                </a:cubicBezTo>
                <a:lnTo>
                  <a:pt x="71438" y="57150"/>
                </a:lnTo>
                <a:cubicBezTo>
                  <a:pt x="63535" y="57150"/>
                  <a:pt x="57150" y="50765"/>
                  <a:pt x="57150" y="42863"/>
                </a:cubicBezTo>
                <a:close/>
                <a:moveTo>
                  <a:pt x="71438" y="78581"/>
                </a:moveTo>
                <a:lnTo>
                  <a:pt x="128588" y="78581"/>
                </a:lnTo>
                <a:cubicBezTo>
                  <a:pt x="136490" y="78581"/>
                  <a:pt x="142875" y="84966"/>
                  <a:pt x="142875" y="92869"/>
                </a:cubicBezTo>
                <a:cubicBezTo>
                  <a:pt x="142875" y="100772"/>
                  <a:pt x="136490" y="107156"/>
                  <a:pt x="128588" y="107156"/>
                </a:cubicBezTo>
                <a:lnTo>
                  <a:pt x="71438" y="107156"/>
                </a:lnTo>
                <a:cubicBezTo>
                  <a:pt x="63535" y="107156"/>
                  <a:pt x="57150" y="100772"/>
                  <a:pt x="57150" y="92869"/>
                </a:cubicBezTo>
                <a:cubicBezTo>
                  <a:pt x="57150" y="84966"/>
                  <a:pt x="63535" y="78581"/>
                  <a:pt x="71438" y="78581"/>
                </a:cubicBezTo>
                <a:close/>
                <a:moveTo>
                  <a:pt x="71438" y="128588"/>
                </a:moveTo>
                <a:lnTo>
                  <a:pt x="185738" y="128588"/>
                </a:lnTo>
                <a:cubicBezTo>
                  <a:pt x="193640" y="128588"/>
                  <a:pt x="200025" y="134972"/>
                  <a:pt x="200025" y="142875"/>
                </a:cubicBezTo>
                <a:cubicBezTo>
                  <a:pt x="200025" y="150778"/>
                  <a:pt x="193640" y="157163"/>
                  <a:pt x="185738" y="157163"/>
                </a:cubicBezTo>
                <a:lnTo>
                  <a:pt x="71438" y="157163"/>
                </a:lnTo>
                <a:cubicBezTo>
                  <a:pt x="63535" y="157163"/>
                  <a:pt x="57150" y="150778"/>
                  <a:pt x="57150" y="142875"/>
                </a:cubicBezTo>
                <a:cubicBezTo>
                  <a:pt x="57150" y="134972"/>
                  <a:pt x="63535" y="128588"/>
                  <a:pt x="71438" y="128588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972145" y="4434841"/>
            <a:ext cx="962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Streamlit Dashboard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72145" y="4892041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Analytics view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354104" y="3609975"/>
            <a:ext cx="178594" cy="285750"/>
          </a:xfrm>
          <a:custGeom>
            <a:avLst/>
            <a:gdLst/>
            <a:ahLst/>
            <a:cxnLst/>
            <a:rect l="l" t="t" r="r" b="b"/>
            <a:pathLst>
              <a:path w="178594" h="285750">
                <a:moveTo>
                  <a:pt x="173627" y="130262"/>
                </a:moveTo>
                <a:cubicBezTo>
                  <a:pt x="180603" y="137238"/>
                  <a:pt x="180603" y="148568"/>
                  <a:pt x="173627" y="155544"/>
                </a:cubicBezTo>
                <a:lnTo>
                  <a:pt x="66470" y="262700"/>
                </a:lnTo>
                <a:cubicBezTo>
                  <a:pt x="59494" y="269677"/>
                  <a:pt x="48165" y="269677"/>
                  <a:pt x="41188" y="262700"/>
                </a:cubicBezTo>
                <a:cubicBezTo>
                  <a:pt x="34212" y="255724"/>
                  <a:pt x="34212" y="244394"/>
                  <a:pt x="41188" y="237418"/>
                </a:cubicBezTo>
                <a:lnTo>
                  <a:pt x="135731" y="142875"/>
                </a:lnTo>
                <a:lnTo>
                  <a:pt x="41244" y="48332"/>
                </a:lnTo>
                <a:cubicBezTo>
                  <a:pt x="34268" y="41356"/>
                  <a:pt x="34268" y="30026"/>
                  <a:pt x="41244" y="23050"/>
                </a:cubicBezTo>
                <a:cubicBezTo>
                  <a:pt x="48220" y="16073"/>
                  <a:pt x="59550" y="16073"/>
                  <a:pt x="66526" y="23050"/>
                </a:cubicBezTo>
                <a:lnTo>
                  <a:pt x="173682" y="130206"/>
                </a:lnTo>
                <a:close/>
              </a:path>
            </a:pathLst>
          </a:custGeom>
          <a:solidFill>
            <a:srgbClr val="F8FAFC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276481" y="1882140"/>
            <a:ext cx="807720" cy="274320"/>
          </a:xfrm>
          <a:prstGeom prst="roundRect">
            <a:avLst>
              <a:gd name="adj" fmla="val 50000"/>
            </a:avLst>
          </a:prstGeom>
          <a:solidFill>
            <a:srgbClr val="6366F1">
              <a:alpha val="14902"/>
            </a:srgbClr>
          </a:solidFill>
          <a:ln w="1016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94591" y="19812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3513654" y="1924050"/>
            <a:ext cx="485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Layer 2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741533" y="2282190"/>
            <a:ext cx="1872615" cy="3339465"/>
          </a:xfrm>
          <a:prstGeom prst="roundRect">
            <a:avLst>
              <a:gd name="adj" fmla="val 6104"/>
            </a:avLst>
          </a:prstGeom>
          <a:gradFill flip="none" rotWithShape="1">
            <a:gsLst>
              <a:gs pos="0">
                <a:srgbClr val="6366F1">
                  <a:alpha val="15000"/>
                </a:srgbClr>
              </a:gs>
              <a:gs pos="100000">
                <a:srgbClr val="6366F1">
                  <a:alpha val="5000"/>
                </a:srgbClr>
              </a:gs>
            </a:gsLst>
            <a:lin ang="5400000" scaled="1"/>
          </a:gradFill>
          <a:ln w="2032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53928" y="3028950"/>
            <a:ext cx="1647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Layer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905363" y="3451860"/>
            <a:ext cx="1550670" cy="1417320"/>
          </a:xfrm>
          <a:prstGeom prst="roundRect">
            <a:avLst>
              <a:gd name="adj" fmla="val 5376"/>
            </a:avLst>
          </a:prstGeom>
          <a:solidFill>
            <a:srgbClr val="0B0F19">
              <a:alpha val="80000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46095" y="401764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60734" y="0"/>
                </a:moveTo>
                <a:lnTo>
                  <a:pt x="71438" y="0"/>
                </a:lnTo>
                <a:cubicBezTo>
                  <a:pt x="61559" y="0"/>
                  <a:pt x="53578" y="7981"/>
                  <a:pt x="53578" y="17859"/>
                </a:cubicBezTo>
                <a:cubicBezTo>
                  <a:pt x="53578" y="27738"/>
                  <a:pt x="61559" y="35719"/>
                  <a:pt x="71438" y="35719"/>
                </a:cubicBezTo>
                <a:lnTo>
                  <a:pt x="71438" y="120272"/>
                </a:lnTo>
                <a:lnTo>
                  <a:pt x="4186" y="237920"/>
                </a:lnTo>
                <a:cubicBezTo>
                  <a:pt x="1451" y="242776"/>
                  <a:pt x="0" y="248190"/>
                  <a:pt x="0" y="253771"/>
                </a:cubicBezTo>
                <a:cubicBezTo>
                  <a:pt x="0" y="271463"/>
                  <a:pt x="14288" y="285750"/>
                  <a:pt x="31979" y="285750"/>
                </a:cubicBezTo>
                <a:lnTo>
                  <a:pt x="218052" y="285750"/>
                </a:lnTo>
                <a:cubicBezTo>
                  <a:pt x="235688" y="285750"/>
                  <a:pt x="250031" y="271463"/>
                  <a:pt x="250031" y="253771"/>
                </a:cubicBezTo>
                <a:cubicBezTo>
                  <a:pt x="250031" y="248190"/>
                  <a:pt x="248580" y="242720"/>
                  <a:pt x="245845" y="237920"/>
                </a:cubicBezTo>
                <a:lnTo>
                  <a:pt x="178594" y="120272"/>
                </a:lnTo>
                <a:lnTo>
                  <a:pt x="178594" y="35719"/>
                </a:lnTo>
                <a:cubicBezTo>
                  <a:pt x="188472" y="35719"/>
                  <a:pt x="196453" y="27738"/>
                  <a:pt x="196453" y="17859"/>
                </a:cubicBezTo>
                <a:cubicBezTo>
                  <a:pt x="196453" y="7981"/>
                  <a:pt x="188472" y="0"/>
                  <a:pt x="178594" y="0"/>
                </a:cubicBezTo>
                <a:lnTo>
                  <a:pt x="160734" y="0"/>
                </a:lnTo>
                <a:close/>
                <a:moveTo>
                  <a:pt x="107156" y="120272"/>
                </a:moveTo>
                <a:lnTo>
                  <a:pt x="107156" y="35719"/>
                </a:lnTo>
                <a:lnTo>
                  <a:pt x="142875" y="35719"/>
                </a:lnTo>
                <a:lnTo>
                  <a:pt x="142875" y="120272"/>
                </a:lnTo>
                <a:cubicBezTo>
                  <a:pt x="142875" y="126467"/>
                  <a:pt x="144494" y="132606"/>
                  <a:pt x="147563" y="138019"/>
                </a:cubicBezTo>
                <a:lnTo>
                  <a:pt x="170780" y="178594"/>
                </a:lnTo>
                <a:lnTo>
                  <a:pt x="79251" y="178594"/>
                </a:lnTo>
                <a:lnTo>
                  <a:pt x="102468" y="138019"/>
                </a:lnTo>
                <a:cubicBezTo>
                  <a:pt x="105538" y="132606"/>
                  <a:pt x="107156" y="126523"/>
                  <a:pt x="107156" y="12027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5" name="Text 23"/>
          <p:cNvSpPr/>
          <p:nvPr/>
        </p:nvSpPr>
        <p:spPr>
          <a:xfrm>
            <a:off x="3398163" y="3608070"/>
            <a:ext cx="9810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Flask REST API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398163" y="4141470"/>
            <a:ext cx="9620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Request routing &amp; orchestration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831318" y="3609975"/>
            <a:ext cx="178594" cy="285750"/>
          </a:xfrm>
          <a:custGeom>
            <a:avLst/>
            <a:gdLst/>
            <a:ahLst/>
            <a:cxnLst/>
            <a:rect l="l" t="t" r="r" b="b"/>
            <a:pathLst>
              <a:path w="178594" h="285750">
                <a:moveTo>
                  <a:pt x="173627" y="130262"/>
                </a:moveTo>
                <a:cubicBezTo>
                  <a:pt x="180603" y="137238"/>
                  <a:pt x="180603" y="148568"/>
                  <a:pt x="173627" y="155544"/>
                </a:cubicBezTo>
                <a:lnTo>
                  <a:pt x="66470" y="262700"/>
                </a:lnTo>
                <a:cubicBezTo>
                  <a:pt x="59494" y="269677"/>
                  <a:pt x="48165" y="269677"/>
                  <a:pt x="41188" y="262700"/>
                </a:cubicBezTo>
                <a:cubicBezTo>
                  <a:pt x="34212" y="255724"/>
                  <a:pt x="34212" y="244394"/>
                  <a:pt x="41188" y="237418"/>
                </a:cubicBezTo>
                <a:lnTo>
                  <a:pt x="135731" y="142875"/>
                </a:lnTo>
                <a:lnTo>
                  <a:pt x="41244" y="48332"/>
                </a:lnTo>
                <a:cubicBezTo>
                  <a:pt x="34268" y="41356"/>
                  <a:pt x="34268" y="30026"/>
                  <a:pt x="41244" y="23050"/>
                </a:cubicBezTo>
                <a:cubicBezTo>
                  <a:pt x="48220" y="16073"/>
                  <a:pt x="59550" y="16073"/>
                  <a:pt x="66526" y="23050"/>
                </a:cubicBezTo>
                <a:lnTo>
                  <a:pt x="173682" y="130206"/>
                </a:lnTo>
                <a:close/>
              </a:path>
            </a:pathLst>
          </a:custGeom>
          <a:solidFill>
            <a:srgbClr val="F8FAFC">
              <a:alpha val="4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726787" y="1882140"/>
            <a:ext cx="807720" cy="274320"/>
          </a:xfrm>
          <a:prstGeom prst="roundRect">
            <a:avLst>
              <a:gd name="adj" fmla="val 50000"/>
            </a:avLst>
          </a:prstGeom>
          <a:solidFill>
            <a:srgbClr val="A855F7">
              <a:alpha val="14902"/>
            </a:srgbClr>
          </a:solidFill>
          <a:ln w="1016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44897" y="19812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/>
        </p:spPr>
      </p:sp>
      <p:sp>
        <p:nvSpPr>
          <p:cNvPr id="30" name="Text 28"/>
          <p:cNvSpPr/>
          <p:nvPr/>
        </p:nvSpPr>
        <p:spPr>
          <a:xfrm>
            <a:off x="5963960" y="1924050"/>
            <a:ext cx="485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A85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Layer 3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18748" y="2282190"/>
            <a:ext cx="1824990" cy="3339465"/>
          </a:xfrm>
          <a:prstGeom prst="roundRect">
            <a:avLst>
              <a:gd name="adj" fmla="val 6263"/>
            </a:avLst>
          </a:prstGeom>
          <a:gradFill flip="none" rotWithShape="1">
            <a:gsLst>
              <a:gs pos="0">
                <a:srgbClr val="A855F7">
                  <a:alpha val="15000"/>
                </a:srgbClr>
              </a:gs>
              <a:gs pos="100000">
                <a:srgbClr val="A855F7">
                  <a:alpha val="5000"/>
                </a:srgbClr>
              </a:gs>
            </a:gsLst>
            <a:lin ang="5400000" scaled="1"/>
          </a:gradFill>
          <a:ln w="2032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31143" y="2442211"/>
            <a:ext cx="160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Engine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382578" y="2865121"/>
            <a:ext cx="1493520" cy="845820"/>
          </a:xfrm>
          <a:prstGeom prst="roundRect">
            <a:avLst>
              <a:gd name="adj" fmla="val 9009"/>
            </a:avLst>
          </a:prstGeom>
          <a:solidFill>
            <a:srgbClr val="0B0F19">
              <a:alpha val="80000"/>
            </a:srgbClr>
          </a:solidFill>
          <a:ln w="10160">
            <a:solidFill>
              <a:srgbClr val="A855F7">
                <a:alpha val="30196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00688" y="2983230"/>
            <a:ext cx="133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ProductOptimizer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500688" y="3211830"/>
            <a:ext cx="1323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pipeline orchestrator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382578" y="3832860"/>
            <a:ext cx="1493520" cy="655320"/>
          </a:xfrm>
          <a:prstGeom prst="roundRect">
            <a:avLst>
              <a:gd name="adj" fmla="val 11628"/>
            </a:avLst>
          </a:prstGeom>
          <a:solidFill>
            <a:srgbClr val="0B0F19">
              <a:alpha val="80000"/>
            </a:srgbClr>
          </a:solidFill>
          <a:ln w="10160">
            <a:solidFill>
              <a:srgbClr val="A855F7">
                <a:alpha val="30196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00688" y="3950970"/>
            <a:ext cx="133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CompetitorScraper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500688" y="4179570"/>
            <a:ext cx="132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 data extraction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382578" y="4610101"/>
            <a:ext cx="1493520" cy="845820"/>
          </a:xfrm>
          <a:prstGeom prst="roundRect">
            <a:avLst>
              <a:gd name="adj" fmla="val 9009"/>
            </a:avLst>
          </a:prstGeom>
          <a:solidFill>
            <a:srgbClr val="0B0F19">
              <a:alpha val="80000"/>
            </a:srgbClr>
          </a:solidFill>
          <a:ln w="10160">
            <a:solidFill>
              <a:srgbClr val="A855F7">
                <a:alpha val="30196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00688" y="4728211"/>
            <a:ext cx="133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MemoryManager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500688" y="4956811"/>
            <a:ext cx="1323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Vector memory handler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258050" y="3609975"/>
            <a:ext cx="178594" cy="285750"/>
          </a:xfrm>
          <a:custGeom>
            <a:avLst/>
            <a:gdLst/>
            <a:ahLst/>
            <a:cxnLst/>
            <a:rect l="l" t="t" r="r" b="b"/>
            <a:pathLst>
              <a:path w="178594" h="285750">
                <a:moveTo>
                  <a:pt x="173627" y="130262"/>
                </a:moveTo>
                <a:cubicBezTo>
                  <a:pt x="180603" y="137238"/>
                  <a:pt x="180603" y="148568"/>
                  <a:pt x="173627" y="155544"/>
                </a:cubicBezTo>
                <a:lnTo>
                  <a:pt x="66470" y="262700"/>
                </a:lnTo>
                <a:cubicBezTo>
                  <a:pt x="59494" y="269677"/>
                  <a:pt x="48165" y="269677"/>
                  <a:pt x="41188" y="262700"/>
                </a:cubicBezTo>
                <a:cubicBezTo>
                  <a:pt x="34212" y="255724"/>
                  <a:pt x="34212" y="244394"/>
                  <a:pt x="41188" y="237418"/>
                </a:cubicBezTo>
                <a:lnTo>
                  <a:pt x="135731" y="142875"/>
                </a:lnTo>
                <a:lnTo>
                  <a:pt x="41244" y="48332"/>
                </a:lnTo>
                <a:cubicBezTo>
                  <a:pt x="34268" y="41356"/>
                  <a:pt x="34268" y="30026"/>
                  <a:pt x="41244" y="23050"/>
                </a:cubicBezTo>
                <a:cubicBezTo>
                  <a:pt x="48220" y="16073"/>
                  <a:pt x="59550" y="16073"/>
                  <a:pt x="66526" y="23050"/>
                </a:cubicBezTo>
                <a:lnTo>
                  <a:pt x="173682" y="130206"/>
                </a:lnTo>
                <a:close/>
              </a:path>
            </a:pathLst>
          </a:custGeom>
          <a:solidFill>
            <a:srgbClr val="F8FAFC">
              <a:alpha val="4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118396" y="1882140"/>
            <a:ext cx="807720" cy="274320"/>
          </a:xfrm>
          <a:prstGeom prst="roundRect">
            <a:avLst>
              <a:gd name="adj" fmla="val 50000"/>
            </a:avLst>
          </a:prstGeom>
          <a:solidFill>
            <a:srgbClr val="F97316">
              <a:alpha val="14902"/>
            </a:srgbClr>
          </a:solidFill>
          <a:ln w="1016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36506" y="19812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45" name="Text 43"/>
          <p:cNvSpPr/>
          <p:nvPr/>
        </p:nvSpPr>
        <p:spPr>
          <a:xfrm>
            <a:off x="8355568" y="1924050"/>
            <a:ext cx="485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Layer 4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645479" y="2282190"/>
            <a:ext cx="1748790" cy="3339465"/>
          </a:xfrm>
          <a:prstGeom prst="roundRect">
            <a:avLst>
              <a:gd name="adj" fmla="val 6536"/>
            </a:avLst>
          </a:prstGeom>
          <a:gradFill flip="none" rotWithShape="1">
            <a:gsLst>
              <a:gs pos="0">
                <a:srgbClr val="F97316">
                  <a:alpha val="15000"/>
                </a:srgbClr>
              </a:gs>
              <a:gs pos="100000">
                <a:srgbClr val="F97316">
                  <a:alpha val="5000"/>
                </a:srgbClr>
              </a:gs>
            </a:gsLst>
            <a:lin ang="5400000" scaled="1"/>
          </a:gradFill>
          <a:ln w="2032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57875" y="2670811"/>
            <a:ext cx="152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External Services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809310" y="3360421"/>
            <a:ext cx="1426845" cy="693420"/>
          </a:xfrm>
          <a:prstGeom prst="roundRect">
            <a:avLst>
              <a:gd name="adj" fmla="val 10989"/>
            </a:avLst>
          </a:prstGeom>
          <a:solidFill>
            <a:srgbClr val="0B0F19">
              <a:alpha val="80000"/>
            </a:srgbClr>
          </a:solidFill>
          <a:ln w="10160">
            <a:solidFill>
              <a:srgbClr val="F97316">
                <a:alpha val="30196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927420" y="361188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50" name="Text 48"/>
          <p:cNvSpPr/>
          <p:nvPr/>
        </p:nvSpPr>
        <p:spPr>
          <a:xfrm>
            <a:off x="8194834" y="3478530"/>
            <a:ext cx="1000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Anthropic Claude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809310" y="4175760"/>
            <a:ext cx="1426845" cy="464820"/>
          </a:xfrm>
          <a:prstGeom prst="roundRect">
            <a:avLst>
              <a:gd name="adj" fmla="val 16393"/>
            </a:avLst>
          </a:prstGeom>
          <a:solidFill>
            <a:srgbClr val="0B0F19">
              <a:alpha val="80000"/>
            </a:srgbClr>
          </a:solidFill>
          <a:ln w="10160">
            <a:solidFill>
              <a:srgbClr val="F97316">
                <a:alpha val="30196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951232" y="431292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7406" y="-11534"/>
                </a:moveTo>
                <a:cubicBezTo>
                  <a:pt x="141833" y="-12836"/>
                  <a:pt x="146484" y="-10530"/>
                  <a:pt x="148196" y="-6362"/>
                </a:cubicBezTo>
                <a:lnTo>
                  <a:pt x="148493" y="-5507"/>
                </a:lnTo>
                <a:lnTo>
                  <a:pt x="163376" y="45095"/>
                </a:lnTo>
                <a:cubicBezTo>
                  <a:pt x="164306" y="48220"/>
                  <a:pt x="163413" y="51606"/>
                  <a:pt x="161106" y="53913"/>
                </a:cubicBezTo>
                <a:lnTo>
                  <a:pt x="137257" y="77763"/>
                </a:lnTo>
                <a:lnTo>
                  <a:pt x="165683" y="70024"/>
                </a:lnTo>
                <a:lnTo>
                  <a:pt x="173087" y="47774"/>
                </a:lnTo>
                <a:lnTo>
                  <a:pt x="173422" y="46918"/>
                </a:lnTo>
                <a:cubicBezTo>
                  <a:pt x="175282" y="42788"/>
                  <a:pt x="180008" y="40667"/>
                  <a:pt x="184398" y="42118"/>
                </a:cubicBezTo>
                <a:cubicBezTo>
                  <a:pt x="188788" y="43569"/>
                  <a:pt x="191281" y="48109"/>
                  <a:pt x="190277" y="52536"/>
                </a:cubicBezTo>
                <a:lnTo>
                  <a:pt x="190016" y="53429"/>
                </a:lnTo>
                <a:lnTo>
                  <a:pt x="181087" y="80218"/>
                </a:lnTo>
                <a:cubicBezTo>
                  <a:pt x="180156" y="83046"/>
                  <a:pt x="177850" y="85204"/>
                  <a:pt x="174947" y="86023"/>
                </a:cubicBezTo>
                <a:lnTo>
                  <a:pt x="141052" y="95250"/>
                </a:lnTo>
                <a:lnTo>
                  <a:pt x="174947" y="104477"/>
                </a:lnTo>
                <a:cubicBezTo>
                  <a:pt x="177812" y="105259"/>
                  <a:pt x="180119" y="107454"/>
                  <a:pt x="181087" y="110282"/>
                </a:cubicBezTo>
                <a:lnTo>
                  <a:pt x="190016" y="137071"/>
                </a:lnTo>
                <a:lnTo>
                  <a:pt x="190277" y="137964"/>
                </a:lnTo>
                <a:cubicBezTo>
                  <a:pt x="191281" y="142391"/>
                  <a:pt x="188751" y="146931"/>
                  <a:pt x="184398" y="148382"/>
                </a:cubicBezTo>
                <a:cubicBezTo>
                  <a:pt x="180008" y="149833"/>
                  <a:pt x="175282" y="147712"/>
                  <a:pt x="173422" y="143582"/>
                </a:cubicBezTo>
                <a:lnTo>
                  <a:pt x="173087" y="142726"/>
                </a:lnTo>
                <a:lnTo>
                  <a:pt x="165683" y="120476"/>
                </a:lnTo>
                <a:lnTo>
                  <a:pt x="137257" y="112737"/>
                </a:lnTo>
                <a:lnTo>
                  <a:pt x="161106" y="136587"/>
                </a:lnTo>
                <a:cubicBezTo>
                  <a:pt x="163376" y="138857"/>
                  <a:pt x="164269" y="142205"/>
                  <a:pt x="163413" y="145293"/>
                </a:cubicBezTo>
                <a:lnTo>
                  <a:pt x="148530" y="198872"/>
                </a:lnTo>
                <a:lnTo>
                  <a:pt x="148233" y="199727"/>
                </a:lnTo>
                <a:cubicBezTo>
                  <a:pt x="146596" y="203932"/>
                  <a:pt x="141982" y="206313"/>
                  <a:pt x="137517" y="205085"/>
                </a:cubicBezTo>
                <a:cubicBezTo>
                  <a:pt x="133052" y="203857"/>
                  <a:pt x="130336" y="199430"/>
                  <a:pt x="131118" y="194965"/>
                </a:cubicBezTo>
                <a:lnTo>
                  <a:pt x="131304" y="194072"/>
                </a:lnTo>
                <a:lnTo>
                  <a:pt x="144773" y="145517"/>
                </a:lnTo>
                <a:lnTo>
                  <a:pt x="130932" y="131676"/>
                </a:lnTo>
                <a:cubicBezTo>
                  <a:pt x="130597" y="151061"/>
                  <a:pt x="114746" y="166688"/>
                  <a:pt x="95250" y="166688"/>
                </a:cubicBezTo>
                <a:cubicBezTo>
                  <a:pt x="75754" y="166688"/>
                  <a:pt x="59903" y="151061"/>
                  <a:pt x="59531" y="131676"/>
                </a:cubicBezTo>
                <a:lnTo>
                  <a:pt x="45765" y="145442"/>
                </a:lnTo>
                <a:lnTo>
                  <a:pt x="59159" y="190946"/>
                </a:lnTo>
                <a:lnTo>
                  <a:pt x="59382" y="191839"/>
                </a:lnTo>
                <a:cubicBezTo>
                  <a:pt x="60201" y="196267"/>
                  <a:pt x="57559" y="200732"/>
                  <a:pt x="53132" y="202034"/>
                </a:cubicBezTo>
                <a:cubicBezTo>
                  <a:pt x="48704" y="203336"/>
                  <a:pt x="44053" y="201030"/>
                  <a:pt x="42342" y="196862"/>
                </a:cubicBezTo>
                <a:lnTo>
                  <a:pt x="42044" y="196007"/>
                </a:lnTo>
                <a:lnTo>
                  <a:pt x="27161" y="145405"/>
                </a:lnTo>
                <a:cubicBezTo>
                  <a:pt x="26231" y="142280"/>
                  <a:pt x="27124" y="138894"/>
                  <a:pt x="29431" y="136550"/>
                </a:cubicBezTo>
                <a:lnTo>
                  <a:pt x="53280" y="112700"/>
                </a:lnTo>
                <a:lnTo>
                  <a:pt x="24854" y="120439"/>
                </a:lnTo>
                <a:lnTo>
                  <a:pt x="17450" y="142689"/>
                </a:lnTo>
                <a:lnTo>
                  <a:pt x="17115" y="143545"/>
                </a:lnTo>
                <a:cubicBezTo>
                  <a:pt x="15255" y="147675"/>
                  <a:pt x="10530" y="149796"/>
                  <a:pt x="6139" y="148344"/>
                </a:cubicBezTo>
                <a:cubicBezTo>
                  <a:pt x="1749" y="146893"/>
                  <a:pt x="-744" y="142354"/>
                  <a:pt x="260" y="137926"/>
                </a:cubicBezTo>
                <a:lnTo>
                  <a:pt x="521" y="137033"/>
                </a:lnTo>
                <a:lnTo>
                  <a:pt x="9451" y="110244"/>
                </a:lnTo>
                <a:cubicBezTo>
                  <a:pt x="10381" y="107417"/>
                  <a:pt x="12688" y="105259"/>
                  <a:pt x="15590" y="104440"/>
                </a:cubicBezTo>
                <a:lnTo>
                  <a:pt x="49485" y="95213"/>
                </a:lnTo>
                <a:lnTo>
                  <a:pt x="15590" y="85985"/>
                </a:lnTo>
                <a:cubicBezTo>
                  <a:pt x="12725" y="85204"/>
                  <a:pt x="10418" y="83009"/>
                  <a:pt x="9451" y="80181"/>
                </a:cubicBezTo>
                <a:lnTo>
                  <a:pt x="521" y="53392"/>
                </a:lnTo>
                <a:lnTo>
                  <a:pt x="260" y="52499"/>
                </a:lnTo>
                <a:cubicBezTo>
                  <a:pt x="-744" y="48071"/>
                  <a:pt x="1786" y="43532"/>
                  <a:pt x="6139" y="42081"/>
                </a:cubicBezTo>
                <a:cubicBezTo>
                  <a:pt x="10492" y="40630"/>
                  <a:pt x="15255" y="42751"/>
                  <a:pt x="17115" y="46881"/>
                </a:cubicBezTo>
                <a:lnTo>
                  <a:pt x="17450" y="47737"/>
                </a:lnTo>
                <a:lnTo>
                  <a:pt x="24854" y="69986"/>
                </a:lnTo>
                <a:lnTo>
                  <a:pt x="53280" y="77725"/>
                </a:lnTo>
                <a:lnTo>
                  <a:pt x="29431" y="53876"/>
                </a:lnTo>
                <a:cubicBezTo>
                  <a:pt x="27124" y="51569"/>
                  <a:pt x="26268" y="48183"/>
                  <a:pt x="27161" y="45058"/>
                </a:cubicBezTo>
                <a:lnTo>
                  <a:pt x="42044" y="-5544"/>
                </a:lnTo>
                <a:lnTo>
                  <a:pt x="42342" y="-6400"/>
                </a:lnTo>
                <a:cubicBezTo>
                  <a:pt x="44053" y="-10604"/>
                  <a:pt x="48704" y="-12874"/>
                  <a:pt x="53132" y="-11571"/>
                </a:cubicBezTo>
                <a:cubicBezTo>
                  <a:pt x="57559" y="-10269"/>
                  <a:pt x="60201" y="-5804"/>
                  <a:pt x="59382" y="-1377"/>
                </a:cubicBezTo>
                <a:lnTo>
                  <a:pt x="59159" y="-484"/>
                </a:lnTo>
                <a:lnTo>
                  <a:pt x="45765" y="45021"/>
                </a:lnTo>
                <a:lnTo>
                  <a:pt x="65484" y="64740"/>
                </a:lnTo>
                <a:cubicBezTo>
                  <a:pt x="65856" y="48630"/>
                  <a:pt x="79028" y="35682"/>
                  <a:pt x="95213" y="35682"/>
                </a:cubicBezTo>
                <a:cubicBezTo>
                  <a:pt x="111398" y="35682"/>
                  <a:pt x="124569" y="48630"/>
                  <a:pt x="124941" y="64777"/>
                </a:cubicBezTo>
                <a:lnTo>
                  <a:pt x="144698" y="45021"/>
                </a:lnTo>
                <a:lnTo>
                  <a:pt x="131304" y="-484"/>
                </a:lnTo>
                <a:lnTo>
                  <a:pt x="131080" y="-1377"/>
                </a:lnTo>
                <a:cubicBezTo>
                  <a:pt x="130262" y="-5842"/>
                  <a:pt x="132904" y="-10269"/>
                  <a:pt x="137331" y="-11571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53" name="Text 51"/>
          <p:cNvSpPr/>
          <p:nvPr/>
        </p:nvSpPr>
        <p:spPr>
          <a:xfrm>
            <a:off x="8241745" y="429387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Firecrawl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809310" y="4762501"/>
            <a:ext cx="1426845" cy="464820"/>
          </a:xfrm>
          <a:prstGeom prst="roundRect">
            <a:avLst>
              <a:gd name="adj" fmla="val 16393"/>
            </a:avLst>
          </a:prstGeom>
          <a:solidFill>
            <a:srgbClr val="0B0F19">
              <a:alpha val="80000"/>
            </a:srgbClr>
          </a:solidFill>
          <a:ln w="10160">
            <a:solidFill>
              <a:srgbClr val="F97316">
                <a:alpha val="30196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951232" y="489966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10678" y="23812"/>
                  <a:pt x="0" y="34491"/>
                  <a:pt x="0" y="47625"/>
                </a:cubicBezTo>
                <a:lnTo>
                  <a:pt x="0" y="50378"/>
                </a:lnTo>
                <a:cubicBezTo>
                  <a:pt x="0" y="52908"/>
                  <a:pt x="1637" y="55066"/>
                  <a:pt x="3758" y="56443"/>
                </a:cubicBezTo>
                <a:cubicBezTo>
                  <a:pt x="8669" y="59643"/>
                  <a:pt x="11906" y="65150"/>
                  <a:pt x="11906" y="71438"/>
                </a:cubicBezTo>
                <a:cubicBezTo>
                  <a:pt x="11906" y="77725"/>
                  <a:pt x="8669" y="83232"/>
                  <a:pt x="3758" y="86432"/>
                </a:cubicBezTo>
                <a:cubicBezTo>
                  <a:pt x="1637" y="87809"/>
                  <a:pt x="0" y="89967"/>
                  <a:pt x="0" y="92497"/>
                </a:cubicBezTo>
                <a:lnTo>
                  <a:pt x="0" y="113109"/>
                </a:lnTo>
                <a:lnTo>
                  <a:pt x="190500" y="113109"/>
                </a:lnTo>
                <a:lnTo>
                  <a:pt x="190500" y="92497"/>
                </a:lnTo>
                <a:cubicBezTo>
                  <a:pt x="190500" y="89967"/>
                  <a:pt x="188863" y="87809"/>
                  <a:pt x="186742" y="86432"/>
                </a:cubicBezTo>
                <a:cubicBezTo>
                  <a:pt x="181831" y="83232"/>
                  <a:pt x="178594" y="77725"/>
                  <a:pt x="178594" y="71438"/>
                </a:cubicBezTo>
                <a:cubicBezTo>
                  <a:pt x="178594" y="65150"/>
                  <a:pt x="181831" y="59643"/>
                  <a:pt x="186742" y="56443"/>
                </a:cubicBezTo>
                <a:cubicBezTo>
                  <a:pt x="188863" y="55066"/>
                  <a:pt x="190500" y="52908"/>
                  <a:pt x="190500" y="50378"/>
                </a:cubicBezTo>
                <a:lnTo>
                  <a:pt x="190500" y="47625"/>
                </a:lnTo>
                <a:cubicBezTo>
                  <a:pt x="190500" y="34491"/>
                  <a:pt x="179822" y="23812"/>
                  <a:pt x="166688" y="23812"/>
                </a:cubicBezTo>
                <a:lnTo>
                  <a:pt x="23812" y="23812"/>
                </a:lnTo>
                <a:close/>
                <a:moveTo>
                  <a:pt x="190500" y="154781"/>
                </a:moveTo>
                <a:lnTo>
                  <a:pt x="190500" y="130969"/>
                </a:lnTo>
                <a:lnTo>
                  <a:pt x="0" y="130969"/>
                </a:lnTo>
                <a:lnTo>
                  <a:pt x="0" y="154781"/>
                </a:lnTo>
                <a:cubicBezTo>
                  <a:pt x="0" y="161367"/>
                  <a:pt x="5321" y="166688"/>
                  <a:pt x="11906" y="166688"/>
                </a:cubicBezTo>
                <a:lnTo>
                  <a:pt x="35719" y="166688"/>
                </a:lnTo>
                <a:lnTo>
                  <a:pt x="35719" y="157758"/>
                </a:lnTo>
                <a:cubicBezTo>
                  <a:pt x="35719" y="152809"/>
                  <a:pt x="39700" y="148828"/>
                  <a:pt x="44648" y="148828"/>
                </a:cubicBezTo>
                <a:cubicBezTo>
                  <a:pt x="49597" y="148828"/>
                  <a:pt x="53578" y="152809"/>
                  <a:pt x="53578" y="157758"/>
                </a:cubicBezTo>
                <a:lnTo>
                  <a:pt x="53578" y="166688"/>
                </a:lnTo>
                <a:lnTo>
                  <a:pt x="86320" y="166688"/>
                </a:lnTo>
                <a:lnTo>
                  <a:pt x="86320" y="157758"/>
                </a:lnTo>
                <a:cubicBezTo>
                  <a:pt x="86320" y="152809"/>
                  <a:pt x="90301" y="148828"/>
                  <a:pt x="95250" y="148828"/>
                </a:cubicBezTo>
                <a:cubicBezTo>
                  <a:pt x="100199" y="148828"/>
                  <a:pt x="104180" y="152809"/>
                  <a:pt x="104180" y="157758"/>
                </a:cubicBezTo>
                <a:lnTo>
                  <a:pt x="104180" y="166688"/>
                </a:lnTo>
                <a:lnTo>
                  <a:pt x="136922" y="166688"/>
                </a:lnTo>
                <a:lnTo>
                  <a:pt x="136922" y="157758"/>
                </a:lnTo>
                <a:cubicBezTo>
                  <a:pt x="136922" y="152809"/>
                  <a:pt x="140903" y="148828"/>
                  <a:pt x="145852" y="148828"/>
                </a:cubicBezTo>
                <a:cubicBezTo>
                  <a:pt x="150800" y="148828"/>
                  <a:pt x="154781" y="152809"/>
                  <a:pt x="154781" y="157758"/>
                </a:cubicBezTo>
                <a:lnTo>
                  <a:pt x="154781" y="166688"/>
                </a:lnTo>
                <a:lnTo>
                  <a:pt x="178594" y="166688"/>
                </a:lnTo>
                <a:cubicBezTo>
                  <a:pt x="185179" y="166688"/>
                  <a:pt x="190500" y="161367"/>
                  <a:pt x="190500" y="154781"/>
                </a:cubicBezTo>
                <a:close/>
                <a:moveTo>
                  <a:pt x="59531" y="59531"/>
                </a:moveTo>
                <a:lnTo>
                  <a:pt x="59531" y="83344"/>
                </a:lnTo>
                <a:cubicBezTo>
                  <a:pt x="59531" y="89929"/>
                  <a:pt x="54211" y="95250"/>
                  <a:pt x="47625" y="95250"/>
                </a:cubicBezTo>
                <a:cubicBezTo>
                  <a:pt x="41039" y="95250"/>
                  <a:pt x="35719" y="89929"/>
                  <a:pt x="35719" y="83344"/>
                </a:cubicBezTo>
                <a:lnTo>
                  <a:pt x="35719" y="59531"/>
                </a:lnTo>
                <a:cubicBezTo>
                  <a:pt x="35719" y="52946"/>
                  <a:pt x="41039" y="47625"/>
                  <a:pt x="47625" y="47625"/>
                </a:cubicBezTo>
                <a:cubicBezTo>
                  <a:pt x="54211" y="47625"/>
                  <a:pt x="59531" y="52946"/>
                  <a:pt x="59531" y="59531"/>
                </a:cubicBezTo>
                <a:close/>
                <a:moveTo>
                  <a:pt x="107156" y="59531"/>
                </a:moveTo>
                <a:lnTo>
                  <a:pt x="107156" y="83344"/>
                </a:lnTo>
                <a:cubicBezTo>
                  <a:pt x="107156" y="89929"/>
                  <a:pt x="101836" y="95250"/>
                  <a:pt x="95250" y="95250"/>
                </a:cubicBezTo>
                <a:cubicBezTo>
                  <a:pt x="88664" y="95250"/>
                  <a:pt x="83344" y="89929"/>
                  <a:pt x="83344" y="83344"/>
                </a:cubicBezTo>
                <a:lnTo>
                  <a:pt x="83344" y="59531"/>
                </a:lnTo>
                <a:cubicBezTo>
                  <a:pt x="83344" y="52946"/>
                  <a:pt x="88664" y="47625"/>
                  <a:pt x="95250" y="47625"/>
                </a:cubicBezTo>
                <a:cubicBezTo>
                  <a:pt x="101836" y="47625"/>
                  <a:pt x="107156" y="52946"/>
                  <a:pt x="107156" y="59531"/>
                </a:cubicBezTo>
                <a:close/>
                <a:moveTo>
                  <a:pt x="154781" y="59531"/>
                </a:moveTo>
                <a:lnTo>
                  <a:pt x="154781" y="83344"/>
                </a:lnTo>
                <a:cubicBezTo>
                  <a:pt x="154781" y="89929"/>
                  <a:pt x="149461" y="95250"/>
                  <a:pt x="142875" y="95250"/>
                </a:cubicBezTo>
                <a:cubicBezTo>
                  <a:pt x="136289" y="95250"/>
                  <a:pt x="130969" y="89929"/>
                  <a:pt x="130969" y="83344"/>
                </a:cubicBezTo>
                <a:lnTo>
                  <a:pt x="130969" y="59531"/>
                </a:lnTo>
                <a:cubicBezTo>
                  <a:pt x="130969" y="52946"/>
                  <a:pt x="136289" y="47625"/>
                  <a:pt x="142875" y="47625"/>
                </a:cubicBezTo>
                <a:cubicBezTo>
                  <a:pt x="149461" y="47625"/>
                  <a:pt x="154781" y="52946"/>
                  <a:pt x="154781" y="59531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56" name="Text 54"/>
          <p:cNvSpPr/>
          <p:nvPr/>
        </p:nvSpPr>
        <p:spPr>
          <a:xfrm>
            <a:off x="8241745" y="4880611"/>
            <a:ext cx="514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mem0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9610963" y="3609975"/>
            <a:ext cx="178594" cy="285750"/>
          </a:xfrm>
          <a:custGeom>
            <a:avLst/>
            <a:gdLst/>
            <a:ahLst/>
            <a:cxnLst/>
            <a:rect l="l" t="t" r="r" b="b"/>
            <a:pathLst>
              <a:path w="178594" h="285750">
                <a:moveTo>
                  <a:pt x="173627" y="130262"/>
                </a:moveTo>
                <a:cubicBezTo>
                  <a:pt x="180603" y="137238"/>
                  <a:pt x="180603" y="148568"/>
                  <a:pt x="173627" y="155544"/>
                </a:cubicBezTo>
                <a:lnTo>
                  <a:pt x="66470" y="262700"/>
                </a:lnTo>
                <a:cubicBezTo>
                  <a:pt x="59494" y="269677"/>
                  <a:pt x="48165" y="269677"/>
                  <a:pt x="41188" y="262700"/>
                </a:cubicBezTo>
                <a:cubicBezTo>
                  <a:pt x="34212" y="255724"/>
                  <a:pt x="34212" y="244394"/>
                  <a:pt x="41188" y="237418"/>
                </a:cubicBezTo>
                <a:lnTo>
                  <a:pt x="135731" y="142875"/>
                </a:lnTo>
                <a:lnTo>
                  <a:pt x="41244" y="48332"/>
                </a:lnTo>
                <a:cubicBezTo>
                  <a:pt x="34268" y="41356"/>
                  <a:pt x="34268" y="30026"/>
                  <a:pt x="41244" y="23050"/>
                </a:cubicBezTo>
                <a:cubicBezTo>
                  <a:pt x="48220" y="16073"/>
                  <a:pt x="59550" y="16073"/>
                  <a:pt x="66526" y="23050"/>
                </a:cubicBezTo>
                <a:lnTo>
                  <a:pt x="173682" y="130206"/>
                </a:lnTo>
                <a:close/>
              </a:path>
            </a:pathLst>
          </a:custGeom>
          <a:solidFill>
            <a:srgbClr val="F8FAFC">
              <a:alpha val="4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0495836" y="1882140"/>
            <a:ext cx="807720" cy="274320"/>
          </a:xfrm>
          <a:prstGeom prst="roundRect">
            <a:avLst>
              <a:gd name="adj" fmla="val 50000"/>
            </a:avLst>
          </a:prstGeom>
          <a:solidFill>
            <a:srgbClr val="10B981">
              <a:alpha val="14902"/>
            </a:srgbClr>
          </a:solidFill>
          <a:ln w="1016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613946" y="19812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60" name="Text 58"/>
          <p:cNvSpPr/>
          <p:nvPr/>
        </p:nvSpPr>
        <p:spPr>
          <a:xfrm>
            <a:off x="10733009" y="1924050"/>
            <a:ext cx="485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Layer 5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9998393" y="2282190"/>
            <a:ext cx="1805940" cy="3339465"/>
          </a:xfrm>
          <a:prstGeom prst="roundRect">
            <a:avLst>
              <a:gd name="adj" fmla="val 6329"/>
            </a:avLst>
          </a:prstGeom>
          <a:gradFill flip="none" rotWithShape="1">
            <a:gsLst>
              <a:gs pos="0">
                <a:srgbClr val="10B981">
                  <a:alpha val="15000"/>
                </a:srgbClr>
              </a:gs>
              <a:gs pos="100000">
                <a:srgbClr val="10B981">
                  <a:alpha val="5000"/>
                </a:srgbClr>
              </a:gs>
            </a:gsLst>
            <a:lin ang="5400000" scaled="1"/>
          </a:gradFill>
          <a:ln w="2032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110788" y="3124200"/>
            <a:ext cx="158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10162223" y="3547110"/>
            <a:ext cx="1474470" cy="1226820"/>
          </a:xfrm>
          <a:prstGeom prst="roundRect">
            <a:avLst>
              <a:gd name="adj" fmla="val 6211"/>
            </a:avLst>
          </a:prstGeom>
          <a:solidFill>
            <a:srgbClr val="0B0F19">
              <a:alpha val="80000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302955" y="401764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50031" y="114858"/>
                </a:moveTo>
                <a:cubicBezTo>
                  <a:pt x="241771" y="120328"/>
                  <a:pt x="232283" y="124737"/>
                  <a:pt x="222405" y="128253"/>
                </a:cubicBezTo>
                <a:cubicBezTo>
                  <a:pt x="196174" y="137629"/>
                  <a:pt x="161739" y="142875"/>
                  <a:pt x="125016" y="142875"/>
                </a:cubicBezTo>
                <a:cubicBezTo>
                  <a:pt x="88292" y="142875"/>
                  <a:pt x="53801" y="137573"/>
                  <a:pt x="27626" y="128253"/>
                </a:cubicBezTo>
                <a:cubicBezTo>
                  <a:pt x="17804" y="124737"/>
                  <a:pt x="8260" y="120328"/>
                  <a:pt x="0" y="114858"/>
                </a:cubicBezTo>
                <a:lnTo>
                  <a:pt x="0" y="160734"/>
                </a:lnTo>
                <a:cubicBezTo>
                  <a:pt x="0" y="185403"/>
                  <a:pt x="55978" y="205383"/>
                  <a:pt x="125016" y="205383"/>
                </a:cubicBezTo>
                <a:cubicBezTo>
                  <a:pt x="194053" y="205383"/>
                  <a:pt x="250031" y="185403"/>
                  <a:pt x="250031" y="160734"/>
                </a:cubicBezTo>
                <a:lnTo>
                  <a:pt x="250031" y="114858"/>
                </a:lnTo>
                <a:close/>
                <a:moveTo>
                  <a:pt x="250031" y="71438"/>
                </a:moveTo>
                <a:lnTo>
                  <a:pt x="250031" y="44648"/>
                </a:lnTo>
                <a:cubicBezTo>
                  <a:pt x="250031" y="19980"/>
                  <a:pt x="194053" y="0"/>
                  <a:pt x="125016" y="0"/>
                </a:cubicBezTo>
                <a:cubicBezTo>
                  <a:pt x="55978" y="0"/>
                  <a:pt x="0" y="19980"/>
                  <a:pt x="0" y="44648"/>
                </a:cubicBezTo>
                <a:lnTo>
                  <a:pt x="0" y="71438"/>
                </a:lnTo>
                <a:cubicBezTo>
                  <a:pt x="0" y="96106"/>
                  <a:pt x="55978" y="116086"/>
                  <a:pt x="125016" y="116086"/>
                </a:cubicBezTo>
                <a:cubicBezTo>
                  <a:pt x="194053" y="116086"/>
                  <a:pt x="250031" y="96106"/>
                  <a:pt x="250031" y="71438"/>
                </a:cubicBezTo>
                <a:close/>
                <a:moveTo>
                  <a:pt x="222405" y="217550"/>
                </a:moveTo>
                <a:cubicBezTo>
                  <a:pt x="196230" y="226870"/>
                  <a:pt x="161795" y="232172"/>
                  <a:pt x="125016" y="232172"/>
                </a:cubicBezTo>
                <a:cubicBezTo>
                  <a:pt x="88236" y="232172"/>
                  <a:pt x="53801" y="226870"/>
                  <a:pt x="27626" y="217550"/>
                </a:cubicBezTo>
                <a:cubicBezTo>
                  <a:pt x="17804" y="214033"/>
                  <a:pt x="8260" y="209624"/>
                  <a:pt x="0" y="204155"/>
                </a:cubicBezTo>
                <a:lnTo>
                  <a:pt x="0" y="241102"/>
                </a:lnTo>
                <a:cubicBezTo>
                  <a:pt x="0" y="265770"/>
                  <a:pt x="55978" y="285750"/>
                  <a:pt x="125016" y="285750"/>
                </a:cubicBezTo>
                <a:cubicBezTo>
                  <a:pt x="194053" y="285750"/>
                  <a:pt x="250031" y="265770"/>
                  <a:pt x="250031" y="241102"/>
                </a:cubicBezTo>
                <a:lnTo>
                  <a:pt x="250031" y="204155"/>
                </a:lnTo>
                <a:cubicBezTo>
                  <a:pt x="241771" y="209624"/>
                  <a:pt x="232283" y="214033"/>
                  <a:pt x="222405" y="21755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5" name="Text 63"/>
          <p:cNvSpPr/>
          <p:nvPr/>
        </p:nvSpPr>
        <p:spPr>
          <a:xfrm>
            <a:off x="10656094" y="3703320"/>
            <a:ext cx="914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SQLite Database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0656094" y="4236720"/>
            <a:ext cx="895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Persistent local storage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3339941" y="63246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68" name="Text 66"/>
          <p:cNvSpPr/>
          <p:nvPr/>
        </p:nvSpPr>
        <p:spPr>
          <a:xfrm>
            <a:off x="3530441" y="6286500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Interface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4567952" y="63246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70" name="Text 68"/>
          <p:cNvSpPr/>
          <p:nvPr/>
        </p:nvSpPr>
        <p:spPr>
          <a:xfrm>
            <a:off x="4758452" y="6286500"/>
            <a:ext cx="609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Layer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5529263" y="63246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/>
        </p:spPr>
      </p:sp>
      <p:sp>
        <p:nvSpPr>
          <p:cNvPr id="72" name="Text 70"/>
          <p:cNvSpPr/>
          <p:nvPr/>
        </p:nvSpPr>
        <p:spPr>
          <a:xfrm>
            <a:off x="5719763" y="6286500"/>
            <a:ext cx="76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Engine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6639878" y="63246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74" name="Text 72"/>
          <p:cNvSpPr/>
          <p:nvPr/>
        </p:nvSpPr>
        <p:spPr>
          <a:xfrm>
            <a:off x="6830378" y="6286500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External Services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8043386" y="63246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76" name="Text 74"/>
          <p:cNvSpPr/>
          <p:nvPr/>
        </p:nvSpPr>
        <p:spPr>
          <a:xfrm>
            <a:off x="8233886" y="6286500"/>
            <a:ext cx="68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Layer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hotos.peopleimages.com/picture/202304/2809796-brain-pattern-ai-generated-and-digital-graphic-of-intelligence-and-neuroscience.-isolated-dark-background-and-no-people-with-neuro-connection-and-futuristic-artificial-intelligence-data-fit_400_400.jpg"/>
          <p:cNvPicPr>
            <a:picLocks noChangeAspect="1"/>
          </p:cNvPicPr>
          <p:nvPr/>
        </p:nvPicPr>
        <p:blipFill>
          <a:blip r:embed="rId3">
            <a:alphaModFix amt="15000"/>
          </a:blip>
          <a:srcRect l="6444" r="644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B0F19">
                  <a:alpha val="95000"/>
                </a:srgbClr>
              </a:gs>
              <a:gs pos="100000">
                <a:srgbClr val="0B0F19">
                  <a:alpha val="9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190053" y="384810"/>
            <a:ext cx="1807845" cy="312420"/>
          </a:xfrm>
          <a:prstGeom prst="roundRect">
            <a:avLst>
              <a:gd name="adj" fmla="val 50000"/>
            </a:avLst>
          </a:prstGeom>
          <a:solidFill>
            <a:srgbClr val="A855F7">
              <a:alpha val="10196"/>
            </a:srgbClr>
          </a:solidFill>
          <a:ln w="10160">
            <a:solidFill>
              <a:srgbClr val="A855F7">
                <a:alpha val="30196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365314" y="46482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23813"/>
                </a:moveTo>
                <a:cubicBezTo>
                  <a:pt x="0" y="15925"/>
                  <a:pt x="6400" y="9525"/>
                  <a:pt x="14288" y="9525"/>
                </a:cubicBezTo>
                <a:lnTo>
                  <a:pt x="42863" y="9525"/>
                </a:lnTo>
                <a:cubicBezTo>
                  <a:pt x="50750" y="9525"/>
                  <a:pt x="57150" y="15925"/>
                  <a:pt x="57150" y="23813"/>
                </a:cubicBezTo>
                <a:lnTo>
                  <a:pt x="57150" y="28575"/>
                </a:lnTo>
                <a:lnTo>
                  <a:pt x="95250" y="28575"/>
                </a:lnTo>
                <a:lnTo>
                  <a:pt x="95250" y="23813"/>
                </a:lnTo>
                <a:cubicBezTo>
                  <a:pt x="95250" y="15925"/>
                  <a:pt x="101650" y="9525"/>
                  <a:pt x="109537" y="9525"/>
                </a:cubicBezTo>
                <a:lnTo>
                  <a:pt x="138113" y="9525"/>
                </a:lnTo>
                <a:cubicBezTo>
                  <a:pt x="146000" y="9525"/>
                  <a:pt x="152400" y="15925"/>
                  <a:pt x="152400" y="23813"/>
                </a:cubicBezTo>
                <a:lnTo>
                  <a:pt x="152400" y="52388"/>
                </a:lnTo>
                <a:cubicBezTo>
                  <a:pt x="152400" y="60275"/>
                  <a:pt x="146000" y="66675"/>
                  <a:pt x="138113" y="66675"/>
                </a:cubicBezTo>
                <a:lnTo>
                  <a:pt x="109537" y="66675"/>
                </a:lnTo>
                <a:cubicBezTo>
                  <a:pt x="101650" y="66675"/>
                  <a:pt x="95250" y="60275"/>
                  <a:pt x="95250" y="52388"/>
                </a:cubicBezTo>
                <a:lnTo>
                  <a:pt x="95250" y="47625"/>
                </a:lnTo>
                <a:lnTo>
                  <a:pt x="57150" y="47625"/>
                </a:lnTo>
                <a:lnTo>
                  <a:pt x="57150" y="52388"/>
                </a:lnTo>
                <a:cubicBezTo>
                  <a:pt x="57150" y="54560"/>
                  <a:pt x="56644" y="56644"/>
                  <a:pt x="55781" y="58489"/>
                </a:cubicBezTo>
                <a:lnTo>
                  <a:pt x="76200" y="85725"/>
                </a:lnTo>
                <a:lnTo>
                  <a:pt x="100013" y="85725"/>
                </a:lnTo>
                <a:cubicBezTo>
                  <a:pt x="107900" y="85725"/>
                  <a:pt x="114300" y="92125"/>
                  <a:pt x="114300" y="100013"/>
                </a:cubicBezTo>
                <a:lnTo>
                  <a:pt x="114300" y="128588"/>
                </a:lnTo>
                <a:cubicBezTo>
                  <a:pt x="114300" y="136475"/>
                  <a:pt x="107900" y="142875"/>
                  <a:pt x="100013" y="142875"/>
                </a:cubicBezTo>
                <a:lnTo>
                  <a:pt x="71438" y="142875"/>
                </a:lnTo>
                <a:cubicBezTo>
                  <a:pt x="63550" y="142875"/>
                  <a:pt x="57150" y="136475"/>
                  <a:pt x="57150" y="128588"/>
                </a:cubicBezTo>
                <a:lnTo>
                  <a:pt x="57150" y="100013"/>
                </a:lnTo>
                <a:cubicBezTo>
                  <a:pt x="57150" y="97840"/>
                  <a:pt x="57656" y="95756"/>
                  <a:pt x="58519" y="93911"/>
                </a:cubicBezTo>
                <a:lnTo>
                  <a:pt x="38100" y="66675"/>
                </a:lnTo>
                <a:lnTo>
                  <a:pt x="14288" y="66675"/>
                </a:lnTo>
                <a:cubicBezTo>
                  <a:pt x="6400" y="66675"/>
                  <a:pt x="0" y="60275"/>
                  <a:pt x="0" y="52388"/>
                </a:cubicBezTo>
                <a:lnTo>
                  <a:pt x="0" y="23813"/>
                </a:lnTo>
                <a:close/>
              </a:path>
            </a:pathLst>
          </a:custGeom>
          <a:solidFill>
            <a:srgbClr val="A855F7"/>
          </a:solidFill>
          <a:ln/>
        </p:spPr>
      </p:sp>
      <p:sp>
        <p:nvSpPr>
          <p:cNvPr id="6" name="Text 3"/>
          <p:cNvSpPr/>
          <p:nvPr/>
        </p:nvSpPr>
        <p:spPr>
          <a:xfrm>
            <a:off x="5579626" y="445770"/>
            <a:ext cx="129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kern="0" spc="53" dirty="0">
                <a:solidFill>
                  <a:srgbClr val="A85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Workflow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66700" y="815341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3-Stage Intelligence Pipeline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38138" y="1348741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ContentBoost AI transforms raw inputs into optimized copy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905000" y="2038350"/>
            <a:ext cx="609600" cy="609600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6366F1"/>
              </a:gs>
              <a:gs pos="100000">
                <a:srgbClr val="A855F7"/>
              </a:gs>
            </a:gsLst>
            <a:lin ang="2700000" scaled="1"/>
          </a:gra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990011" y="2171700"/>
            <a:ext cx="438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23850" y="2762250"/>
            <a:ext cx="3771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Competitor Intelligence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905000" y="3143134"/>
            <a:ext cx="609600" cy="381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6366F1"/>
              </a:gs>
              <a:gs pos="100000">
                <a:srgbClr val="A855F7"/>
              </a:gs>
            </a:gsLst>
            <a:lin ang="0" scaled="1"/>
          </a:gradFill>
          <a:ln/>
        </p:spPr>
      </p:sp>
      <p:sp>
        <p:nvSpPr>
          <p:cNvPr id="13" name="Shape 10"/>
          <p:cNvSpPr/>
          <p:nvPr/>
        </p:nvSpPr>
        <p:spPr>
          <a:xfrm>
            <a:off x="384810" y="3337444"/>
            <a:ext cx="3646170" cy="2484120"/>
          </a:xfrm>
          <a:prstGeom prst="roundRect">
            <a:avLst>
              <a:gd name="adj" fmla="val 4601"/>
            </a:avLst>
          </a:prstGeom>
          <a:gradFill flip="none" rotWithShape="1">
            <a:gsLst>
              <a:gs pos="0">
                <a:srgbClr val="6366F1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9120" y="3531752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6366F1">
              <a:alpha val="2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693420" y="364605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5738" y="92869"/>
                </a:moveTo>
                <a:cubicBezTo>
                  <a:pt x="185738" y="113362"/>
                  <a:pt x="179085" y="132293"/>
                  <a:pt x="167878" y="147652"/>
                </a:cubicBezTo>
                <a:lnTo>
                  <a:pt x="224403" y="204222"/>
                </a:lnTo>
                <a:cubicBezTo>
                  <a:pt x="229984" y="209803"/>
                  <a:pt x="229984" y="218867"/>
                  <a:pt x="224403" y="224448"/>
                </a:cubicBezTo>
                <a:cubicBezTo>
                  <a:pt x="218822" y="230029"/>
                  <a:pt x="209758" y="230029"/>
                  <a:pt x="204177" y="224448"/>
                </a:cubicBezTo>
                <a:lnTo>
                  <a:pt x="147652" y="167878"/>
                </a:lnTo>
                <a:cubicBezTo>
                  <a:pt x="132293" y="179085"/>
                  <a:pt x="113362" y="185738"/>
                  <a:pt x="92869" y="185738"/>
                </a:cubicBezTo>
                <a:cubicBezTo>
                  <a:pt x="41568" y="185738"/>
                  <a:pt x="0" y="144170"/>
                  <a:pt x="0" y="92869"/>
                </a:cubicBezTo>
                <a:cubicBezTo>
                  <a:pt x="0" y="41568"/>
                  <a:pt x="41568" y="0"/>
                  <a:pt x="92869" y="0"/>
                </a:cubicBezTo>
                <a:cubicBezTo>
                  <a:pt x="144170" y="0"/>
                  <a:pt x="185738" y="41568"/>
                  <a:pt x="185738" y="92869"/>
                </a:cubicBezTo>
                <a:close/>
                <a:moveTo>
                  <a:pt x="92869" y="50006"/>
                </a:moveTo>
                <a:cubicBezTo>
                  <a:pt x="86931" y="50006"/>
                  <a:pt x="82153" y="54784"/>
                  <a:pt x="82153" y="60722"/>
                </a:cubicBezTo>
                <a:lnTo>
                  <a:pt x="82153" y="82153"/>
                </a:lnTo>
                <a:lnTo>
                  <a:pt x="60722" y="82153"/>
                </a:lnTo>
                <a:cubicBezTo>
                  <a:pt x="54784" y="82153"/>
                  <a:pt x="50006" y="86931"/>
                  <a:pt x="50006" y="92869"/>
                </a:cubicBezTo>
                <a:cubicBezTo>
                  <a:pt x="50006" y="98807"/>
                  <a:pt x="54784" y="103584"/>
                  <a:pt x="60722" y="103584"/>
                </a:cubicBezTo>
                <a:lnTo>
                  <a:pt x="82153" y="103584"/>
                </a:lnTo>
                <a:lnTo>
                  <a:pt x="82153" y="125016"/>
                </a:lnTo>
                <a:cubicBezTo>
                  <a:pt x="82153" y="130954"/>
                  <a:pt x="86931" y="135731"/>
                  <a:pt x="92869" y="135731"/>
                </a:cubicBezTo>
                <a:cubicBezTo>
                  <a:pt x="98807" y="135731"/>
                  <a:pt x="103584" y="130954"/>
                  <a:pt x="103584" y="125016"/>
                </a:cubicBezTo>
                <a:lnTo>
                  <a:pt x="103584" y="103584"/>
                </a:lnTo>
                <a:lnTo>
                  <a:pt x="125016" y="103584"/>
                </a:lnTo>
                <a:cubicBezTo>
                  <a:pt x="130954" y="103584"/>
                  <a:pt x="135731" y="98807"/>
                  <a:pt x="135731" y="92869"/>
                </a:cubicBezTo>
                <a:cubicBezTo>
                  <a:pt x="135731" y="86931"/>
                  <a:pt x="130954" y="82153"/>
                  <a:pt x="125016" y="82153"/>
                </a:cubicBezTo>
                <a:lnTo>
                  <a:pt x="103584" y="82153"/>
                </a:lnTo>
                <a:lnTo>
                  <a:pt x="103584" y="60722"/>
                </a:lnTo>
                <a:cubicBezTo>
                  <a:pt x="103584" y="54784"/>
                  <a:pt x="98807" y="50006"/>
                  <a:pt x="92869" y="5000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6" name="Text 13"/>
          <p:cNvSpPr/>
          <p:nvPr/>
        </p:nvSpPr>
        <p:spPr>
          <a:xfrm>
            <a:off x="1150620" y="3531752"/>
            <a:ext cx="1457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Firecrawl + Claude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50620" y="3798452"/>
            <a:ext cx="1438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 extraction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98170" y="417945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9" name="Text 16"/>
          <p:cNvSpPr/>
          <p:nvPr/>
        </p:nvSpPr>
        <p:spPr>
          <a:xfrm>
            <a:off x="883920" y="4141352"/>
            <a:ext cx="3028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Scrapes up to </a:t>
            </a:r>
            <a:r>
              <a:rPr lang="en-US" sz="1200" b="1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competitor URLs</a:t>
            </a:r>
            <a:r>
              <a:rPr lang="en-US" sz="1200" dirty="0">
                <a:solidFill>
                  <a:srgbClr val="F8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automatically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98170" y="475095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1" name="Text 18"/>
          <p:cNvSpPr/>
          <p:nvPr/>
        </p:nvSpPr>
        <p:spPr>
          <a:xfrm>
            <a:off x="883920" y="4712852"/>
            <a:ext cx="2505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Extracts </a:t>
            </a:r>
            <a:r>
              <a:rPr lang="en-US" sz="1200" b="1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USPs</a:t>
            </a:r>
            <a:r>
              <a:rPr lang="en-US" sz="1200" dirty="0">
                <a:solidFill>
                  <a:srgbClr val="F8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unique positioning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98170" y="509385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3" name="Text 20"/>
          <p:cNvSpPr/>
          <p:nvPr/>
        </p:nvSpPr>
        <p:spPr>
          <a:xfrm>
            <a:off x="883920" y="5055752"/>
            <a:ext cx="2247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Analyzes </a:t>
            </a:r>
            <a:r>
              <a:rPr lang="en-US" sz="1200" b="1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tone and voice patterns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98170" y="543675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5" name="Text 22"/>
          <p:cNvSpPr/>
          <p:nvPr/>
        </p:nvSpPr>
        <p:spPr>
          <a:xfrm>
            <a:off x="883920" y="5398652"/>
            <a:ext cx="2838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Identifies </a:t>
            </a:r>
            <a:r>
              <a:rPr lang="en-US" sz="1200" b="1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keyword gaps</a:t>
            </a:r>
            <a:r>
              <a:rPr lang="en-US" sz="1200" dirty="0">
                <a:solidFill>
                  <a:srgbClr val="F8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opportunities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2105025" y="5977770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94543" y="280504"/>
                </a:moveTo>
                <a:cubicBezTo>
                  <a:pt x="101519" y="287480"/>
                  <a:pt x="112849" y="287480"/>
                  <a:pt x="119825" y="280504"/>
                </a:cubicBezTo>
                <a:lnTo>
                  <a:pt x="209122" y="191207"/>
                </a:lnTo>
                <a:cubicBezTo>
                  <a:pt x="216098" y="184231"/>
                  <a:pt x="216098" y="172901"/>
                  <a:pt x="209122" y="165925"/>
                </a:cubicBezTo>
                <a:cubicBezTo>
                  <a:pt x="202146" y="158948"/>
                  <a:pt x="190816" y="158948"/>
                  <a:pt x="183840" y="165925"/>
                </a:cubicBezTo>
                <a:lnTo>
                  <a:pt x="125016" y="224749"/>
                </a:lnTo>
                <a:lnTo>
                  <a:pt x="125016" y="17859"/>
                </a:lnTo>
                <a:cubicBezTo>
                  <a:pt x="125016" y="7981"/>
                  <a:pt x="117035" y="0"/>
                  <a:pt x="107156" y="0"/>
                </a:cubicBezTo>
                <a:cubicBezTo>
                  <a:pt x="97278" y="0"/>
                  <a:pt x="89297" y="7981"/>
                  <a:pt x="89297" y="17859"/>
                </a:cubicBezTo>
                <a:lnTo>
                  <a:pt x="89297" y="224749"/>
                </a:lnTo>
                <a:lnTo>
                  <a:pt x="30473" y="165925"/>
                </a:lnTo>
                <a:cubicBezTo>
                  <a:pt x="23496" y="158948"/>
                  <a:pt x="12167" y="158948"/>
                  <a:pt x="5190" y="165925"/>
                </a:cubicBezTo>
                <a:cubicBezTo>
                  <a:pt x="-1786" y="172901"/>
                  <a:pt x="-1786" y="184231"/>
                  <a:pt x="5190" y="191207"/>
                </a:cubicBezTo>
                <a:lnTo>
                  <a:pt x="94487" y="280504"/>
                </a:lnTo>
                <a:close/>
              </a:path>
            </a:pathLst>
          </a:custGeom>
          <a:solidFill>
            <a:srgbClr val="6366F1">
              <a:alpha val="60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5791200" y="2038350"/>
            <a:ext cx="609600" cy="609600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A855F7"/>
              </a:gs>
              <a:gs pos="100000">
                <a:srgbClr val="22D3EE"/>
              </a:gs>
            </a:gsLst>
            <a:lin ang="2700000" scaled="1"/>
          </a:gra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850374" y="2171700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210050" y="2762250"/>
            <a:ext cx="3771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Memory Context Retrieval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791200" y="3143134"/>
            <a:ext cx="609600" cy="381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A855F7"/>
              </a:gs>
              <a:gs pos="100000">
                <a:srgbClr val="22D3EE"/>
              </a:gs>
            </a:gsLst>
            <a:lin ang="0" scaled="1"/>
          </a:gradFill>
          <a:ln/>
        </p:spPr>
      </p:sp>
      <p:sp>
        <p:nvSpPr>
          <p:cNvPr id="31" name="Shape 28"/>
          <p:cNvSpPr/>
          <p:nvPr/>
        </p:nvSpPr>
        <p:spPr>
          <a:xfrm>
            <a:off x="4271010" y="3337444"/>
            <a:ext cx="3646170" cy="2484120"/>
          </a:xfrm>
          <a:prstGeom prst="roundRect">
            <a:avLst>
              <a:gd name="adj" fmla="val 4601"/>
            </a:avLst>
          </a:prstGeom>
          <a:gradFill flip="none" rotWithShape="1">
            <a:gsLst>
              <a:gs pos="0">
                <a:srgbClr val="A855F7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 w="10160">
            <a:solidFill>
              <a:srgbClr val="A855F7">
                <a:alpha val="30196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465320" y="3531752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A855F7">
              <a:alpha val="20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4579620" y="364605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A855F7"/>
          </a:solidFill>
          <a:ln/>
        </p:spPr>
      </p:sp>
      <p:sp>
        <p:nvSpPr>
          <p:cNvPr id="34" name="Text 31"/>
          <p:cNvSpPr/>
          <p:nvPr/>
        </p:nvSpPr>
        <p:spPr>
          <a:xfrm>
            <a:off x="5036820" y="3531752"/>
            <a:ext cx="1790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A85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mem0 Vector Memory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036820" y="3798452"/>
            <a:ext cx="1771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Semantic retrieval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4484370" y="417945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A855F7"/>
          </a:solidFill>
          <a:ln/>
        </p:spPr>
      </p:sp>
      <p:sp>
        <p:nvSpPr>
          <p:cNvPr id="37" name="Text 34"/>
          <p:cNvSpPr/>
          <p:nvPr/>
        </p:nvSpPr>
        <p:spPr>
          <a:xfrm>
            <a:off x="4770120" y="4141352"/>
            <a:ext cx="2466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Queries </a:t>
            </a:r>
            <a:r>
              <a:rPr lang="en-US" sz="1200" b="1" dirty="0">
                <a:solidFill>
                  <a:srgbClr val="A85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past successful descriptions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4484370" y="452235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A855F7"/>
          </a:solidFill>
          <a:ln/>
        </p:spPr>
      </p:sp>
      <p:sp>
        <p:nvSpPr>
          <p:cNvPr id="39" name="Text 36"/>
          <p:cNvSpPr/>
          <p:nvPr/>
        </p:nvSpPr>
        <p:spPr>
          <a:xfrm>
            <a:off x="4770120" y="4484252"/>
            <a:ext cx="2695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Retrieves by </a:t>
            </a:r>
            <a:r>
              <a:rPr lang="en-US" sz="1200" b="1" dirty="0">
                <a:solidFill>
                  <a:srgbClr val="A85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 category similarity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4484370" y="486525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A855F7"/>
          </a:solidFill>
          <a:ln/>
        </p:spPr>
      </p:sp>
      <p:sp>
        <p:nvSpPr>
          <p:cNvPr id="41" name="Text 38"/>
          <p:cNvSpPr/>
          <p:nvPr/>
        </p:nvSpPr>
        <p:spPr>
          <a:xfrm>
            <a:off x="4770120" y="4827152"/>
            <a:ext cx="2657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Matches </a:t>
            </a:r>
            <a:r>
              <a:rPr lang="en-US" sz="1200" b="1" dirty="0">
                <a:solidFill>
                  <a:srgbClr val="A85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keyword patterns</a:t>
            </a:r>
            <a:r>
              <a:rPr lang="en-US" sz="1200" dirty="0">
                <a:solidFill>
                  <a:srgbClr val="F8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context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4484370" y="520815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A855F7"/>
          </a:solidFill>
          <a:ln/>
        </p:spPr>
      </p:sp>
      <p:sp>
        <p:nvSpPr>
          <p:cNvPr id="43" name="Text 40"/>
          <p:cNvSpPr/>
          <p:nvPr/>
        </p:nvSpPr>
        <p:spPr>
          <a:xfrm>
            <a:off x="4770120" y="5170052"/>
            <a:ext cx="2638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Returns </a:t>
            </a:r>
            <a:r>
              <a:rPr lang="en-US" sz="1200" b="1" dirty="0">
                <a:solidFill>
                  <a:srgbClr val="A85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relevant brand voice examples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5991225" y="5977770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94543" y="280504"/>
                </a:moveTo>
                <a:cubicBezTo>
                  <a:pt x="101519" y="287480"/>
                  <a:pt x="112849" y="287480"/>
                  <a:pt x="119825" y="280504"/>
                </a:cubicBezTo>
                <a:lnTo>
                  <a:pt x="209122" y="191207"/>
                </a:lnTo>
                <a:cubicBezTo>
                  <a:pt x="216098" y="184231"/>
                  <a:pt x="216098" y="172901"/>
                  <a:pt x="209122" y="165925"/>
                </a:cubicBezTo>
                <a:cubicBezTo>
                  <a:pt x="202146" y="158948"/>
                  <a:pt x="190816" y="158948"/>
                  <a:pt x="183840" y="165925"/>
                </a:cubicBezTo>
                <a:lnTo>
                  <a:pt x="125016" y="224749"/>
                </a:lnTo>
                <a:lnTo>
                  <a:pt x="125016" y="17859"/>
                </a:lnTo>
                <a:cubicBezTo>
                  <a:pt x="125016" y="7981"/>
                  <a:pt x="117035" y="0"/>
                  <a:pt x="107156" y="0"/>
                </a:cubicBezTo>
                <a:cubicBezTo>
                  <a:pt x="97278" y="0"/>
                  <a:pt x="89297" y="7981"/>
                  <a:pt x="89297" y="17859"/>
                </a:cubicBezTo>
                <a:lnTo>
                  <a:pt x="89297" y="224749"/>
                </a:lnTo>
                <a:lnTo>
                  <a:pt x="30473" y="165925"/>
                </a:lnTo>
                <a:cubicBezTo>
                  <a:pt x="23496" y="158948"/>
                  <a:pt x="12167" y="158948"/>
                  <a:pt x="5190" y="165925"/>
                </a:cubicBezTo>
                <a:cubicBezTo>
                  <a:pt x="-1786" y="172901"/>
                  <a:pt x="-1786" y="184231"/>
                  <a:pt x="5190" y="191207"/>
                </a:cubicBezTo>
                <a:lnTo>
                  <a:pt x="94487" y="280504"/>
                </a:lnTo>
                <a:close/>
              </a:path>
            </a:pathLst>
          </a:custGeom>
          <a:solidFill>
            <a:srgbClr val="A855F7">
              <a:alpha val="60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9677400" y="2038350"/>
            <a:ext cx="609600" cy="609600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2700000" scaled="1"/>
          </a:gra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46" name="Text 43"/>
          <p:cNvSpPr/>
          <p:nvPr/>
        </p:nvSpPr>
        <p:spPr>
          <a:xfrm>
            <a:off x="9735265" y="2171700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8096250" y="2762250"/>
            <a:ext cx="3771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Variant Generation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9677400" y="3143134"/>
            <a:ext cx="609600" cy="381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0" scaled="1"/>
          </a:gradFill>
          <a:ln/>
        </p:spPr>
      </p:sp>
      <p:sp>
        <p:nvSpPr>
          <p:cNvPr id="49" name="Shape 46"/>
          <p:cNvSpPr/>
          <p:nvPr/>
        </p:nvSpPr>
        <p:spPr>
          <a:xfrm>
            <a:off x="8157210" y="3337444"/>
            <a:ext cx="3646170" cy="2388870"/>
          </a:xfrm>
          <a:prstGeom prst="roundRect">
            <a:avLst>
              <a:gd name="adj" fmla="val 4785"/>
            </a:avLst>
          </a:prstGeom>
          <a:gradFill flip="none" rotWithShape="1">
            <a:gsLst>
              <a:gs pos="0">
                <a:srgbClr val="22D3EE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 w="10160">
            <a:solidFill>
              <a:srgbClr val="22D3EE">
                <a:alpha val="30196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8351520" y="3531752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2D3EE">
              <a:alpha val="20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8465820" y="364605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77924" y="5447"/>
                </a:moveTo>
                <a:lnTo>
                  <a:pt x="138544" y="44827"/>
                </a:lnTo>
                <a:lnTo>
                  <a:pt x="183773" y="90056"/>
                </a:lnTo>
                <a:lnTo>
                  <a:pt x="223153" y="50676"/>
                </a:lnTo>
                <a:cubicBezTo>
                  <a:pt x="226635" y="47149"/>
                  <a:pt x="228600" y="42416"/>
                  <a:pt x="228600" y="37505"/>
                </a:cubicBezTo>
                <a:cubicBezTo>
                  <a:pt x="228600" y="32593"/>
                  <a:pt x="226635" y="27861"/>
                  <a:pt x="223153" y="24333"/>
                </a:cubicBezTo>
                <a:lnTo>
                  <a:pt x="204267" y="5447"/>
                </a:lnTo>
                <a:cubicBezTo>
                  <a:pt x="200739" y="1965"/>
                  <a:pt x="196007" y="0"/>
                  <a:pt x="191095" y="0"/>
                </a:cubicBezTo>
                <a:cubicBezTo>
                  <a:pt x="186184" y="0"/>
                  <a:pt x="181451" y="1965"/>
                  <a:pt x="177924" y="5447"/>
                </a:cubicBezTo>
                <a:close/>
                <a:moveTo>
                  <a:pt x="123408" y="59963"/>
                </a:moveTo>
                <a:lnTo>
                  <a:pt x="5447" y="177924"/>
                </a:lnTo>
                <a:cubicBezTo>
                  <a:pt x="1965" y="181451"/>
                  <a:pt x="0" y="186184"/>
                  <a:pt x="0" y="191095"/>
                </a:cubicBezTo>
                <a:cubicBezTo>
                  <a:pt x="0" y="196007"/>
                  <a:pt x="1965" y="200739"/>
                  <a:pt x="5447" y="204267"/>
                </a:cubicBezTo>
                <a:lnTo>
                  <a:pt x="24333" y="223153"/>
                </a:lnTo>
                <a:cubicBezTo>
                  <a:pt x="27861" y="226635"/>
                  <a:pt x="32593" y="228600"/>
                  <a:pt x="37505" y="228600"/>
                </a:cubicBezTo>
                <a:cubicBezTo>
                  <a:pt x="42416" y="228600"/>
                  <a:pt x="47149" y="226635"/>
                  <a:pt x="50676" y="223153"/>
                </a:cubicBezTo>
                <a:lnTo>
                  <a:pt x="168637" y="105192"/>
                </a:lnTo>
                <a:lnTo>
                  <a:pt x="123408" y="59963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2" name="Text 49"/>
          <p:cNvSpPr/>
          <p:nvPr/>
        </p:nvSpPr>
        <p:spPr>
          <a:xfrm>
            <a:off x="8923020" y="3531752"/>
            <a:ext cx="1543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Claude Synthesis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8923020" y="3798452"/>
            <a:ext cx="152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Multi-strategy generation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8370570" y="417945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5" name="Text 52"/>
          <p:cNvSpPr/>
          <p:nvPr/>
        </p:nvSpPr>
        <p:spPr>
          <a:xfrm>
            <a:off x="8656320" y="4141352"/>
            <a:ext cx="2771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Synthesizes </a:t>
            </a:r>
            <a:r>
              <a:rPr lang="en-US" sz="1200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inputs</a:t>
            </a:r>
            <a:r>
              <a:rPr lang="en-US" sz="1200" dirty="0">
                <a:solidFill>
                  <a:srgbClr val="F8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into unified context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8370570" y="452235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7" name="Text 54"/>
          <p:cNvSpPr/>
          <p:nvPr/>
        </p:nvSpPr>
        <p:spPr>
          <a:xfrm>
            <a:off x="8656320" y="4484252"/>
            <a:ext cx="289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Generates </a:t>
            </a:r>
            <a:r>
              <a:rPr lang="en-US" sz="1200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optimized variants</a:t>
            </a:r>
            <a:r>
              <a:rPr lang="en-US" sz="1200" dirty="0">
                <a:solidFill>
                  <a:srgbClr val="F8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per request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8370570" y="486525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9" name="Text 56"/>
          <p:cNvSpPr/>
          <p:nvPr/>
        </p:nvSpPr>
        <p:spPr>
          <a:xfrm>
            <a:off x="8656320" y="4827152"/>
            <a:ext cx="2524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variant targets </a:t>
            </a:r>
            <a:r>
              <a:rPr lang="en-US" sz="1200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 strategy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8370570" y="520815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61" name="Text 58"/>
          <p:cNvSpPr/>
          <p:nvPr/>
        </p:nvSpPr>
        <p:spPr>
          <a:xfrm>
            <a:off x="8656320" y="5170052"/>
            <a:ext cx="2752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Outputs </a:t>
            </a:r>
            <a:r>
              <a:rPr lang="en-US" sz="1200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structured JSON</a:t>
            </a:r>
            <a:r>
              <a:rPr lang="en-US" sz="1200" dirty="0">
                <a:solidFill>
                  <a:srgbClr val="F8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consistency</a:t>
            </a:r>
            <a:endParaRPr lang="en-US" sz="1600" dirty="0"/>
          </a:p>
        </p:txBody>
      </p:sp>
      <p:sp>
        <p:nvSpPr>
          <p:cNvPr id="62" name="Shape 59"/>
          <p:cNvSpPr/>
          <p:nvPr/>
        </p:nvSpPr>
        <p:spPr>
          <a:xfrm>
            <a:off x="9059466" y="5890144"/>
            <a:ext cx="1845945" cy="3886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6366F1">
                  <a:alpha val="20000"/>
                </a:srgbClr>
              </a:gs>
              <a:gs pos="100000">
                <a:srgbClr val="A855F7">
                  <a:alpha val="20000"/>
                </a:srgbClr>
              </a:gs>
            </a:gsLst>
            <a:lin ang="0" scaled="1"/>
          </a:gradFill>
          <a:ln w="1016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9253776" y="6008252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74384" y="19883"/>
                </a:moveTo>
                <a:cubicBezTo>
                  <a:pt x="77480" y="15627"/>
                  <a:pt x="76527" y="9674"/>
                  <a:pt x="72271" y="6578"/>
                </a:cubicBezTo>
                <a:cubicBezTo>
                  <a:pt x="68014" y="3483"/>
                  <a:pt x="62061" y="4435"/>
                  <a:pt x="58966" y="8692"/>
                </a:cubicBezTo>
                <a:lnTo>
                  <a:pt x="27414" y="52060"/>
                </a:lnTo>
                <a:lnTo>
                  <a:pt x="16252" y="40898"/>
                </a:lnTo>
                <a:cubicBezTo>
                  <a:pt x="12531" y="37177"/>
                  <a:pt x="6489" y="37177"/>
                  <a:pt x="2768" y="40898"/>
                </a:cubicBezTo>
                <a:cubicBezTo>
                  <a:pt x="-952" y="44619"/>
                  <a:pt x="-952" y="50661"/>
                  <a:pt x="2768" y="54382"/>
                </a:cubicBezTo>
                <a:lnTo>
                  <a:pt x="21818" y="73432"/>
                </a:lnTo>
                <a:cubicBezTo>
                  <a:pt x="23783" y="75396"/>
                  <a:pt x="26521" y="76408"/>
                  <a:pt x="29289" y="76200"/>
                </a:cubicBezTo>
                <a:cubicBezTo>
                  <a:pt x="32058" y="75992"/>
                  <a:pt x="34617" y="74563"/>
                  <a:pt x="36255" y="72301"/>
                </a:cubicBezTo>
                <a:lnTo>
                  <a:pt x="74355" y="19913"/>
                </a:lnTo>
                <a:close/>
                <a:moveTo>
                  <a:pt x="112484" y="60365"/>
                </a:moveTo>
                <a:cubicBezTo>
                  <a:pt x="115580" y="56108"/>
                  <a:pt x="114627" y="50155"/>
                  <a:pt x="110371" y="47059"/>
                </a:cubicBezTo>
                <a:cubicBezTo>
                  <a:pt x="106114" y="43964"/>
                  <a:pt x="100161" y="44916"/>
                  <a:pt x="97066" y="49173"/>
                </a:cubicBezTo>
                <a:lnTo>
                  <a:pt x="46464" y="118735"/>
                </a:lnTo>
                <a:lnTo>
                  <a:pt x="25777" y="98048"/>
                </a:lnTo>
                <a:cubicBezTo>
                  <a:pt x="22056" y="94327"/>
                  <a:pt x="16014" y="94327"/>
                  <a:pt x="12293" y="98048"/>
                </a:cubicBezTo>
                <a:cubicBezTo>
                  <a:pt x="8572" y="101769"/>
                  <a:pt x="8572" y="107811"/>
                  <a:pt x="12293" y="111532"/>
                </a:cubicBezTo>
                <a:lnTo>
                  <a:pt x="40868" y="140107"/>
                </a:lnTo>
                <a:cubicBezTo>
                  <a:pt x="42833" y="142071"/>
                  <a:pt x="45571" y="143083"/>
                  <a:pt x="48339" y="142875"/>
                </a:cubicBezTo>
                <a:cubicBezTo>
                  <a:pt x="51108" y="142667"/>
                  <a:pt x="53667" y="141238"/>
                  <a:pt x="55305" y="138976"/>
                </a:cubicBezTo>
                <a:lnTo>
                  <a:pt x="112455" y="60394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64" name="Text 61"/>
          <p:cNvSpPr/>
          <p:nvPr/>
        </p:nvSpPr>
        <p:spPr>
          <a:xfrm>
            <a:off x="9444276" y="5970152"/>
            <a:ext cx="1343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SEO-Ready Output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96793" y="380647"/>
            <a:ext cx="1797708" cy="309040"/>
          </a:xfrm>
          <a:prstGeom prst="roundRect">
            <a:avLst>
              <a:gd name="adj" fmla="val 50000"/>
            </a:avLst>
          </a:pr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70157" y="459794"/>
            <a:ext cx="150751" cy="150751"/>
          </a:xfrm>
          <a:custGeom>
            <a:avLst/>
            <a:gdLst/>
            <a:ahLst/>
            <a:cxnLst/>
            <a:rect l="l" t="t" r="r" b="b"/>
            <a:pathLst>
              <a:path w="150751" h="150751">
                <a:moveTo>
                  <a:pt x="68456" y="1531"/>
                </a:moveTo>
                <a:cubicBezTo>
                  <a:pt x="72843" y="-501"/>
                  <a:pt x="77908" y="-501"/>
                  <a:pt x="82295" y="1531"/>
                </a:cubicBezTo>
                <a:lnTo>
                  <a:pt x="146659" y="31269"/>
                </a:lnTo>
                <a:cubicBezTo>
                  <a:pt x="149161" y="32417"/>
                  <a:pt x="150751" y="34920"/>
                  <a:pt x="150751" y="37688"/>
                </a:cubicBezTo>
                <a:cubicBezTo>
                  <a:pt x="150751" y="40455"/>
                  <a:pt x="149161" y="42958"/>
                  <a:pt x="146659" y="44106"/>
                </a:cubicBezTo>
                <a:lnTo>
                  <a:pt x="82295" y="73845"/>
                </a:lnTo>
                <a:cubicBezTo>
                  <a:pt x="77908" y="75876"/>
                  <a:pt x="72843" y="75876"/>
                  <a:pt x="68456" y="73845"/>
                </a:cubicBezTo>
                <a:lnTo>
                  <a:pt x="4093" y="44106"/>
                </a:lnTo>
                <a:cubicBezTo>
                  <a:pt x="1590" y="42929"/>
                  <a:pt x="0" y="40426"/>
                  <a:pt x="0" y="37688"/>
                </a:cubicBezTo>
                <a:cubicBezTo>
                  <a:pt x="0" y="34950"/>
                  <a:pt x="1590" y="32417"/>
                  <a:pt x="4093" y="31269"/>
                </a:cubicBezTo>
                <a:lnTo>
                  <a:pt x="68456" y="1531"/>
                </a:lnTo>
                <a:close/>
                <a:moveTo>
                  <a:pt x="14162" y="64305"/>
                </a:moveTo>
                <a:lnTo>
                  <a:pt x="62538" y="86652"/>
                </a:lnTo>
                <a:cubicBezTo>
                  <a:pt x="70694" y="90421"/>
                  <a:pt x="80087" y="90421"/>
                  <a:pt x="88242" y="86652"/>
                </a:cubicBezTo>
                <a:lnTo>
                  <a:pt x="136618" y="64305"/>
                </a:lnTo>
                <a:lnTo>
                  <a:pt x="146659" y="68957"/>
                </a:lnTo>
                <a:cubicBezTo>
                  <a:pt x="149161" y="70105"/>
                  <a:pt x="150751" y="72608"/>
                  <a:pt x="150751" y="75376"/>
                </a:cubicBezTo>
                <a:cubicBezTo>
                  <a:pt x="150751" y="78143"/>
                  <a:pt x="149161" y="80646"/>
                  <a:pt x="146659" y="81794"/>
                </a:cubicBezTo>
                <a:lnTo>
                  <a:pt x="82295" y="111532"/>
                </a:lnTo>
                <a:cubicBezTo>
                  <a:pt x="77908" y="113564"/>
                  <a:pt x="72843" y="113564"/>
                  <a:pt x="68456" y="111532"/>
                </a:cubicBezTo>
                <a:lnTo>
                  <a:pt x="4093" y="81794"/>
                </a:lnTo>
                <a:cubicBezTo>
                  <a:pt x="1590" y="80617"/>
                  <a:pt x="0" y="78114"/>
                  <a:pt x="0" y="75376"/>
                </a:cubicBezTo>
                <a:cubicBezTo>
                  <a:pt x="0" y="72637"/>
                  <a:pt x="1590" y="70105"/>
                  <a:pt x="4093" y="68957"/>
                </a:cubicBezTo>
                <a:lnTo>
                  <a:pt x="14133" y="64305"/>
                </a:lnTo>
                <a:close/>
                <a:moveTo>
                  <a:pt x="4093" y="106645"/>
                </a:moveTo>
                <a:lnTo>
                  <a:pt x="14133" y="101993"/>
                </a:lnTo>
                <a:lnTo>
                  <a:pt x="62509" y="124340"/>
                </a:lnTo>
                <a:cubicBezTo>
                  <a:pt x="70665" y="128109"/>
                  <a:pt x="80057" y="128109"/>
                  <a:pt x="88213" y="124340"/>
                </a:cubicBezTo>
                <a:lnTo>
                  <a:pt x="136589" y="101993"/>
                </a:lnTo>
                <a:lnTo>
                  <a:pt x="146629" y="106645"/>
                </a:lnTo>
                <a:cubicBezTo>
                  <a:pt x="149132" y="107793"/>
                  <a:pt x="150722" y="110296"/>
                  <a:pt x="150722" y="113063"/>
                </a:cubicBezTo>
                <a:cubicBezTo>
                  <a:pt x="150722" y="115831"/>
                  <a:pt x="149132" y="118334"/>
                  <a:pt x="146629" y="119482"/>
                </a:cubicBezTo>
                <a:lnTo>
                  <a:pt x="82265" y="149220"/>
                </a:lnTo>
                <a:cubicBezTo>
                  <a:pt x="77878" y="151252"/>
                  <a:pt x="72814" y="151252"/>
                  <a:pt x="68427" y="149220"/>
                </a:cubicBezTo>
                <a:lnTo>
                  <a:pt x="4093" y="119482"/>
                </a:lnTo>
                <a:cubicBezTo>
                  <a:pt x="1590" y="118304"/>
                  <a:pt x="0" y="115802"/>
                  <a:pt x="0" y="113063"/>
                </a:cubicBezTo>
                <a:cubicBezTo>
                  <a:pt x="0" y="110325"/>
                  <a:pt x="1590" y="107793"/>
                  <a:pt x="4093" y="10664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582151" y="440950"/>
            <a:ext cx="1290807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9" b="1" kern="0" spc="52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 Variants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63815" y="806520"/>
            <a:ext cx="11664371" cy="452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56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Variants. Three Strategies. One Click.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34479" y="1334149"/>
            <a:ext cx="11523042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generation produces three strategically different approaches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415" y="1793940"/>
            <a:ext cx="3670791" cy="5055817"/>
          </a:xfrm>
          <a:prstGeom prst="roundRect">
            <a:avLst>
              <a:gd name="adj" fmla="val 4107"/>
            </a:avLst>
          </a:prstGeom>
          <a:gradFill flip="none" rotWithShape="1">
            <a:gsLst>
              <a:gs pos="0">
                <a:srgbClr val="6366F1">
                  <a:alpha val="20000"/>
                </a:srgbClr>
              </a:gs>
              <a:gs pos="100000">
                <a:srgbClr val="6366F1">
                  <a:alpha val="5000"/>
                </a:srgbClr>
              </a:gs>
            </a:gsLst>
            <a:lin ang="5400000" scaled="1"/>
          </a:gradFill>
          <a:ln w="20320">
            <a:solidFill>
              <a:srgbClr val="6366F1">
                <a:alpha val="5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19251" y="1989917"/>
            <a:ext cx="603005" cy="603005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6366F1"/>
              </a:gs>
              <a:gs pos="100000">
                <a:srgbClr val="4F46E5"/>
              </a:gs>
            </a:gsLst>
            <a:lin ang="2700000" scaled="1"/>
          </a:gra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81779" y="2150090"/>
            <a:ext cx="282658" cy="282658"/>
          </a:xfrm>
          <a:custGeom>
            <a:avLst/>
            <a:gdLst/>
            <a:ahLst/>
            <a:cxnLst/>
            <a:rect l="l" t="t" r="r" b="b"/>
            <a:pathLst>
              <a:path w="282658" h="282658">
                <a:moveTo>
                  <a:pt x="229660" y="114830"/>
                </a:moveTo>
                <a:cubicBezTo>
                  <a:pt x="229660" y="140170"/>
                  <a:pt x="221434" y="163578"/>
                  <a:pt x="207577" y="182569"/>
                </a:cubicBezTo>
                <a:lnTo>
                  <a:pt x="277469" y="252516"/>
                </a:lnTo>
                <a:cubicBezTo>
                  <a:pt x="284370" y="259416"/>
                  <a:pt x="284370" y="270623"/>
                  <a:pt x="277469" y="277524"/>
                </a:cubicBezTo>
                <a:cubicBezTo>
                  <a:pt x="270568" y="284425"/>
                  <a:pt x="259361" y="284425"/>
                  <a:pt x="252460" y="277524"/>
                </a:cubicBezTo>
                <a:lnTo>
                  <a:pt x="182569" y="207577"/>
                </a:lnTo>
                <a:cubicBezTo>
                  <a:pt x="163578" y="221434"/>
                  <a:pt x="140170" y="229660"/>
                  <a:pt x="114830" y="229660"/>
                </a:cubicBezTo>
                <a:cubicBezTo>
                  <a:pt x="51397" y="229660"/>
                  <a:pt x="0" y="178263"/>
                  <a:pt x="0" y="114830"/>
                </a:cubicBezTo>
                <a:cubicBezTo>
                  <a:pt x="0" y="51397"/>
                  <a:pt x="51397" y="0"/>
                  <a:pt x="114830" y="0"/>
                </a:cubicBezTo>
                <a:cubicBezTo>
                  <a:pt x="178263" y="0"/>
                  <a:pt x="229660" y="51397"/>
                  <a:pt x="229660" y="114830"/>
                </a:cubicBezTo>
                <a:close/>
                <a:moveTo>
                  <a:pt x="114830" y="194328"/>
                </a:moveTo>
                <a:cubicBezTo>
                  <a:pt x="158706" y="194328"/>
                  <a:pt x="194328" y="158706"/>
                  <a:pt x="194328" y="114830"/>
                </a:cubicBezTo>
                <a:cubicBezTo>
                  <a:pt x="194328" y="70954"/>
                  <a:pt x="158706" y="35332"/>
                  <a:pt x="114830" y="35332"/>
                </a:cubicBezTo>
                <a:cubicBezTo>
                  <a:pt x="70954" y="35332"/>
                  <a:pt x="35332" y="70954"/>
                  <a:pt x="35332" y="114830"/>
                </a:cubicBezTo>
                <a:cubicBezTo>
                  <a:pt x="35332" y="158706"/>
                  <a:pt x="70954" y="194328"/>
                  <a:pt x="114830" y="19432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23860" y="2705985"/>
            <a:ext cx="3391901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8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SEO Focused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843875" y="3082743"/>
            <a:ext cx="753756" cy="3768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6366F1"/>
              </a:gs>
              <a:gs pos="100000">
                <a:srgbClr val="4F46E5"/>
              </a:gs>
            </a:gsLst>
            <a:lin ang="0" scaled="1"/>
          </a:gradFill>
          <a:ln/>
        </p:spPr>
      </p:sp>
      <p:sp>
        <p:nvSpPr>
          <p:cNvPr id="12" name="Text 10"/>
          <p:cNvSpPr/>
          <p:nvPr/>
        </p:nvSpPr>
        <p:spPr>
          <a:xfrm>
            <a:off x="580392" y="3271182"/>
            <a:ext cx="3354213" cy="73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F8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Maximizes search visibility and organic traffic potential through strategic keyword placement and technical optimization.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0392" y="4175689"/>
            <a:ext cx="301502" cy="301502"/>
          </a:xfrm>
          <a:prstGeom prst="roundRect">
            <a:avLst>
              <a:gd name="adj" fmla="val 25000"/>
            </a:avLst>
          </a:prstGeom>
          <a:solidFill>
            <a:srgbClr val="6366F1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55768" y="4251065"/>
            <a:ext cx="150751" cy="150751"/>
          </a:xfrm>
          <a:custGeom>
            <a:avLst/>
            <a:gdLst/>
            <a:ahLst/>
            <a:cxnLst/>
            <a:rect l="l" t="t" r="r" b="b"/>
            <a:pathLst>
              <a:path w="150751" h="150751">
                <a:moveTo>
                  <a:pt x="98930" y="103641"/>
                </a:moveTo>
                <a:cubicBezTo>
                  <a:pt x="127550" y="103641"/>
                  <a:pt x="150751" y="80440"/>
                  <a:pt x="150751" y="51821"/>
                </a:cubicBezTo>
                <a:cubicBezTo>
                  <a:pt x="150751" y="23202"/>
                  <a:pt x="127550" y="0"/>
                  <a:pt x="98930" y="0"/>
                </a:cubicBezTo>
                <a:cubicBezTo>
                  <a:pt x="70311" y="0"/>
                  <a:pt x="47110" y="23202"/>
                  <a:pt x="47110" y="51821"/>
                </a:cubicBezTo>
                <a:cubicBezTo>
                  <a:pt x="47110" y="57327"/>
                  <a:pt x="47964" y="62656"/>
                  <a:pt x="49554" y="67632"/>
                </a:cubicBezTo>
                <a:lnTo>
                  <a:pt x="2061" y="115124"/>
                </a:lnTo>
                <a:cubicBezTo>
                  <a:pt x="736" y="116449"/>
                  <a:pt x="0" y="118245"/>
                  <a:pt x="0" y="120130"/>
                </a:cubicBezTo>
                <a:lnTo>
                  <a:pt x="0" y="143685"/>
                </a:lnTo>
                <a:cubicBezTo>
                  <a:pt x="0" y="147601"/>
                  <a:pt x="3150" y="150751"/>
                  <a:pt x="7066" y="150751"/>
                </a:cubicBezTo>
                <a:lnTo>
                  <a:pt x="30621" y="150751"/>
                </a:lnTo>
                <a:cubicBezTo>
                  <a:pt x="34537" y="150751"/>
                  <a:pt x="37688" y="147601"/>
                  <a:pt x="37688" y="143685"/>
                </a:cubicBezTo>
                <a:lnTo>
                  <a:pt x="37688" y="131907"/>
                </a:lnTo>
                <a:lnTo>
                  <a:pt x="49465" y="131907"/>
                </a:lnTo>
                <a:cubicBezTo>
                  <a:pt x="53381" y="131907"/>
                  <a:pt x="56532" y="128757"/>
                  <a:pt x="56532" y="124841"/>
                </a:cubicBezTo>
                <a:lnTo>
                  <a:pt x="56532" y="113063"/>
                </a:lnTo>
                <a:lnTo>
                  <a:pt x="68309" y="113063"/>
                </a:lnTo>
                <a:cubicBezTo>
                  <a:pt x="70194" y="113063"/>
                  <a:pt x="71990" y="112327"/>
                  <a:pt x="73315" y="111002"/>
                </a:cubicBezTo>
                <a:lnTo>
                  <a:pt x="83119" y="101198"/>
                </a:lnTo>
                <a:cubicBezTo>
                  <a:pt x="88095" y="102788"/>
                  <a:pt x="93424" y="103641"/>
                  <a:pt x="98930" y="103641"/>
                </a:cubicBezTo>
                <a:close/>
                <a:moveTo>
                  <a:pt x="110708" y="28266"/>
                </a:moveTo>
                <a:cubicBezTo>
                  <a:pt x="117208" y="28266"/>
                  <a:pt x="122485" y="33543"/>
                  <a:pt x="122485" y="40043"/>
                </a:cubicBezTo>
                <a:cubicBezTo>
                  <a:pt x="122485" y="46543"/>
                  <a:pt x="117208" y="51821"/>
                  <a:pt x="110708" y="51821"/>
                </a:cubicBezTo>
                <a:cubicBezTo>
                  <a:pt x="104208" y="51821"/>
                  <a:pt x="98930" y="46543"/>
                  <a:pt x="98930" y="40043"/>
                </a:cubicBezTo>
                <a:cubicBezTo>
                  <a:pt x="98930" y="33543"/>
                  <a:pt x="104208" y="28266"/>
                  <a:pt x="110708" y="2826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994958" y="4156845"/>
            <a:ext cx="2572192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Keyword Density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94958" y="4382972"/>
            <a:ext cx="2562770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placement across all content fields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0392" y="4703318"/>
            <a:ext cx="301502" cy="301502"/>
          </a:xfrm>
          <a:prstGeom prst="roundRect">
            <a:avLst>
              <a:gd name="adj" fmla="val 25000"/>
            </a:avLst>
          </a:prstGeom>
          <a:solidFill>
            <a:srgbClr val="6366F1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46346" y="4778694"/>
            <a:ext cx="169595" cy="150751"/>
          </a:xfrm>
          <a:custGeom>
            <a:avLst/>
            <a:gdLst/>
            <a:ahLst/>
            <a:cxnLst/>
            <a:rect l="l" t="t" r="r" b="b"/>
            <a:pathLst>
              <a:path w="169595" h="150751">
                <a:moveTo>
                  <a:pt x="61567" y="151988"/>
                </a:moveTo>
                <a:cubicBezTo>
                  <a:pt x="56061" y="157494"/>
                  <a:pt x="47110" y="157494"/>
                  <a:pt x="41574" y="151988"/>
                </a:cubicBezTo>
                <a:lnTo>
                  <a:pt x="8274" y="118687"/>
                </a:lnTo>
                <a:cubicBezTo>
                  <a:pt x="2768" y="113181"/>
                  <a:pt x="2768" y="104230"/>
                  <a:pt x="8274" y="98695"/>
                </a:cubicBezTo>
                <a:lnTo>
                  <a:pt x="13279" y="93689"/>
                </a:lnTo>
                <a:lnTo>
                  <a:pt x="34920" y="115331"/>
                </a:lnTo>
                <a:cubicBezTo>
                  <a:pt x="37688" y="118098"/>
                  <a:pt x="42163" y="118098"/>
                  <a:pt x="44901" y="115331"/>
                </a:cubicBezTo>
                <a:cubicBezTo>
                  <a:pt x="47640" y="112563"/>
                  <a:pt x="47669" y="108087"/>
                  <a:pt x="44901" y="105349"/>
                </a:cubicBezTo>
                <a:lnTo>
                  <a:pt x="23260" y="83708"/>
                </a:lnTo>
                <a:lnTo>
                  <a:pt x="33242" y="73727"/>
                </a:lnTo>
                <a:lnTo>
                  <a:pt x="48229" y="88714"/>
                </a:lnTo>
                <a:cubicBezTo>
                  <a:pt x="50996" y="91481"/>
                  <a:pt x="55472" y="91481"/>
                  <a:pt x="58210" y="88714"/>
                </a:cubicBezTo>
                <a:cubicBezTo>
                  <a:pt x="60948" y="85946"/>
                  <a:pt x="60978" y="81470"/>
                  <a:pt x="58210" y="78732"/>
                </a:cubicBezTo>
                <a:lnTo>
                  <a:pt x="43223" y="63745"/>
                </a:lnTo>
                <a:lnTo>
                  <a:pt x="53205" y="53764"/>
                </a:lnTo>
                <a:lnTo>
                  <a:pt x="74846" y="75405"/>
                </a:lnTo>
                <a:cubicBezTo>
                  <a:pt x="77613" y="78173"/>
                  <a:pt x="82089" y="78173"/>
                  <a:pt x="84827" y="75405"/>
                </a:cubicBezTo>
                <a:cubicBezTo>
                  <a:pt x="87565" y="72637"/>
                  <a:pt x="87595" y="68162"/>
                  <a:pt x="84827" y="65424"/>
                </a:cubicBezTo>
                <a:lnTo>
                  <a:pt x="63186" y="43783"/>
                </a:lnTo>
                <a:lnTo>
                  <a:pt x="73167" y="33801"/>
                </a:lnTo>
                <a:lnTo>
                  <a:pt x="88154" y="48788"/>
                </a:lnTo>
                <a:cubicBezTo>
                  <a:pt x="90922" y="51556"/>
                  <a:pt x="95397" y="51556"/>
                  <a:pt x="98135" y="48788"/>
                </a:cubicBezTo>
                <a:cubicBezTo>
                  <a:pt x="100874" y="46020"/>
                  <a:pt x="100903" y="41545"/>
                  <a:pt x="98135" y="38807"/>
                </a:cubicBezTo>
                <a:lnTo>
                  <a:pt x="83149" y="23820"/>
                </a:lnTo>
                <a:lnTo>
                  <a:pt x="93130" y="13838"/>
                </a:lnTo>
                <a:lnTo>
                  <a:pt x="114771" y="35480"/>
                </a:lnTo>
                <a:cubicBezTo>
                  <a:pt x="117539" y="38247"/>
                  <a:pt x="122014" y="38247"/>
                  <a:pt x="124752" y="35480"/>
                </a:cubicBezTo>
                <a:cubicBezTo>
                  <a:pt x="127491" y="32712"/>
                  <a:pt x="127520" y="28236"/>
                  <a:pt x="124752" y="25498"/>
                </a:cubicBezTo>
                <a:lnTo>
                  <a:pt x="103111" y="3857"/>
                </a:lnTo>
                <a:lnTo>
                  <a:pt x="108117" y="-1148"/>
                </a:lnTo>
                <a:cubicBezTo>
                  <a:pt x="113623" y="-6654"/>
                  <a:pt x="122574" y="-6654"/>
                  <a:pt x="128109" y="-1148"/>
                </a:cubicBezTo>
                <a:lnTo>
                  <a:pt x="161498" y="32064"/>
                </a:lnTo>
                <a:cubicBezTo>
                  <a:pt x="167004" y="37570"/>
                  <a:pt x="167004" y="46521"/>
                  <a:pt x="161498" y="52056"/>
                </a:cubicBezTo>
                <a:lnTo>
                  <a:pt x="61567" y="151988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994958" y="4684474"/>
            <a:ext cx="1988031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Optimal Length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94958" y="4910601"/>
            <a:ext cx="1978609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150-300 words for ideal indexing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80392" y="5230947"/>
            <a:ext cx="301502" cy="301502"/>
          </a:xfrm>
          <a:prstGeom prst="roundRect">
            <a:avLst>
              <a:gd name="adj" fmla="val 25000"/>
            </a:avLst>
          </a:prstGeom>
          <a:solidFill>
            <a:srgbClr val="6366F1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55768" y="5306323"/>
            <a:ext cx="150751" cy="150751"/>
          </a:xfrm>
          <a:custGeom>
            <a:avLst/>
            <a:gdLst/>
            <a:ahLst/>
            <a:cxnLst/>
            <a:rect l="l" t="t" r="r" b="b"/>
            <a:pathLst>
              <a:path w="150751" h="150751">
                <a:moveTo>
                  <a:pt x="9569" y="28266"/>
                </a:moveTo>
                <a:lnTo>
                  <a:pt x="9569" y="72284"/>
                </a:lnTo>
                <a:cubicBezTo>
                  <a:pt x="9569" y="77289"/>
                  <a:pt x="11542" y="82089"/>
                  <a:pt x="15075" y="85622"/>
                </a:cubicBezTo>
                <a:lnTo>
                  <a:pt x="71607" y="142154"/>
                </a:lnTo>
                <a:cubicBezTo>
                  <a:pt x="78968" y="149515"/>
                  <a:pt x="90892" y="149515"/>
                  <a:pt x="98253" y="142154"/>
                </a:cubicBezTo>
                <a:lnTo>
                  <a:pt x="142271" y="98135"/>
                </a:lnTo>
                <a:cubicBezTo>
                  <a:pt x="149632" y="90775"/>
                  <a:pt x="149632" y="78850"/>
                  <a:pt x="142271" y="71489"/>
                </a:cubicBezTo>
                <a:lnTo>
                  <a:pt x="85740" y="14957"/>
                </a:lnTo>
                <a:cubicBezTo>
                  <a:pt x="82206" y="11395"/>
                  <a:pt x="77437" y="9422"/>
                  <a:pt x="72431" y="9422"/>
                </a:cubicBezTo>
                <a:lnTo>
                  <a:pt x="28413" y="9422"/>
                </a:lnTo>
                <a:cubicBezTo>
                  <a:pt x="18019" y="9422"/>
                  <a:pt x="9569" y="17872"/>
                  <a:pt x="9569" y="28266"/>
                </a:cubicBezTo>
                <a:close/>
                <a:moveTo>
                  <a:pt x="42546" y="32977"/>
                </a:moveTo>
                <a:cubicBezTo>
                  <a:pt x="47746" y="32977"/>
                  <a:pt x="51968" y="37199"/>
                  <a:pt x="51968" y="42399"/>
                </a:cubicBezTo>
                <a:cubicBezTo>
                  <a:pt x="51968" y="47599"/>
                  <a:pt x="47746" y="51821"/>
                  <a:pt x="42546" y="51821"/>
                </a:cubicBezTo>
                <a:cubicBezTo>
                  <a:pt x="37346" y="51821"/>
                  <a:pt x="33124" y="47599"/>
                  <a:pt x="33124" y="42399"/>
                </a:cubicBezTo>
                <a:cubicBezTo>
                  <a:pt x="33124" y="37199"/>
                  <a:pt x="37346" y="32977"/>
                  <a:pt x="42546" y="3297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994958" y="5212104"/>
            <a:ext cx="2242423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Meta Description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94958" y="5438230"/>
            <a:ext cx="2233002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 160 characters for SERP display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80392" y="5758577"/>
            <a:ext cx="301502" cy="301502"/>
          </a:xfrm>
          <a:prstGeom prst="roundRect">
            <a:avLst>
              <a:gd name="adj" fmla="val 25000"/>
            </a:avLst>
          </a:prstGeom>
          <a:solidFill>
            <a:srgbClr val="6366F1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55768" y="5833952"/>
            <a:ext cx="150751" cy="150751"/>
          </a:xfrm>
          <a:custGeom>
            <a:avLst/>
            <a:gdLst/>
            <a:ahLst/>
            <a:cxnLst/>
            <a:rect l="l" t="t" r="r" b="b"/>
            <a:pathLst>
              <a:path w="150751" h="150751">
                <a:moveTo>
                  <a:pt x="42487" y="0"/>
                </a:moveTo>
                <a:lnTo>
                  <a:pt x="108441" y="0"/>
                </a:lnTo>
                <a:cubicBezTo>
                  <a:pt x="116243" y="0"/>
                  <a:pt x="122603" y="6419"/>
                  <a:pt x="122309" y="14192"/>
                </a:cubicBezTo>
                <a:cubicBezTo>
                  <a:pt x="122250" y="15752"/>
                  <a:pt x="122191" y="17313"/>
                  <a:pt x="122103" y="18844"/>
                </a:cubicBezTo>
                <a:lnTo>
                  <a:pt x="136707" y="18844"/>
                </a:lnTo>
                <a:cubicBezTo>
                  <a:pt x="144391" y="18844"/>
                  <a:pt x="151163" y="25204"/>
                  <a:pt x="150574" y="33507"/>
                </a:cubicBezTo>
                <a:cubicBezTo>
                  <a:pt x="148366" y="64040"/>
                  <a:pt x="132761" y="80823"/>
                  <a:pt x="115831" y="89597"/>
                </a:cubicBezTo>
                <a:cubicBezTo>
                  <a:pt x="111179" y="92011"/>
                  <a:pt x="106439" y="93807"/>
                  <a:pt x="101934" y="95132"/>
                </a:cubicBezTo>
                <a:cubicBezTo>
                  <a:pt x="95986" y="103553"/>
                  <a:pt x="89803" y="107999"/>
                  <a:pt x="84886" y="110384"/>
                </a:cubicBezTo>
                <a:lnTo>
                  <a:pt x="84886" y="131907"/>
                </a:lnTo>
                <a:lnTo>
                  <a:pt x="103730" y="131907"/>
                </a:lnTo>
                <a:cubicBezTo>
                  <a:pt x="108941" y="131907"/>
                  <a:pt x="113152" y="136118"/>
                  <a:pt x="113152" y="141329"/>
                </a:cubicBezTo>
                <a:cubicBezTo>
                  <a:pt x="113152" y="146541"/>
                  <a:pt x="108941" y="150751"/>
                  <a:pt x="103730" y="150751"/>
                </a:cubicBezTo>
                <a:lnTo>
                  <a:pt x="47198" y="150751"/>
                </a:lnTo>
                <a:cubicBezTo>
                  <a:pt x="41987" y="150751"/>
                  <a:pt x="37776" y="146541"/>
                  <a:pt x="37776" y="141329"/>
                </a:cubicBezTo>
                <a:cubicBezTo>
                  <a:pt x="37776" y="136118"/>
                  <a:pt x="41987" y="131907"/>
                  <a:pt x="47198" y="131907"/>
                </a:cubicBezTo>
                <a:lnTo>
                  <a:pt x="66042" y="131907"/>
                </a:lnTo>
                <a:lnTo>
                  <a:pt x="66042" y="110384"/>
                </a:lnTo>
                <a:cubicBezTo>
                  <a:pt x="61331" y="108117"/>
                  <a:pt x="55472" y="103906"/>
                  <a:pt x="49760" y="96163"/>
                </a:cubicBezTo>
                <a:cubicBezTo>
                  <a:pt x="44342" y="94749"/>
                  <a:pt x="38453" y="92600"/>
                  <a:pt x="32712" y="89361"/>
                </a:cubicBezTo>
                <a:cubicBezTo>
                  <a:pt x="16783" y="80440"/>
                  <a:pt x="2414" y="63628"/>
                  <a:pt x="353" y="33448"/>
                </a:cubicBezTo>
                <a:cubicBezTo>
                  <a:pt x="-206" y="25174"/>
                  <a:pt x="6536" y="18814"/>
                  <a:pt x="14221" y="18814"/>
                </a:cubicBezTo>
                <a:lnTo>
                  <a:pt x="28825" y="18814"/>
                </a:lnTo>
                <a:cubicBezTo>
                  <a:pt x="28737" y="17283"/>
                  <a:pt x="28678" y="15752"/>
                  <a:pt x="28619" y="14162"/>
                </a:cubicBezTo>
                <a:cubicBezTo>
                  <a:pt x="28325" y="6360"/>
                  <a:pt x="34685" y="-29"/>
                  <a:pt x="42487" y="-29"/>
                </a:cubicBezTo>
                <a:close/>
                <a:moveTo>
                  <a:pt x="29885" y="32977"/>
                </a:moveTo>
                <a:lnTo>
                  <a:pt x="14457" y="32977"/>
                </a:lnTo>
                <a:cubicBezTo>
                  <a:pt x="16282" y="57916"/>
                  <a:pt x="27736" y="70400"/>
                  <a:pt x="39543" y="77024"/>
                </a:cubicBezTo>
                <a:cubicBezTo>
                  <a:pt x="35303" y="66042"/>
                  <a:pt x="31799" y="51703"/>
                  <a:pt x="29885" y="32977"/>
                </a:cubicBezTo>
                <a:close/>
                <a:moveTo>
                  <a:pt x="111886" y="75611"/>
                </a:moveTo>
                <a:cubicBezTo>
                  <a:pt x="123810" y="68604"/>
                  <a:pt x="134587" y="56149"/>
                  <a:pt x="136412" y="32977"/>
                </a:cubicBezTo>
                <a:lnTo>
                  <a:pt x="121013" y="32977"/>
                </a:lnTo>
                <a:cubicBezTo>
                  <a:pt x="119188" y="50908"/>
                  <a:pt x="115890" y="64835"/>
                  <a:pt x="111886" y="7561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7" name="Text 25"/>
          <p:cNvSpPr/>
          <p:nvPr/>
        </p:nvSpPr>
        <p:spPr>
          <a:xfrm>
            <a:off x="994958" y="5739733"/>
            <a:ext cx="2496816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 to Rank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94958" y="5965859"/>
            <a:ext cx="2487394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Google-optimized structure and semantics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80392" y="6308818"/>
            <a:ext cx="3278838" cy="7538"/>
          </a:xfrm>
          <a:prstGeom prst="roundRect">
            <a:avLst>
              <a:gd name="adj" fmla="val 0"/>
            </a:avLst>
          </a:prstGeom>
          <a:solidFill>
            <a:srgbClr val="6366F1">
              <a:alpha val="3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163493" y="6482185"/>
            <a:ext cx="150751" cy="150751"/>
          </a:xfrm>
          <a:custGeom>
            <a:avLst/>
            <a:gdLst/>
            <a:ahLst/>
            <a:cxnLst/>
            <a:rect l="l" t="t" r="r" b="b"/>
            <a:pathLst>
              <a:path w="150751" h="150751">
                <a:moveTo>
                  <a:pt x="131907" y="75376"/>
                </a:moveTo>
                <a:cubicBezTo>
                  <a:pt x="131907" y="44175"/>
                  <a:pt x="106576" y="18844"/>
                  <a:pt x="75376" y="18844"/>
                </a:cubicBezTo>
                <a:cubicBezTo>
                  <a:pt x="44175" y="18844"/>
                  <a:pt x="18844" y="44175"/>
                  <a:pt x="18844" y="75376"/>
                </a:cubicBezTo>
                <a:cubicBezTo>
                  <a:pt x="18844" y="106576"/>
                  <a:pt x="44175" y="131907"/>
                  <a:pt x="75376" y="131907"/>
                </a:cubicBezTo>
                <a:cubicBezTo>
                  <a:pt x="106576" y="131907"/>
                  <a:pt x="131907" y="106576"/>
                  <a:pt x="131907" y="75376"/>
                </a:cubicBezTo>
                <a:close/>
                <a:moveTo>
                  <a:pt x="0" y="75376"/>
                </a:moveTo>
                <a:cubicBezTo>
                  <a:pt x="0" y="33775"/>
                  <a:pt x="33775" y="0"/>
                  <a:pt x="75376" y="0"/>
                </a:cubicBezTo>
                <a:cubicBezTo>
                  <a:pt x="116976" y="0"/>
                  <a:pt x="150751" y="33775"/>
                  <a:pt x="150751" y="75376"/>
                </a:cubicBezTo>
                <a:cubicBezTo>
                  <a:pt x="150751" y="116976"/>
                  <a:pt x="116976" y="150751"/>
                  <a:pt x="75376" y="150751"/>
                </a:cubicBezTo>
                <a:cubicBezTo>
                  <a:pt x="33775" y="150751"/>
                  <a:pt x="0" y="116976"/>
                  <a:pt x="0" y="75376"/>
                </a:cubicBezTo>
                <a:close/>
                <a:moveTo>
                  <a:pt x="75376" y="98930"/>
                </a:moveTo>
                <a:cubicBezTo>
                  <a:pt x="88376" y="98930"/>
                  <a:pt x="98930" y="88376"/>
                  <a:pt x="98930" y="75376"/>
                </a:cubicBezTo>
                <a:cubicBezTo>
                  <a:pt x="98930" y="62375"/>
                  <a:pt x="88376" y="51821"/>
                  <a:pt x="75376" y="51821"/>
                </a:cubicBezTo>
                <a:cubicBezTo>
                  <a:pt x="62375" y="51821"/>
                  <a:pt x="51821" y="62375"/>
                  <a:pt x="51821" y="75376"/>
                </a:cubicBezTo>
                <a:cubicBezTo>
                  <a:pt x="51821" y="88376"/>
                  <a:pt x="62375" y="98930"/>
                  <a:pt x="75376" y="98930"/>
                </a:cubicBezTo>
                <a:close/>
                <a:moveTo>
                  <a:pt x="75376" y="32977"/>
                </a:moveTo>
                <a:cubicBezTo>
                  <a:pt x="98776" y="32977"/>
                  <a:pt x="117774" y="51975"/>
                  <a:pt x="117774" y="75376"/>
                </a:cubicBezTo>
                <a:cubicBezTo>
                  <a:pt x="117774" y="98776"/>
                  <a:pt x="98776" y="117774"/>
                  <a:pt x="75376" y="117774"/>
                </a:cubicBezTo>
                <a:cubicBezTo>
                  <a:pt x="51975" y="117774"/>
                  <a:pt x="32977" y="98776"/>
                  <a:pt x="32977" y="75376"/>
                </a:cubicBezTo>
                <a:cubicBezTo>
                  <a:pt x="32977" y="51975"/>
                  <a:pt x="51975" y="32977"/>
                  <a:pt x="75376" y="32977"/>
                </a:cubicBezTo>
                <a:close/>
                <a:moveTo>
                  <a:pt x="65954" y="75376"/>
                </a:moveTo>
                <a:cubicBezTo>
                  <a:pt x="65954" y="70175"/>
                  <a:pt x="70175" y="65954"/>
                  <a:pt x="75376" y="65954"/>
                </a:cubicBezTo>
                <a:cubicBezTo>
                  <a:pt x="80576" y="65954"/>
                  <a:pt x="84798" y="70175"/>
                  <a:pt x="84798" y="75376"/>
                </a:cubicBezTo>
                <a:cubicBezTo>
                  <a:pt x="84798" y="80576"/>
                  <a:pt x="80576" y="84798"/>
                  <a:pt x="75376" y="84798"/>
                </a:cubicBezTo>
                <a:cubicBezTo>
                  <a:pt x="70175" y="84798"/>
                  <a:pt x="65954" y="80576"/>
                  <a:pt x="65954" y="7537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1" name="Text 29"/>
          <p:cNvSpPr/>
          <p:nvPr/>
        </p:nvSpPr>
        <p:spPr>
          <a:xfrm>
            <a:off x="1408463" y="6463341"/>
            <a:ext cx="1950343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b="1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Goal: Maximum Organic Visibility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260605" y="1793940"/>
            <a:ext cx="3670791" cy="5055817"/>
          </a:xfrm>
          <a:prstGeom prst="roundRect">
            <a:avLst>
              <a:gd name="adj" fmla="val 4107"/>
            </a:avLst>
          </a:prstGeom>
          <a:gradFill flip="none" rotWithShape="1">
            <a:gsLst>
              <a:gs pos="0">
                <a:srgbClr val="10B981">
                  <a:alpha val="20000"/>
                </a:srgbClr>
              </a:gs>
              <a:gs pos="100000">
                <a:srgbClr val="10B981">
                  <a:alpha val="5000"/>
                </a:srgbClr>
              </a:gs>
            </a:gsLst>
            <a:lin ang="5400000" scaled="1"/>
          </a:gradFill>
          <a:ln w="20320">
            <a:solidFill>
              <a:srgbClr val="10B981">
                <a:alpha val="5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95440" y="1989917"/>
            <a:ext cx="603005" cy="603005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10B981"/>
              </a:gs>
              <a:gs pos="100000">
                <a:srgbClr val="059669"/>
              </a:gs>
            </a:gsLst>
            <a:lin ang="2700000" scaled="1"/>
          </a:gra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922637" y="2150090"/>
            <a:ext cx="353323" cy="282658"/>
          </a:xfrm>
          <a:custGeom>
            <a:avLst/>
            <a:gdLst/>
            <a:ahLst/>
            <a:cxnLst/>
            <a:rect l="l" t="t" r="r" b="b"/>
            <a:pathLst>
              <a:path w="353323" h="282658">
                <a:moveTo>
                  <a:pt x="13250" y="-8833"/>
                </a:moveTo>
                <a:cubicBezTo>
                  <a:pt x="5907" y="-8833"/>
                  <a:pt x="0" y="-2926"/>
                  <a:pt x="0" y="4417"/>
                </a:cubicBezTo>
                <a:cubicBezTo>
                  <a:pt x="0" y="11759"/>
                  <a:pt x="5907" y="17666"/>
                  <a:pt x="13250" y="17666"/>
                </a:cubicBezTo>
                <a:lnTo>
                  <a:pt x="38258" y="17666"/>
                </a:lnTo>
                <a:cubicBezTo>
                  <a:pt x="40411" y="17666"/>
                  <a:pt x="42233" y="19212"/>
                  <a:pt x="42620" y="21310"/>
                </a:cubicBezTo>
                <a:lnTo>
                  <a:pt x="71382" y="179367"/>
                </a:lnTo>
                <a:cubicBezTo>
                  <a:pt x="74805" y="198247"/>
                  <a:pt x="91257" y="211994"/>
                  <a:pt x="110469" y="211994"/>
                </a:cubicBezTo>
                <a:lnTo>
                  <a:pt x="251743" y="211994"/>
                </a:lnTo>
                <a:cubicBezTo>
                  <a:pt x="259085" y="211994"/>
                  <a:pt x="264992" y="206087"/>
                  <a:pt x="264992" y="198744"/>
                </a:cubicBezTo>
                <a:cubicBezTo>
                  <a:pt x="264992" y="191402"/>
                  <a:pt x="259085" y="185495"/>
                  <a:pt x="251743" y="185495"/>
                </a:cubicBezTo>
                <a:lnTo>
                  <a:pt x="110469" y="185495"/>
                </a:lnTo>
                <a:cubicBezTo>
                  <a:pt x="104065" y="185495"/>
                  <a:pt x="98599" y="180912"/>
                  <a:pt x="97440" y="174619"/>
                </a:cubicBezTo>
                <a:lnTo>
                  <a:pt x="94624" y="158995"/>
                </a:lnTo>
                <a:lnTo>
                  <a:pt x="262232" y="158995"/>
                </a:lnTo>
                <a:cubicBezTo>
                  <a:pt x="279236" y="158995"/>
                  <a:pt x="293810" y="146905"/>
                  <a:pt x="296957" y="130177"/>
                </a:cubicBezTo>
                <a:lnTo>
                  <a:pt x="314071" y="38589"/>
                </a:lnTo>
                <a:cubicBezTo>
                  <a:pt x="316114" y="27714"/>
                  <a:pt x="307777" y="17666"/>
                  <a:pt x="296681" y="17666"/>
                </a:cubicBezTo>
                <a:lnTo>
                  <a:pt x="68843" y="17666"/>
                </a:lnTo>
                <a:lnTo>
                  <a:pt x="68622" y="16562"/>
                </a:lnTo>
                <a:cubicBezTo>
                  <a:pt x="65972" y="1877"/>
                  <a:pt x="53164" y="-8833"/>
                  <a:pt x="38203" y="-8833"/>
                </a:cubicBezTo>
                <a:lnTo>
                  <a:pt x="13250" y="-8833"/>
                </a:lnTo>
                <a:close/>
                <a:moveTo>
                  <a:pt x="114830" y="282658"/>
                </a:moveTo>
                <a:cubicBezTo>
                  <a:pt x="129455" y="282658"/>
                  <a:pt x="141329" y="270785"/>
                  <a:pt x="141329" y="256159"/>
                </a:cubicBezTo>
                <a:cubicBezTo>
                  <a:pt x="141329" y="241534"/>
                  <a:pt x="129455" y="229660"/>
                  <a:pt x="114830" y="229660"/>
                </a:cubicBezTo>
                <a:cubicBezTo>
                  <a:pt x="100205" y="229660"/>
                  <a:pt x="88331" y="241534"/>
                  <a:pt x="88331" y="256159"/>
                </a:cubicBezTo>
                <a:cubicBezTo>
                  <a:pt x="88331" y="270785"/>
                  <a:pt x="100205" y="282658"/>
                  <a:pt x="114830" y="282658"/>
                </a:cubicBezTo>
                <a:close/>
                <a:moveTo>
                  <a:pt x="238493" y="282658"/>
                </a:moveTo>
                <a:cubicBezTo>
                  <a:pt x="253118" y="282658"/>
                  <a:pt x="264992" y="270785"/>
                  <a:pt x="264992" y="256159"/>
                </a:cubicBezTo>
                <a:cubicBezTo>
                  <a:pt x="264992" y="241534"/>
                  <a:pt x="253118" y="229660"/>
                  <a:pt x="238493" y="229660"/>
                </a:cubicBezTo>
                <a:cubicBezTo>
                  <a:pt x="223868" y="229660"/>
                  <a:pt x="211994" y="241534"/>
                  <a:pt x="211994" y="256159"/>
                </a:cubicBezTo>
                <a:cubicBezTo>
                  <a:pt x="211994" y="270785"/>
                  <a:pt x="223868" y="282658"/>
                  <a:pt x="238493" y="28265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4400049" y="2705985"/>
            <a:ext cx="3391901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8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Conversion Focused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720065" y="3082743"/>
            <a:ext cx="753756" cy="3768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0B981"/>
              </a:gs>
              <a:gs pos="100000">
                <a:srgbClr val="059669"/>
              </a:gs>
            </a:gsLst>
            <a:lin ang="0" scaled="1"/>
          </a:gradFill>
          <a:ln/>
        </p:spPr>
      </p:sp>
      <p:sp>
        <p:nvSpPr>
          <p:cNvPr id="37" name="Text 35"/>
          <p:cNvSpPr/>
          <p:nvPr/>
        </p:nvSpPr>
        <p:spPr>
          <a:xfrm>
            <a:off x="4456581" y="3271182"/>
            <a:ext cx="3354213" cy="73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F8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Drives purchase decisions through emotional resonance, social proof, and persuasive call-to-action elements.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456581" y="4175689"/>
            <a:ext cx="301502" cy="301502"/>
          </a:xfrm>
          <a:prstGeom prst="roundRect">
            <a:avLst>
              <a:gd name="adj" fmla="val 25000"/>
            </a:avLst>
          </a:prstGeom>
          <a:solidFill>
            <a:srgbClr val="10B981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531957" y="4251065"/>
            <a:ext cx="150751" cy="150751"/>
          </a:xfrm>
          <a:custGeom>
            <a:avLst/>
            <a:gdLst/>
            <a:ahLst/>
            <a:cxnLst/>
            <a:rect l="l" t="t" r="r" b="b"/>
            <a:pathLst>
              <a:path w="150751" h="150751">
                <a:moveTo>
                  <a:pt x="70959" y="25645"/>
                </a:moveTo>
                <a:lnTo>
                  <a:pt x="75376" y="31740"/>
                </a:lnTo>
                <a:lnTo>
                  <a:pt x="79792" y="25645"/>
                </a:lnTo>
                <a:cubicBezTo>
                  <a:pt x="87153" y="15458"/>
                  <a:pt x="98989" y="9422"/>
                  <a:pt x="111562" y="9422"/>
                </a:cubicBezTo>
                <a:cubicBezTo>
                  <a:pt x="133203" y="9422"/>
                  <a:pt x="150751" y="26970"/>
                  <a:pt x="150751" y="48611"/>
                </a:cubicBezTo>
                <a:lnTo>
                  <a:pt x="150751" y="49377"/>
                </a:lnTo>
                <a:cubicBezTo>
                  <a:pt x="150751" y="82413"/>
                  <a:pt x="109560" y="120778"/>
                  <a:pt x="88066" y="137178"/>
                </a:cubicBezTo>
                <a:cubicBezTo>
                  <a:pt x="84415" y="139945"/>
                  <a:pt x="79939" y="141329"/>
                  <a:pt x="75376" y="141329"/>
                </a:cubicBezTo>
                <a:cubicBezTo>
                  <a:pt x="70812" y="141329"/>
                  <a:pt x="66307" y="139975"/>
                  <a:pt x="62685" y="137178"/>
                </a:cubicBezTo>
                <a:cubicBezTo>
                  <a:pt x="41192" y="120778"/>
                  <a:pt x="0" y="82413"/>
                  <a:pt x="0" y="49377"/>
                </a:cubicBezTo>
                <a:lnTo>
                  <a:pt x="0" y="48611"/>
                </a:lnTo>
                <a:cubicBezTo>
                  <a:pt x="0" y="26970"/>
                  <a:pt x="17548" y="9422"/>
                  <a:pt x="39189" y="9422"/>
                </a:cubicBezTo>
                <a:cubicBezTo>
                  <a:pt x="51762" y="9422"/>
                  <a:pt x="63598" y="15458"/>
                  <a:pt x="70959" y="25645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4871147" y="4156845"/>
            <a:ext cx="2148204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Emotional Benefits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871147" y="4382972"/>
            <a:ext cx="2138782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Leads with transformation and value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456581" y="4703318"/>
            <a:ext cx="301502" cy="301502"/>
          </a:xfrm>
          <a:prstGeom prst="roundRect">
            <a:avLst>
              <a:gd name="adj" fmla="val 25000"/>
            </a:avLst>
          </a:prstGeom>
          <a:solidFill>
            <a:srgbClr val="10B981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513113" y="4778694"/>
            <a:ext cx="188439" cy="150751"/>
          </a:xfrm>
          <a:custGeom>
            <a:avLst/>
            <a:gdLst/>
            <a:ahLst/>
            <a:cxnLst/>
            <a:rect l="l" t="t" r="r" b="b"/>
            <a:pathLst>
              <a:path w="188439" h="150751">
                <a:moveTo>
                  <a:pt x="94219" y="4711"/>
                </a:moveTo>
                <a:cubicBezTo>
                  <a:pt x="111120" y="4711"/>
                  <a:pt x="124841" y="18432"/>
                  <a:pt x="124841" y="35332"/>
                </a:cubicBezTo>
                <a:cubicBezTo>
                  <a:pt x="124841" y="52233"/>
                  <a:pt x="111120" y="65954"/>
                  <a:pt x="94219" y="65954"/>
                </a:cubicBezTo>
                <a:cubicBezTo>
                  <a:pt x="77319" y="65954"/>
                  <a:pt x="63598" y="52233"/>
                  <a:pt x="63598" y="35332"/>
                </a:cubicBezTo>
                <a:cubicBezTo>
                  <a:pt x="63598" y="18432"/>
                  <a:pt x="77319" y="4711"/>
                  <a:pt x="94219" y="4711"/>
                </a:cubicBezTo>
                <a:close/>
                <a:moveTo>
                  <a:pt x="28266" y="25910"/>
                </a:moveTo>
                <a:cubicBezTo>
                  <a:pt x="39966" y="25910"/>
                  <a:pt x="49465" y="35409"/>
                  <a:pt x="49465" y="47110"/>
                </a:cubicBezTo>
                <a:cubicBezTo>
                  <a:pt x="49465" y="58810"/>
                  <a:pt x="39966" y="68309"/>
                  <a:pt x="28266" y="68309"/>
                </a:cubicBezTo>
                <a:cubicBezTo>
                  <a:pt x="16566" y="68309"/>
                  <a:pt x="7066" y="58810"/>
                  <a:pt x="7066" y="47110"/>
                </a:cubicBezTo>
                <a:cubicBezTo>
                  <a:pt x="7066" y="35409"/>
                  <a:pt x="16566" y="25910"/>
                  <a:pt x="28266" y="25910"/>
                </a:cubicBezTo>
                <a:close/>
                <a:moveTo>
                  <a:pt x="0" y="122485"/>
                </a:moveTo>
                <a:cubicBezTo>
                  <a:pt x="0" y="101669"/>
                  <a:pt x="16871" y="84798"/>
                  <a:pt x="37688" y="84798"/>
                </a:cubicBezTo>
                <a:cubicBezTo>
                  <a:pt x="41457" y="84798"/>
                  <a:pt x="45108" y="85357"/>
                  <a:pt x="48552" y="86387"/>
                </a:cubicBezTo>
                <a:cubicBezTo>
                  <a:pt x="38866" y="97223"/>
                  <a:pt x="32977" y="111532"/>
                  <a:pt x="32977" y="127196"/>
                </a:cubicBezTo>
                <a:lnTo>
                  <a:pt x="32977" y="131907"/>
                </a:lnTo>
                <a:cubicBezTo>
                  <a:pt x="32977" y="135264"/>
                  <a:pt x="33683" y="138444"/>
                  <a:pt x="34950" y="141329"/>
                </a:cubicBezTo>
                <a:lnTo>
                  <a:pt x="9422" y="141329"/>
                </a:lnTo>
                <a:cubicBezTo>
                  <a:pt x="4210" y="141329"/>
                  <a:pt x="0" y="137119"/>
                  <a:pt x="0" y="131907"/>
                </a:cubicBezTo>
                <a:lnTo>
                  <a:pt x="0" y="122485"/>
                </a:lnTo>
                <a:close/>
                <a:moveTo>
                  <a:pt x="153489" y="141329"/>
                </a:moveTo>
                <a:cubicBezTo>
                  <a:pt x="154755" y="138444"/>
                  <a:pt x="155462" y="135264"/>
                  <a:pt x="155462" y="131907"/>
                </a:cubicBezTo>
                <a:lnTo>
                  <a:pt x="155462" y="127196"/>
                </a:lnTo>
                <a:cubicBezTo>
                  <a:pt x="155462" y="111532"/>
                  <a:pt x="149573" y="97223"/>
                  <a:pt x="139886" y="86387"/>
                </a:cubicBezTo>
                <a:cubicBezTo>
                  <a:pt x="143331" y="85357"/>
                  <a:pt x="146982" y="84798"/>
                  <a:pt x="150751" y="84798"/>
                </a:cubicBezTo>
                <a:cubicBezTo>
                  <a:pt x="171568" y="84798"/>
                  <a:pt x="188439" y="101669"/>
                  <a:pt x="188439" y="122485"/>
                </a:cubicBezTo>
                <a:lnTo>
                  <a:pt x="188439" y="131907"/>
                </a:lnTo>
                <a:cubicBezTo>
                  <a:pt x="188439" y="137119"/>
                  <a:pt x="184229" y="141329"/>
                  <a:pt x="179017" y="141329"/>
                </a:cubicBezTo>
                <a:lnTo>
                  <a:pt x="153489" y="141329"/>
                </a:lnTo>
                <a:close/>
                <a:moveTo>
                  <a:pt x="138974" y="47110"/>
                </a:moveTo>
                <a:cubicBezTo>
                  <a:pt x="138974" y="35409"/>
                  <a:pt x="148473" y="25910"/>
                  <a:pt x="160173" y="25910"/>
                </a:cubicBezTo>
                <a:cubicBezTo>
                  <a:pt x="171873" y="25910"/>
                  <a:pt x="181372" y="35409"/>
                  <a:pt x="181372" y="47110"/>
                </a:cubicBezTo>
                <a:cubicBezTo>
                  <a:pt x="181372" y="58810"/>
                  <a:pt x="171873" y="68309"/>
                  <a:pt x="160173" y="68309"/>
                </a:cubicBezTo>
                <a:cubicBezTo>
                  <a:pt x="148473" y="68309"/>
                  <a:pt x="138974" y="58810"/>
                  <a:pt x="138974" y="47110"/>
                </a:cubicBezTo>
                <a:close/>
                <a:moveTo>
                  <a:pt x="47110" y="127196"/>
                </a:moveTo>
                <a:cubicBezTo>
                  <a:pt x="47110" y="101168"/>
                  <a:pt x="68191" y="80087"/>
                  <a:pt x="94219" y="80087"/>
                </a:cubicBezTo>
                <a:cubicBezTo>
                  <a:pt x="120248" y="80087"/>
                  <a:pt x="141329" y="101168"/>
                  <a:pt x="141329" y="127196"/>
                </a:cubicBezTo>
                <a:lnTo>
                  <a:pt x="141329" y="131907"/>
                </a:lnTo>
                <a:cubicBezTo>
                  <a:pt x="141329" y="137119"/>
                  <a:pt x="137119" y="141329"/>
                  <a:pt x="131907" y="141329"/>
                </a:cubicBezTo>
                <a:lnTo>
                  <a:pt x="56532" y="141329"/>
                </a:lnTo>
                <a:cubicBezTo>
                  <a:pt x="51320" y="141329"/>
                  <a:pt x="47110" y="137119"/>
                  <a:pt x="47110" y="131907"/>
                </a:cubicBezTo>
                <a:lnTo>
                  <a:pt x="47110" y="127196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4" name="Text 42"/>
          <p:cNvSpPr/>
          <p:nvPr/>
        </p:nvSpPr>
        <p:spPr>
          <a:xfrm>
            <a:off x="4871147" y="4684474"/>
            <a:ext cx="2251845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 Proof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871147" y="4910601"/>
            <a:ext cx="2242423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Trust-building language and validation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456581" y="5230947"/>
            <a:ext cx="301502" cy="301502"/>
          </a:xfrm>
          <a:prstGeom prst="roundRect">
            <a:avLst>
              <a:gd name="adj" fmla="val 25000"/>
            </a:avLst>
          </a:prstGeom>
          <a:solidFill>
            <a:srgbClr val="10B981">
              <a:alpha val="2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531957" y="5306323"/>
            <a:ext cx="150751" cy="150751"/>
          </a:xfrm>
          <a:custGeom>
            <a:avLst/>
            <a:gdLst/>
            <a:ahLst/>
            <a:cxnLst/>
            <a:rect l="l" t="t" r="r" b="b"/>
            <a:pathLst>
              <a:path w="150751" h="150751">
                <a:moveTo>
                  <a:pt x="131907" y="75376"/>
                </a:moveTo>
                <a:cubicBezTo>
                  <a:pt x="131907" y="44175"/>
                  <a:pt x="106576" y="18844"/>
                  <a:pt x="75376" y="18844"/>
                </a:cubicBezTo>
                <a:cubicBezTo>
                  <a:pt x="44175" y="18844"/>
                  <a:pt x="18844" y="44175"/>
                  <a:pt x="18844" y="75376"/>
                </a:cubicBezTo>
                <a:cubicBezTo>
                  <a:pt x="18844" y="106576"/>
                  <a:pt x="44175" y="131907"/>
                  <a:pt x="75376" y="131907"/>
                </a:cubicBezTo>
                <a:cubicBezTo>
                  <a:pt x="106576" y="131907"/>
                  <a:pt x="131907" y="106576"/>
                  <a:pt x="131907" y="75376"/>
                </a:cubicBezTo>
                <a:close/>
                <a:moveTo>
                  <a:pt x="0" y="75376"/>
                </a:moveTo>
                <a:cubicBezTo>
                  <a:pt x="0" y="33775"/>
                  <a:pt x="33775" y="0"/>
                  <a:pt x="75376" y="0"/>
                </a:cubicBezTo>
                <a:cubicBezTo>
                  <a:pt x="116976" y="0"/>
                  <a:pt x="150751" y="33775"/>
                  <a:pt x="150751" y="75376"/>
                </a:cubicBezTo>
                <a:cubicBezTo>
                  <a:pt x="150751" y="116976"/>
                  <a:pt x="116976" y="150751"/>
                  <a:pt x="75376" y="150751"/>
                </a:cubicBezTo>
                <a:cubicBezTo>
                  <a:pt x="33775" y="150751"/>
                  <a:pt x="0" y="116976"/>
                  <a:pt x="0" y="75376"/>
                </a:cubicBezTo>
                <a:close/>
                <a:moveTo>
                  <a:pt x="75376" y="98930"/>
                </a:moveTo>
                <a:cubicBezTo>
                  <a:pt x="88376" y="98930"/>
                  <a:pt x="98930" y="88376"/>
                  <a:pt x="98930" y="75376"/>
                </a:cubicBezTo>
                <a:cubicBezTo>
                  <a:pt x="98930" y="62375"/>
                  <a:pt x="88376" y="51821"/>
                  <a:pt x="75376" y="51821"/>
                </a:cubicBezTo>
                <a:cubicBezTo>
                  <a:pt x="62375" y="51821"/>
                  <a:pt x="51821" y="62375"/>
                  <a:pt x="51821" y="75376"/>
                </a:cubicBezTo>
                <a:cubicBezTo>
                  <a:pt x="51821" y="88376"/>
                  <a:pt x="62375" y="98930"/>
                  <a:pt x="75376" y="98930"/>
                </a:cubicBezTo>
                <a:close/>
                <a:moveTo>
                  <a:pt x="75376" y="32977"/>
                </a:moveTo>
                <a:cubicBezTo>
                  <a:pt x="98776" y="32977"/>
                  <a:pt x="117774" y="51975"/>
                  <a:pt x="117774" y="75376"/>
                </a:cubicBezTo>
                <a:cubicBezTo>
                  <a:pt x="117774" y="98776"/>
                  <a:pt x="98776" y="117774"/>
                  <a:pt x="75376" y="117774"/>
                </a:cubicBezTo>
                <a:cubicBezTo>
                  <a:pt x="51975" y="117774"/>
                  <a:pt x="32977" y="98776"/>
                  <a:pt x="32977" y="75376"/>
                </a:cubicBezTo>
                <a:cubicBezTo>
                  <a:pt x="32977" y="51975"/>
                  <a:pt x="51975" y="32977"/>
                  <a:pt x="75376" y="32977"/>
                </a:cubicBezTo>
                <a:close/>
                <a:moveTo>
                  <a:pt x="65954" y="75376"/>
                </a:moveTo>
                <a:cubicBezTo>
                  <a:pt x="65954" y="70175"/>
                  <a:pt x="70175" y="65954"/>
                  <a:pt x="75376" y="65954"/>
                </a:cubicBezTo>
                <a:cubicBezTo>
                  <a:pt x="80576" y="65954"/>
                  <a:pt x="84798" y="70175"/>
                  <a:pt x="84798" y="75376"/>
                </a:cubicBezTo>
                <a:cubicBezTo>
                  <a:pt x="84798" y="80576"/>
                  <a:pt x="80576" y="84798"/>
                  <a:pt x="75376" y="84798"/>
                </a:cubicBezTo>
                <a:cubicBezTo>
                  <a:pt x="70175" y="84798"/>
                  <a:pt x="65954" y="80576"/>
                  <a:pt x="65954" y="7537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8" name="Text 46"/>
          <p:cNvSpPr/>
          <p:nvPr/>
        </p:nvSpPr>
        <p:spPr>
          <a:xfrm>
            <a:off x="4871147" y="5212104"/>
            <a:ext cx="1931499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Pain Point Addressing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871147" y="5438230"/>
            <a:ext cx="1922077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Directly tackles buyer objections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456581" y="5758577"/>
            <a:ext cx="301502" cy="301502"/>
          </a:xfrm>
          <a:prstGeom prst="roundRect">
            <a:avLst>
              <a:gd name="adj" fmla="val 25000"/>
            </a:avLst>
          </a:prstGeom>
          <a:solidFill>
            <a:srgbClr val="10B981">
              <a:alpha val="2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531957" y="5833952"/>
            <a:ext cx="150751" cy="150751"/>
          </a:xfrm>
          <a:custGeom>
            <a:avLst/>
            <a:gdLst/>
            <a:ahLst/>
            <a:cxnLst/>
            <a:rect l="l" t="t" r="r" b="b"/>
            <a:pathLst>
              <a:path w="150751" h="150751">
                <a:moveTo>
                  <a:pt x="141329" y="28266"/>
                </a:moveTo>
                <a:cubicBezTo>
                  <a:pt x="146541" y="28266"/>
                  <a:pt x="150751" y="32476"/>
                  <a:pt x="150751" y="37688"/>
                </a:cubicBezTo>
                <a:cubicBezTo>
                  <a:pt x="150751" y="42899"/>
                  <a:pt x="146541" y="47110"/>
                  <a:pt x="141329" y="47110"/>
                </a:cubicBezTo>
                <a:lnTo>
                  <a:pt x="80087" y="47110"/>
                </a:lnTo>
                <a:lnTo>
                  <a:pt x="80087" y="28266"/>
                </a:lnTo>
                <a:lnTo>
                  <a:pt x="141329" y="28266"/>
                </a:lnTo>
                <a:close/>
                <a:moveTo>
                  <a:pt x="94219" y="84798"/>
                </a:moveTo>
                <a:cubicBezTo>
                  <a:pt x="99431" y="84798"/>
                  <a:pt x="103641" y="89008"/>
                  <a:pt x="103641" y="94219"/>
                </a:cubicBezTo>
                <a:cubicBezTo>
                  <a:pt x="103641" y="99431"/>
                  <a:pt x="99431" y="103641"/>
                  <a:pt x="94219" y="103641"/>
                </a:cubicBezTo>
                <a:lnTo>
                  <a:pt x="75376" y="103641"/>
                </a:lnTo>
                <a:cubicBezTo>
                  <a:pt x="70164" y="103641"/>
                  <a:pt x="65954" y="99431"/>
                  <a:pt x="65954" y="94219"/>
                </a:cubicBezTo>
                <a:cubicBezTo>
                  <a:pt x="65954" y="89008"/>
                  <a:pt x="70164" y="84798"/>
                  <a:pt x="75376" y="84798"/>
                </a:cubicBezTo>
                <a:lnTo>
                  <a:pt x="94219" y="84798"/>
                </a:lnTo>
                <a:close/>
                <a:moveTo>
                  <a:pt x="113063" y="65954"/>
                </a:moveTo>
                <a:cubicBezTo>
                  <a:pt x="113063" y="71165"/>
                  <a:pt x="108853" y="75376"/>
                  <a:pt x="103641" y="75376"/>
                </a:cubicBezTo>
                <a:lnTo>
                  <a:pt x="89509" y="75376"/>
                </a:lnTo>
                <a:cubicBezTo>
                  <a:pt x="84297" y="75376"/>
                  <a:pt x="80087" y="71165"/>
                  <a:pt x="80087" y="65954"/>
                </a:cubicBezTo>
                <a:cubicBezTo>
                  <a:pt x="80087" y="60742"/>
                  <a:pt x="84297" y="56532"/>
                  <a:pt x="89509" y="56532"/>
                </a:cubicBezTo>
                <a:lnTo>
                  <a:pt x="103641" y="56532"/>
                </a:lnTo>
                <a:cubicBezTo>
                  <a:pt x="108853" y="56532"/>
                  <a:pt x="113063" y="60742"/>
                  <a:pt x="113063" y="65954"/>
                </a:cubicBezTo>
                <a:close/>
                <a:moveTo>
                  <a:pt x="84798" y="113063"/>
                </a:moveTo>
                <a:cubicBezTo>
                  <a:pt x="90009" y="113063"/>
                  <a:pt x="94219" y="117274"/>
                  <a:pt x="94219" y="122485"/>
                </a:cubicBezTo>
                <a:cubicBezTo>
                  <a:pt x="94219" y="127697"/>
                  <a:pt x="90009" y="131907"/>
                  <a:pt x="84798" y="131907"/>
                </a:cubicBezTo>
                <a:lnTo>
                  <a:pt x="65954" y="131907"/>
                </a:lnTo>
                <a:cubicBezTo>
                  <a:pt x="60742" y="131907"/>
                  <a:pt x="56532" y="127697"/>
                  <a:pt x="56532" y="122485"/>
                </a:cubicBezTo>
                <a:cubicBezTo>
                  <a:pt x="56532" y="117274"/>
                  <a:pt x="60742" y="113063"/>
                  <a:pt x="65954" y="113063"/>
                </a:cubicBezTo>
                <a:lnTo>
                  <a:pt x="84798" y="113063"/>
                </a:lnTo>
                <a:close/>
                <a:moveTo>
                  <a:pt x="58887" y="84798"/>
                </a:moveTo>
                <a:lnTo>
                  <a:pt x="59064" y="84798"/>
                </a:lnTo>
                <a:cubicBezTo>
                  <a:pt x="57474" y="87565"/>
                  <a:pt x="56532" y="90775"/>
                  <a:pt x="56532" y="94219"/>
                </a:cubicBezTo>
                <a:cubicBezTo>
                  <a:pt x="56532" y="98106"/>
                  <a:pt x="57709" y="101698"/>
                  <a:pt x="59712" y="104701"/>
                </a:cubicBezTo>
                <a:cubicBezTo>
                  <a:pt x="52380" y="107263"/>
                  <a:pt x="47110" y="114271"/>
                  <a:pt x="47110" y="122485"/>
                </a:cubicBezTo>
                <a:cubicBezTo>
                  <a:pt x="47110" y="125930"/>
                  <a:pt x="48022" y="129140"/>
                  <a:pt x="49642" y="131907"/>
                </a:cubicBezTo>
                <a:lnTo>
                  <a:pt x="47110" y="131907"/>
                </a:lnTo>
                <a:cubicBezTo>
                  <a:pt x="21082" y="131907"/>
                  <a:pt x="0" y="110826"/>
                  <a:pt x="0" y="84798"/>
                </a:cubicBezTo>
                <a:lnTo>
                  <a:pt x="0" y="66631"/>
                </a:lnTo>
                <a:cubicBezTo>
                  <a:pt x="0" y="54147"/>
                  <a:pt x="4976" y="42163"/>
                  <a:pt x="13809" y="33330"/>
                </a:cubicBezTo>
                <a:lnTo>
                  <a:pt x="17224" y="29915"/>
                </a:lnTo>
                <a:cubicBezTo>
                  <a:pt x="24291" y="22819"/>
                  <a:pt x="33890" y="18844"/>
                  <a:pt x="43871" y="18844"/>
                </a:cubicBezTo>
                <a:lnTo>
                  <a:pt x="51821" y="18844"/>
                </a:lnTo>
                <a:cubicBezTo>
                  <a:pt x="62214" y="18844"/>
                  <a:pt x="70665" y="27294"/>
                  <a:pt x="70665" y="37688"/>
                </a:cubicBezTo>
                <a:lnTo>
                  <a:pt x="70665" y="63598"/>
                </a:lnTo>
                <a:cubicBezTo>
                  <a:pt x="70665" y="70105"/>
                  <a:pt x="65394" y="75376"/>
                  <a:pt x="58887" y="75376"/>
                </a:cubicBezTo>
                <a:cubicBezTo>
                  <a:pt x="52380" y="75376"/>
                  <a:pt x="47110" y="70105"/>
                  <a:pt x="47110" y="63598"/>
                </a:cubicBezTo>
                <a:lnTo>
                  <a:pt x="47110" y="47110"/>
                </a:lnTo>
                <a:cubicBezTo>
                  <a:pt x="47110" y="44519"/>
                  <a:pt x="44990" y="42399"/>
                  <a:pt x="42399" y="42399"/>
                </a:cubicBezTo>
                <a:cubicBezTo>
                  <a:pt x="39808" y="42399"/>
                  <a:pt x="37688" y="44519"/>
                  <a:pt x="37688" y="47110"/>
                </a:cubicBezTo>
                <a:lnTo>
                  <a:pt x="37688" y="63598"/>
                </a:lnTo>
                <a:cubicBezTo>
                  <a:pt x="37688" y="75317"/>
                  <a:pt x="47169" y="84798"/>
                  <a:pt x="58887" y="8479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2" name="Text 50"/>
          <p:cNvSpPr/>
          <p:nvPr/>
        </p:nvSpPr>
        <p:spPr>
          <a:xfrm>
            <a:off x="4871147" y="5739733"/>
            <a:ext cx="2242423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Risk-Reducing CTA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871147" y="5965859"/>
            <a:ext cx="2233002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Clear action with confidence language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456581" y="6308818"/>
            <a:ext cx="3278838" cy="7538"/>
          </a:xfrm>
          <a:prstGeom prst="roundRect">
            <a:avLst>
              <a:gd name="adj" fmla="val 0"/>
            </a:avLst>
          </a:prstGeom>
          <a:solidFill>
            <a:srgbClr val="10B981">
              <a:alpha val="30196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4919434" y="6482185"/>
            <a:ext cx="150751" cy="150751"/>
          </a:xfrm>
          <a:custGeom>
            <a:avLst/>
            <a:gdLst/>
            <a:ahLst/>
            <a:cxnLst/>
            <a:rect l="l" t="t" r="r" b="b"/>
            <a:pathLst>
              <a:path w="150751" h="150751">
                <a:moveTo>
                  <a:pt x="131907" y="75376"/>
                </a:moveTo>
                <a:cubicBezTo>
                  <a:pt x="131907" y="44175"/>
                  <a:pt x="106576" y="18844"/>
                  <a:pt x="75376" y="18844"/>
                </a:cubicBezTo>
                <a:cubicBezTo>
                  <a:pt x="44175" y="18844"/>
                  <a:pt x="18844" y="44175"/>
                  <a:pt x="18844" y="75376"/>
                </a:cubicBezTo>
                <a:cubicBezTo>
                  <a:pt x="18844" y="106576"/>
                  <a:pt x="44175" y="131907"/>
                  <a:pt x="75376" y="131907"/>
                </a:cubicBezTo>
                <a:cubicBezTo>
                  <a:pt x="106576" y="131907"/>
                  <a:pt x="131907" y="106576"/>
                  <a:pt x="131907" y="75376"/>
                </a:cubicBezTo>
                <a:close/>
                <a:moveTo>
                  <a:pt x="0" y="75376"/>
                </a:moveTo>
                <a:cubicBezTo>
                  <a:pt x="0" y="33775"/>
                  <a:pt x="33775" y="0"/>
                  <a:pt x="75376" y="0"/>
                </a:cubicBezTo>
                <a:cubicBezTo>
                  <a:pt x="116976" y="0"/>
                  <a:pt x="150751" y="33775"/>
                  <a:pt x="150751" y="75376"/>
                </a:cubicBezTo>
                <a:cubicBezTo>
                  <a:pt x="150751" y="116976"/>
                  <a:pt x="116976" y="150751"/>
                  <a:pt x="75376" y="150751"/>
                </a:cubicBezTo>
                <a:cubicBezTo>
                  <a:pt x="33775" y="150751"/>
                  <a:pt x="0" y="116976"/>
                  <a:pt x="0" y="75376"/>
                </a:cubicBezTo>
                <a:close/>
                <a:moveTo>
                  <a:pt x="75376" y="98930"/>
                </a:moveTo>
                <a:cubicBezTo>
                  <a:pt x="88376" y="98930"/>
                  <a:pt x="98930" y="88376"/>
                  <a:pt x="98930" y="75376"/>
                </a:cubicBezTo>
                <a:cubicBezTo>
                  <a:pt x="98930" y="62375"/>
                  <a:pt x="88376" y="51821"/>
                  <a:pt x="75376" y="51821"/>
                </a:cubicBezTo>
                <a:cubicBezTo>
                  <a:pt x="62375" y="51821"/>
                  <a:pt x="51821" y="62375"/>
                  <a:pt x="51821" y="75376"/>
                </a:cubicBezTo>
                <a:cubicBezTo>
                  <a:pt x="51821" y="88376"/>
                  <a:pt x="62375" y="98930"/>
                  <a:pt x="75376" y="98930"/>
                </a:cubicBezTo>
                <a:close/>
                <a:moveTo>
                  <a:pt x="75376" y="32977"/>
                </a:moveTo>
                <a:cubicBezTo>
                  <a:pt x="98776" y="32977"/>
                  <a:pt x="117774" y="51975"/>
                  <a:pt x="117774" y="75376"/>
                </a:cubicBezTo>
                <a:cubicBezTo>
                  <a:pt x="117774" y="98776"/>
                  <a:pt x="98776" y="117774"/>
                  <a:pt x="75376" y="117774"/>
                </a:cubicBezTo>
                <a:cubicBezTo>
                  <a:pt x="51975" y="117774"/>
                  <a:pt x="32977" y="98776"/>
                  <a:pt x="32977" y="75376"/>
                </a:cubicBezTo>
                <a:cubicBezTo>
                  <a:pt x="32977" y="51975"/>
                  <a:pt x="51975" y="32977"/>
                  <a:pt x="75376" y="32977"/>
                </a:cubicBezTo>
                <a:close/>
                <a:moveTo>
                  <a:pt x="65954" y="75376"/>
                </a:moveTo>
                <a:cubicBezTo>
                  <a:pt x="65954" y="70175"/>
                  <a:pt x="70175" y="65954"/>
                  <a:pt x="75376" y="65954"/>
                </a:cubicBezTo>
                <a:cubicBezTo>
                  <a:pt x="80576" y="65954"/>
                  <a:pt x="84798" y="70175"/>
                  <a:pt x="84798" y="75376"/>
                </a:cubicBezTo>
                <a:cubicBezTo>
                  <a:pt x="84798" y="80576"/>
                  <a:pt x="80576" y="84798"/>
                  <a:pt x="75376" y="84798"/>
                </a:cubicBezTo>
                <a:cubicBezTo>
                  <a:pt x="70175" y="84798"/>
                  <a:pt x="65954" y="80576"/>
                  <a:pt x="65954" y="7537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6" name="Text 54"/>
          <p:cNvSpPr/>
          <p:nvPr/>
        </p:nvSpPr>
        <p:spPr>
          <a:xfrm>
            <a:off x="5164405" y="6463341"/>
            <a:ext cx="2195314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Goal: Maximum Purchase Conversion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136794" y="1793940"/>
            <a:ext cx="3670791" cy="5055817"/>
          </a:xfrm>
          <a:prstGeom prst="roundRect">
            <a:avLst>
              <a:gd name="adj" fmla="val 4107"/>
            </a:avLst>
          </a:prstGeom>
          <a:gradFill flip="none" rotWithShape="1">
            <a:gsLst>
              <a:gs pos="0">
                <a:srgbClr val="A855F7">
                  <a:alpha val="20000"/>
                </a:srgbClr>
              </a:gs>
              <a:gs pos="100000">
                <a:srgbClr val="A855F7">
                  <a:alpha val="5000"/>
                </a:srgbClr>
              </a:gs>
            </a:gsLst>
            <a:lin ang="5400000" scaled="1"/>
          </a:gradFill>
          <a:ln w="20320">
            <a:solidFill>
              <a:srgbClr val="A855F7">
                <a:alpha val="50196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671629" y="1989917"/>
            <a:ext cx="603005" cy="603005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A855F7"/>
              </a:gs>
              <a:gs pos="100000">
                <a:srgbClr val="9333EA"/>
              </a:gs>
            </a:gsLst>
            <a:lin ang="2700000" scaled="1"/>
          </a:gra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9834158" y="2150090"/>
            <a:ext cx="282658" cy="282658"/>
          </a:xfrm>
          <a:custGeom>
            <a:avLst/>
            <a:gdLst/>
            <a:ahLst/>
            <a:cxnLst/>
            <a:rect l="l" t="t" r="r" b="b"/>
            <a:pathLst>
              <a:path w="282658" h="282658">
                <a:moveTo>
                  <a:pt x="26499" y="141329"/>
                </a:moveTo>
                <a:cubicBezTo>
                  <a:pt x="26499" y="77897"/>
                  <a:pt x="77897" y="26499"/>
                  <a:pt x="141329" y="26499"/>
                </a:cubicBezTo>
                <a:cubicBezTo>
                  <a:pt x="176165" y="26499"/>
                  <a:pt x="207356" y="42012"/>
                  <a:pt x="228445" y="66524"/>
                </a:cubicBezTo>
                <a:cubicBezTo>
                  <a:pt x="233193" y="72100"/>
                  <a:pt x="241585" y="72707"/>
                  <a:pt x="247105" y="67959"/>
                </a:cubicBezTo>
                <a:cubicBezTo>
                  <a:pt x="252626" y="63212"/>
                  <a:pt x="253288" y="54820"/>
                  <a:pt x="248541" y="49300"/>
                </a:cubicBezTo>
                <a:cubicBezTo>
                  <a:pt x="222649" y="19102"/>
                  <a:pt x="184225" y="0"/>
                  <a:pt x="141329" y="0"/>
                </a:cubicBezTo>
                <a:cubicBezTo>
                  <a:pt x="63267" y="0"/>
                  <a:pt x="0" y="63267"/>
                  <a:pt x="0" y="141329"/>
                </a:cubicBezTo>
                <a:lnTo>
                  <a:pt x="0" y="163412"/>
                </a:lnTo>
                <a:cubicBezTo>
                  <a:pt x="0" y="170754"/>
                  <a:pt x="5907" y="176662"/>
                  <a:pt x="13250" y="176662"/>
                </a:cubicBezTo>
                <a:cubicBezTo>
                  <a:pt x="20592" y="176662"/>
                  <a:pt x="26499" y="170754"/>
                  <a:pt x="26499" y="163412"/>
                </a:cubicBezTo>
                <a:lnTo>
                  <a:pt x="26499" y="141329"/>
                </a:lnTo>
                <a:close/>
                <a:moveTo>
                  <a:pt x="279622" y="112125"/>
                </a:moveTo>
                <a:cubicBezTo>
                  <a:pt x="278131" y="104948"/>
                  <a:pt x="271065" y="100366"/>
                  <a:pt x="263943" y="101912"/>
                </a:cubicBezTo>
                <a:cubicBezTo>
                  <a:pt x="256822" y="103457"/>
                  <a:pt x="252184" y="110469"/>
                  <a:pt x="253730" y="117590"/>
                </a:cubicBezTo>
                <a:cubicBezTo>
                  <a:pt x="255331" y="125264"/>
                  <a:pt x="256214" y="133214"/>
                  <a:pt x="256214" y="141384"/>
                </a:cubicBezTo>
                <a:lnTo>
                  <a:pt x="256214" y="163467"/>
                </a:lnTo>
                <a:cubicBezTo>
                  <a:pt x="256214" y="170810"/>
                  <a:pt x="262122" y="176717"/>
                  <a:pt x="269464" y="176717"/>
                </a:cubicBezTo>
                <a:cubicBezTo>
                  <a:pt x="276807" y="176717"/>
                  <a:pt x="282714" y="170810"/>
                  <a:pt x="282714" y="163467"/>
                </a:cubicBezTo>
                <a:lnTo>
                  <a:pt x="282714" y="141384"/>
                </a:lnTo>
                <a:cubicBezTo>
                  <a:pt x="282714" y="131392"/>
                  <a:pt x="281665" y="121620"/>
                  <a:pt x="279677" y="112180"/>
                </a:cubicBezTo>
                <a:close/>
                <a:moveTo>
                  <a:pt x="141329" y="44165"/>
                </a:moveTo>
                <a:cubicBezTo>
                  <a:pt x="130840" y="44165"/>
                  <a:pt x="120682" y="45822"/>
                  <a:pt x="111242" y="48913"/>
                </a:cubicBezTo>
                <a:cubicBezTo>
                  <a:pt x="102850" y="51673"/>
                  <a:pt x="100918" y="61997"/>
                  <a:pt x="106659" y="68732"/>
                </a:cubicBezTo>
                <a:cubicBezTo>
                  <a:pt x="110579" y="73315"/>
                  <a:pt x="117038" y="74695"/>
                  <a:pt x="122890" y="73094"/>
                </a:cubicBezTo>
                <a:cubicBezTo>
                  <a:pt x="128742" y="71493"/>
                  <a:pt x="134925" y="70665"/>
                  <a:pt x="141329" y="70665"/>
                </a:cubicBezTo>
                <a:cubicBezTo>
                  <a:pt x="180360" y="70665"/>
                  <a:pt x="211994" y="102298"/>
                  <a:pt x="211994" y="141329"/>
                </a:cubicBezTo>
                <a:lnTo>
                  <a:pt x="211994" y="155076"/>
                </a:lnTo>
                <a:cubicBezTo>
                  <a:pt x="211994" y="168988"/>
                  <a:pt x="211166" y="182845"/>
                  <a:pt x="209565" y="196646"/>
                </a:cubicBezTo>
                <a:cubicBezTo>
                  <a:pt x="208626" y="204707"/>
                  <a:pt x="214754" y="211994"/>
                  <a:pt x="222925" y="211994"/>
                </a:cubicBezTo>
                <a:cubicBezTo>
                  <a:pt x="229439" y="211994"/>
                  <a:pt x="235015" y="207246"/>
                  <a:pt x="235788" y="200787"/>
                </a:cubicBezTo>
                <a:cubicBezTo>
                  <a:pt x="237610" y="185660"/>
                  <a:pt x="238548" y="170423"/>
                  <a:pt x="238548" y="155131"/>
                </a:cubicBezTo>
                <a:lnTo>
                  <a:pt x="238548" y="141384"/>
                </a:lnTo>
                <a:cubicBezTo>
                  <a:pt x="238548" y="87723"/>
                  <a:pt x="195045" y="44221"/>
                  <a:pt x="141384" y="44221"/>
                </a:cubicBezTo>
                <a:close/>
                <a:moveTo>
                  <a:pt x="83197" y="82092"/>
                </a:moveTo>
                <a:cubicBezTo>
                  <a:pt x="78173" y="76240"/>
                  <a:pt x="69229" y="75799"/>
                  <a:pt x="64481" y="81872"/>
                </a:cubicBezTo>
                <a:cubicBezTo>
                  <a:pt x="51729" y="98323"/>
                  <a:pt x="44165" y="118915"/>
                  <a:pt x="44165" y="141329"/>
                </a:cubicBezTo>
                <a:lnTo>
                  <a:pt x="44165" y="155076"/>
                </a:lnTo>
                <a:cubicBezTo>
                  <a:pt x="44165" y="168436"/>
                  <a:pt x="42730" y="181796"/>
                  <a:pt x="39859" y="194769"/>
                </a:cubicBezTo>
                <a:cubicBezTo>
                  <a:pt x="37982" y="203382"/>
                  <a:pt x="44221" y="211939"/>
                  <a:pt x="53054" y="211939"/>
                </a:cubicBezTo>
                <a:cubicBezTo>
                  <a:pt x="58850" y="211939"/>
                  <a:pt x="64040" y="208074"/>
                  <a:pt x="65310" y="202388"/>
                </a:cubicBezTo>
                <a:cubicBezTo>
                  <a:pt x="68843" y="186875"/>
                  <a:pt x="70665" y="171030"/>
                  <a:pt x="70665" y="155020"/>
                </a:cubicBezTo>
                <a:lnTo>
                  <a:pt x="70665" y="141274"/>
                </a:lnTo>
                <a:cubicBezTo>
                  <a:pt x="70665" y="126258"/>
                  <a:pt x="75357" y="112346"/>
                  <a:pt x="83307" y="100918"/>
                </a:cubicBezTo>
                <a:cubicBezTo>
                  <a:pt x="87282" y="95176"/>
                  <a:pt x="87723" y="87337"/>
                  <a:pt x="83197" y="82037"/>
                </a:cubicBezTo>
                <a:close/>
                <a:moveTo>
                  <a:pt x="141329" y="88331"/>
                </a:moveTo>
                <a:cubicBezTo>
                  <a:pt x="112070" y="88331"/>
                  <a:pt x="88331" y="112070"/>
                  <a:pt x="88331" y="141329"/>
                </a:cubicBezTo>
                <a:lnTo>
                  <a:pt x="88331" y="155076"/>
                </a:lnTo>
                <a:cubicBezTo>
                  <a:pt x="88331" y="174895"/>
                  <a:pt x="85791" y="194548"/>
                  <a:pt x="80712" y="213650"/>
                </a:cubicBezTo>
                <a:cubicBezTo>
                  <a:pt x="78614" y="221545"/>
                  <a:pt x="84411" y="229660"/>
                  <a:pt x="92582" y="229660"/>
                </a:cubicBezTo>
                <a:cubicBezTo>
                  <a:pt x="97826" y="229660"/>
                  <a:pt x="102464" y="226237"/>
                  <a:pt x="103844" y="221158"/>
                </a:cubicBezTo>
                <a:cubicBezTo>
                  <a:pt x="109641" y="199628"/>
                  <a:pt x="112622" y="177434"/>
                  <a:pt x="112622" y="155076"/>
                </a:cubicBezTo>
                <a:lnTo>
                  <a:pt x="112622" y="141329"/>
                </a:lnTo>
                <a:cubicBezTo>
                  <a:pt x="112622" y="125485"/>
                  <a:pt x="125485" y="112622"/>
                  <a:pt x="141329" y="112622"/>
                </a:cubicBezTo>
                <a:cubicBezTo>
                  <a:pt x="157174" y="112622"/>
                  <a:pt x="170037" y="125485"/>
                  <a:pt x="170037" y="141329"/>
                </a:cubicBezTo>
                <a:lnTo>
                  <a:pt x="170037" y="155076"/>
                </a:lnTo>
                <a:cubicBezTo>
                  <a:pt x="170037" y="175116"/>
                  <a:pt x="168104" y="195045"/>
                  <a:pt x="164295" y="214644"/>
                </a:cubicBezTo>
                <a:cubicBezTo>
                  <a:pt x="162805" y="222317"/>
                  <a:pt x="168546" y="229660"/>
                  <a:pt x="176330" y="229660"/>
                </a:cubicBezTo>
                <a:cubicBezTo>
                  <a:pt x="181961" y="229660"/>
                  <a:pt x="186820" y="225795"/>
                  <a:pt x="187924" y="220275"/>
                </a:cubicBezTo>
                <a:cubicBezTo>
                  <a:pt x="192175" y="198855"/>
                  <a:pt x="194328" y="177048"/>
                  <a:pt x="194328" y="155076"/>
                </a:cubicBezTo>
                <a:lnTo>
                  <a:pt x="194328" y="141329"/>
                </a:lnTo>
                <a:cubicBezTo>
                  <a:pt x="194328" y="112070"/>
                  <a:pt x="170589" y="88331"/>
                  <a:pt x="141329" y="88331"/>
                </a:cubicBezTo>
                <a:close/>
                <a:moveTo>
                  <a:pt x="154579" y="141329"/>
                </a:moveTo>
                <a:cubicBezTo>
                  <a:pt x="154579" y="133987"/>
                  <a:pt x="148672" y="128080"/>
                  <a:pt x="141329" y="128080"/>
                </a:cubicBezTo>
                <a:cubicBezTo>
                  <a:pt x="133987" y="128080"/>
                  <a:pt x="128080" y="133987"/>
                  <a:pt x="128080" y="141329"/>
                </a:cubicBezTo>
                <a:lnTo>
                  <a:pt x="128080" y="155076"/>
                </a:lnTo>
                <a:cubicBezTo>
                  <a:pt x="128080" y="188145"/>
                  <a:pt x="122007" y="220937"/>
                  <a:pt x="110137" y="251798"/>
                </a:cubicBezTo>
                <a:lnTo>
                  <a:pt x="106880" y="260244"/>
                </a:lnTo>
                <a:cubicBezTo>
                  <a:pt x="104230" y="267090"/>
                  <a:pt x="107653" y="274764"/>
                  <a:pt x="114499" y="277359"/>
                </a:cubicBezTo>
                <a:cubicBezTo>
                  <a:pt x="121344" y="279953"/>
                  <a:pt x="129018" y="276586"/>
                  <a:pt x="131613" y="269740"/>
                </a:cubicBezTo>
                <a:lnTo>
                  <a:pt x="134870" y="261293"/>
                </a:lnTo>
                <a:cubicBezTo>
                  <a:pt x="147899" y="227396"/>
                  <a:pt x="154579" y="191402"/>
                  <a:pt x="154579" y="155076"/>
                </a:cubicBezTo>
                <a:lnTo>
                  <a:pt x="154579" y="14132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8276239" y="2705985"/>
            <a:ext cx="3391901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8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Brand Differentiated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9596253" y="3082743"/>
            <a:ext cx="753756" cy="3768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A855F7"/>
              </a:gs>
              <a:gs pos="100000">
                <a:srgbClr val="9333EA"/>
              </a:gs>
            </a:gsLst>
            <a:lin ang="0" scaled="1"/>
          </a:gradFill>
          <a:ln/>
        </p:spPr>
      </p:sp>
      <p:sp>
        <p:nvSpPr>
          <p:cNvPr id="62" name="Text 60"/>
          <p:cNvSpPr/>
          <p:nvPr/>
        </p:nvSpPr>
        <p:spPr>
          <a:xfrm>
            <a:off x="8332771" y="3271182"/>
            <a:ext cx="3354213" cy="73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F8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Establishes unique market positioning by finding angles competitors miss and building distinctive brand voice.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332771" y="4175689"/>
            <a:ext cx="301502" cy="301502"/>
          </a:xfrm>
          <a:prstGeom prst="roundRect">
            <a:avLst>
              <a:gd name="adj" fmla="val 25000"/>
            </a:avLst>
          </a:prstGeom>
          <a:solidFill>
            <a:srgbClr val="A855F7">
              <a:alpha val="20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426990" y="4251065"/>
            <a:ext cx="113063" cy="150751"/>
          </a:xfrm>
          <a:custGeom>
            <a:avLst/>
            <a:gdLst/>
            <a:ahLst/>
            <a:cxnLst/>
            <a:rect l="l" t="t" r="r" b="b"/>
            <a:pathLst>
              <a:path w="113063" h="150751">
                <a:moveTo>
                  <a:pt x="86240" y="113063"/>
                </a:moveTo>
                <a:cubicBezTo>
                  <a:pt x="88390" y="106497"/>
                  <a:pt x="92688" y="100550"/>
                  <a:pt x="97547" y="95427"/>
                </a:cubicBezTo>
                <a:cubicBezTo>
                  <a:pt x="107175" y="85298"/>
                  <a:pt x="113063" y="71607"/>
                  <a:pt x="113063" y="56532"/>
                </a:cubicBezTo>
                <a:cubicBezTo>
                  <a:pt x="113063" y="25321"/>
                  <a:pt x="87742" y="0"/>
                  <a:pt x="56532" y="0"/>
                </a:cubicBezTo>
                <a:cubicBezTo>
                  <a:pt x="25321" y="0"/>
                  <a:pt x="0" y="25321"/>
                  <a:pt x="0" y="56532"/>
                </a:cubicBezTo>
                <a:cubicBezTo>
                  <a:pt x="0" y="71607"/>
                  <a:pt x="5889" y="85298"/>
                  <a:pt x="15517" y="95427"/>
                </a:cubicBezTo>
                <a:cubicBezTo>
                  <a:pt x="20375" y="100550"/>
                  <a:pt x="24703" y="106497"/>
                  <a:pt x="26823" y="113063"/>
                </a:cubicBezTo>
                <a:lnTo>
                  <a:pt x="86211" y="113063"/>
                </a:lnTo>
                <a:close/>
                <a:moveTo>
                  <a:pt x="84798" y="127196"/>
                </a:moveTo>
                <a:lnTo>
                  <a:pt x="28266" y="127196"/>
                </a:lnTo>
                <a:lnTo>
                  <a:pt x="28266" y="131907"/>
                </a:lnTo>
                <a:cubicBezTo>
                  <a:pt x="28266" y="144921"/>
                  <a:pt x="38807" y="155462"/>
                  <a:pt x="51821" y="155462"/>
                </a:cubicBezTo>
                <a:lnTo>
                  <a:pt x="61243" y="155462"/>
                </a:lnTo>
                <a:cubicBezTo>
                  <a:pt x="74257" y="155462"/>
                  <a:pt x="84798" y="144921"/>
                  <a:pt x="84798" y="131907"/>
                </a:cubicBezTo>
                <a:lnTo>
                  <a:pt x="84798" y="127196"/>
                </a:lnTo>
                <a:close/>
                <a:moveTo>
                  <a:pt x="54176" y="32977"/>
                </a:moveTo>
                <a:cubicBezTo>
                  <a:pt x="42458" y="32977"/>
                  <a:pt x="32977" y="42458"/>
                  <a:pt x="32977" y="54176"/>
                </a:cubicBezTo>
                <a:cubicBezTo>
                  <a:pt x="32977" y="58092"/>
                  <a:pt x="29826" y="61243"/>
                  <a:pt x="25910" y="61243"/>
                </a:cubicBezTo>
                <a:cubicBezTo>
                  <a:pt x="21994" y="61243"/>
                  <a:pt x="18844" y="58092"/>
                  <a:pt x="18844" y="54176"/>
                </a:cubicBezTo>
                <a:cubicBezTo>
                  <a:pt x="18844" y="34655"/>
                  <a:pt x="34655" y="18844"/>
                  <a:pt x="54176" y="18844"/>
                </a:cubicBezTo>
                <a:cubicBezTo>
                  <a:pt x="58092" y="18844"/>
                  <a:pt x="61243" y="21994"/>
                  <a:pt x="61243" y="25910"/>
                </a:cubicBezTo>
                <a:cubicBezTo>
                  <a:pt x="61243" y="29826"/>
                  <a:pt x="58092" y="32977"/>
                  <a:pt x="54176" y="32977"/>
                </a:cubicBezTo>
                <a:close/>
              </a:path>
            </a:pathLst>
          </a:custGeom>
          <a:solidFill>
            <a:srgbClr val="A855F7"/>
          </a:solidFill>
          <a:ln/>
        </p:spPr>
      </p:sp>
      <p:sp>
        <p:nvSpPr>
          <p:cNvPr id="65" name="Text 63"/>
          <p:cNvSpPr/>
          <p:nvPr/>
        </p:nvSpPr>
        <p:spPr>
          <a:xfrm>
            <a:off x="8747336" y="4156845"/>
            <a:ext cx="2308377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Unique Angles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747336" y="4382972"/>
            <a:ext cx="2298955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Discovers positioning competitors miss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332771" y="4703318"/>
            <a:ext cx="301502" cy="301502"/>
          </a:xfrm>
          <a:prstGeom prst="roundRect">
            <a:avLst>
              <a:gd name="adj" fmla="val 25000"/>
            </a:avLst>
          </a:prstGeom>
          <a:solidFill>
            <a:srgbClr val="A855F7">
              <a:alpha val="20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408146" y="4778694"/>
            <a:ext cx="150751" cy="150751"/>
          </a:xfrm>
          <a:custGeom>
            <a:avLst/>
            <a:gdLst/>
            <a:ahLst/>
            <a:cxnLst/>
            <a:rect l="l" t="t" r="r" b="b"/>
            <a:pathLst>
              <a:path w="150751" h="150751">
                <a:moveTo>
                  <a:pt x="150751" y="75376"/>
                </a:moveTo>
                <a:cubicBezTo>
                  <a:pt x="150751" y="75641"/>
                  <a:pt x="150751" y="75906"/>
                  <a:pt x="150751" y="76171"/>
                </a:cubicBezTo>
                <a:cubicBezTo>
                  <a:pt x="150633" y="86917"/>
                  <a:pt x="140858" y="94219"/>
                  <a:pt x="130111" y="94219"/>
                </a:cubicBezTo>
                <a:lnTo>
                  <a:pt x="101286" y="94219"/>
                </a:lnTo>
                <a:cubicBezTo>
                  <a:pt x="93483" y="94219"/>
                  <a:pt x="87153" y="100550"/>
                  <a:pt x="87153" y="108352"/>
                </a:cubicBezTo>
                <a:cubicBezTo>
                  <a:pt x="87153" y="109353"/>
                  <a:pt x="87271" y="110325"/>
                  <a:pt x="87447" y="111267"/>
                </a:cubicBezTo>
                <a:cubicBezTo>
                  <a:pt x="88066" y="114271"/>
                  <a:pt x="89361" y="117156"/>
                  <a:pt x="90627" y="120071"/>
                </a:cubicBezTo>
                <a:cubicBezTo>
                  <a:pt x="92423" y="124134"/>
                  <a:pt x="94190" y="128168"/>
                  <a:pt x="94190" y="132437"/>
                </a:cubicBezTo>
                <a:cubicBezTo>
                  <a:pt x="94190" y="141800"/>
                  <a:pt x="87830" y="150310"/>
                  <a:pt x="78467" y="150692"/>
                </a:cubicBezTo>
                <a:cubicBezTo>
                  <a:pt x="77437" y="150722"/>
                  <a:pt x="76406" y="150751"/>
                  <a:pt x="75346" y="150751"/>
                </a:cubicBezTo>
                <a:cubicBezTo>
                  <a:pt x="33713" y="150751"/>
                  <a:pt x="-29" y="117009"/>
                  <a:pt x="-29" y="75376"/>
                </a:cubicBezTo>
                <a:cubicBezTo>
                  <a:pt x="-29" y="33742"/>
                  <a:pt x="33742" y="0"/>
                  <a:pt x="75376" y="0"/>
                </a:cubicBezTo>
                <a:cubicBezTo>
                  <a:pt x="117009" y="0"/>
                  <a:pt x="150751" y="33742"/>
                  <a:pt x="150751" y="75376"/>
                </a:cubicBezTo>
                <a:close/>
                <a:moveTo>
                  <a:pt x="37688" y="84798"/>
                </a:moveTo>
                <a:cubicBezTo>
                  <a:pt x="37688" y="79597"/>
                  <a:pt x="33466" y="75376"/>
                  <a:pt x="28266" y="75376"/>
                </a:cubicBezTo>
                <a:cubicBezTo>
                  <a:pt x="23066" y="75376"/>
                  <a:pt x="18844" y="79597"/>
                  <a:pt x="18844" y="84798"/>
                </a:cubicBezTo>
                <a:cubicBezTo>
                  <a:pt x="18844" y="89998"/>
                  <a:pt x="23066" y="94219"/>
                  <a:pt x="28266" y="94219"/>
                </a:cubicBezTo>
                <a:cubicBezTo>
                  <a:pt x="33466" y="94219"/>
                  <a:pt x="37688" y="89998"/>
                  <a:pt x="37688" y="84798"/>
                </a:cubicBezTo>
                <a:close/>
                <a:moveTo>
                  <a:pt x="37688" y="56532"/>
                </a:moveTo>
                <a:cubicBezTo>
                  <a:pt x="42888" y="56532"/>
                  <a:pt x="47110" y="52310"/>
                  <a:pt x="47110" y="47110"/>
                </a:cubicBezTo>
                <a:cubicBezTo>
                  <a:pt x="47110" y="41910"/>
                  <a:pt x="42888" y="37688"/>
                  <a:pt x="37688" y="37688"/>
                </a:cubicBezTo>
                <a:cubicBezTo>
                  <a:pt x="32488" y="37688"/>
                  <a:pt x="28266" y="41910"/>
                  <a:pt x="28266" y="47110"/>
                </a:cubicBezTo>
                <a:cubicBezTo>
                  <a:pt x="28266" y="52310"/>
                  <a:pt x="32488" y="56532"/>
                  <a:pt x="37688" y="56532"/>
                </a:cubicBezTo>
                <a:close/>
                <a:moveTo>
                  <a:pt x="84798" y="28266"/>
                </a:moveTo>
                <a:cubicBezTo>
                  <a:pt x="84798" y="23066"/>
                  <a:pt x="80576" y="18844"/>
                  <a:pt x="75376" y="18844"/>
                </a:cubicBezTo>
                <a:cubicBezTo>
                  <a:pt x="70175" y="18844"/>
                  <a:pt x="65954" y="23066"/>
                  <a:pt x="65954" y="28266"/>
                </a:cubicBezTo>
                <a:cubicBezTo>
                  <a:pt x="65954" y="33466"/>
                  <a:pt x="70175" y="37688"/>
                  <a:pt x="75376" y="37688"/>
                </a:cubicBezTo>
                <a:cubicBezTo>
                  <a:pt x="80576" y="37688"/>
                  <a:pt x="84798" y="33466"/>
                  <a:pt x="84798" y="28266"/>
                </a:cubicBezTo>
                <a:close/>
                <a:moveTo>
                  <a:pt x="113063" y="56532"/>
                </a:moveTo>
                <a:cubicBezTo>
                  <a:pt x="118263" y="56532"/>
                  <a:pt x="122485" y="52310"/>
                  <a:pt x="122485" y="47110"/>
                </a:cubicBezTo>
                <a:cubicBezTo>
                  <a:pt x="122485" y="41910"/>
                  <a:pt x="118263" y="37688"/>
                  <a:pt x="113063" y="37688"/>
                </a:cubicBezTo>
                <a:cubicBezTo>
                  <a:pt x="107863" y="37688"/>
                  <a:pt x="103641" y="41910"/>
                  <a:pt x="103641" y="47110"/>
                </a:cubicBezTo>
                <a:cubicBezTo>
                  <a:pt x="103641" y="52310"/>
                  <a:pt x="107863" y="56532"/>
                  <a:pt x="113063" y="56532"/>
                </a:cubicBezTo>
                <a:close/>
              </a:path>
            </a:pathLst>
          </a:custGeom>
          <a:solidFill>
            <a:srgbClr val="A855F7"/>
          </a:solidFill>
          <a:ln/>
        </p:spPr>
      </p:sp>
      <p:sp>
        <p:nvSpPr>
          <p:cNvPr id="69" name="Text 67"/>
          <p:cNvSpPr/>
          <p:nvPr/>
        </p:nvSpPr>
        <p:spPr>
          <a:xfrm>
            <a:off x="8747336" y="4684474"/>
            <a:ext cx="2016297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Distinctive Voice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747336" y="4910601"/>
            <a:ext cx="2006875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Memorable and recognizable tone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8332771" y="5230947"/>
            <a:ext cx="301502" cy="301502"/>
          </a:xfrm>
          <a:prstGeom prst="roundRect">
            <a:avLst>
              <a:gd name="adj" fmla="val 25000"/>
            </a:avLst>
          </a:prstGeom>
          <a:solidFill>
            <a:srgbClr val="A855F7">
              <a:alpha val="20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8408146" y="5306323"/>
            <a:ext cx="150751" cy="150751"/>
          </a:xfrm>
          <a:custGeom>
            <a:avLst/>
            <a:gdLst/>
            <a:ahLst/>
            <a:cxnLst/>
            <a:rect l="l" t="t" r="r" b="b"/>
            <a:pathLst>
              <a:path w="150751" h="150751">
                <a:moveTo>
                  <a:pt x="75376" y="23555"/>
                </a:moveTo>
                <a:cubicBezTo>
                  <a:pt x="83176" y="23555"/>
                  <a:pt x="89509" y="17222"/>
                  <a:pt x="89509" y="9422"/>
                </a:cubicBezTo>
                <a:cubicBezTo>
                  <a:pt x="89509" y="1622"/>
                  <a:pt x="83176" y="-4711"/>
                  <a:pt x="75376" y="-4711"/>
                </a:cubicBezTo>
                <a:cubicBezTo>
                  <a:pt x="67575" y="-4711"/>
                  <a:pt x="61243" y="1622"/>
                  <a:pt x="61243" y="9422"/>
                </a:cubicBezTo>
                <a:cubicBezTo>
                  <a:pt x="61243" y="17222"/>
                  <a:pt x="67575" y="23555"/>
                  <a:pt x="75376" y="23555"/>
                </a:cubicBezTo>
                <a:close/>
                <a:moveTo>
                  <a:pt x="1619" y="54471"/>
                </a:moveTo>
                <a:lnTo>
                  <a:pt x="37688" y="113063"/>
                </a:lnTo>
                <a:lnTo>
                  <a:pt x="21140" y="133762"/>
                </a:lnTo>
                <a:cubicBezTo>
                  <a:pt x="19668" y="135617"/>
                  <a:pt x="18844" y="137914"/>
                  <a:pt x="18844" y="140299"/>
                </a:cubicBezTo>
                <a:cubicBezTo>
                  <a:pt x="18844" y="146070"/>
                  <a:pt x="23525" y="150751"/>
                  <a:pt x="29296" y="150751"/>
                </a:cubicBezTo>
                <a:lnTo>
                  <a:pt x="121425" y="150751"/>
                </a:lnTo>
                <a:cubicBezTo>
                  <a:pt x="127196" y="150751"/>
                  <a:pt x="131878" y="146070"/>
                  <a:pt x="131878" y="140299"/>
                </a:cubicBezTo>
                <a:cubicBezTo>
                  <a:pt x="131878" y="137914"/>
                  <a:pt x="131083" y="135617"/>
                  <a:pt x="129581" y="133762"/>
                </a:cubicBezTo>
                <a:lnTo>
                  <a:pt x="113063" y="113063"/>
                </a:lnTo>
                <a:lnTo>
                  <a:pt x="149132" y="54471"/>
                </a:lnTo>
                <a:cubicBezTo>
                  <a:pt x="150192" y="52733"/>
                  <a:pt x="150751" y="50731"/>
                  <a:pt x="150751" y="48700"/>
                </a:cubicBezTo>
                <a:lnTo>
                  <a:pt x="150751" y="48523"/>
                </a:lnTo>
                <a:cubicBezTo>
                  <a:pt x="150751" y="42546"/>
                  <a:pt x="145893" y="37688"/>
                  <a:pt x="139916" y="37688"/>
                </a:cubicBezTo>
                <a:cubicBezTo>
                  <a:pt x="137767" y="37688"/>
                  <a:pt x="135676" y="38336"/>
                  <a:pt x="133909" y="39513"/>
                </a:cubicBezTo>
                <a:lnTo>
                  <a:pt x="128933" y="42840"/>
                </a:lnTo>
                <a:cubicBezTo>
                  <a:pt x="125194" y="45343"/>
                  <a:pt x="120218" y="44843"/>
                  <a:pt x="117038" y="41663"/>
                </a:cubicBezTo>
                <a:lnTo>
                  <a:pt x="106998" y="31622"/>
                </a:lnTo>
                <a:cubicBezTo>
                  <a:pt x="104849" y="29473"/>
                  <a:pt x="101934" y="28266"/>
                  <a:pt x="98930" y="28266"/>
                </a:cubicBezTo>
                <a:cubicBezTo>
                  <a:pt x="95927" y="28266"/>
                  <a:pt x="93012" y="29473"/>
                  <a:pt x="90892" y="31593"/>
                </a:cubicBezTo>
                <a:lnTo>
                  <a:pt x="82030" y="40455"/>
                </a:lnTo>
                <a:cubicBezTo>
                  <a:pt x="78349" y="44136"/>
                  <a:pt x="72372" y="44136"/>
                  <a:pt x="68692" y="40455"/>
                </a:cubicBezTo>
                <a:lnTo>
                  <a:pt x="59829" y="31593"/>
                </a:lnTo>
                <a:cubicBezTo>
                  <a:pt x="57739" y="29473"/>
                  <a:pt x="54824" y="28266"/>
                  <a:pt x="51821" y="28266"/>
                </a:cubicBezTo>
                <a:cubicBezTo>
                  <a:pt x="48817" y="28266"/>
                  <a:pt x="45903" y="29473"/>
                  <a:pt x="43783" y="31593"/>
                </a:cubicBezTo>
                <a:lnTo>
                  <a:pt x="33742" y="41633"/>
                </a:lnTo>
                <a:cubicBezTo>
                  <a:pt x="30562" y="44813"/>
                  <a:pt x="25586" y="45314"/>
                  <a:pt x="21847" y="42811"/>
                </a:cubicBezTo>
                <a:lnTo>
                  <a:pt x="16871" y="39513"/>
                </a:lnTo>
                <a:cubicBezTo>
                  <a:pt x="15075" y="38336"/>
                  <a:pt x="12985" y="37688"/>
                  <a:pt x="10865" y="37688"/>
                </a:cubicBezTo>
                <a:cubicBezTo>
                  <a:pt x="4888" y="37688"/>
                  <a:pt x="29" y="42546"/>
                  <a:pt x="29" y="48523"/>
                </a:cubicBezTo>
                <a:lnTo>
                  <a:pt x="29" y="48700"/>
                </a:lnTo>
                <a:cubicBezTo>
                  <a:pt x="29" y="50731"/>
                  <a:pt x="589" y="52733"/>
                  <a:pt x="1649" y="54471"/>
                </a:cubicBezTo>
                <a:close/>
              </a:path>
            </a:pathLst>
          </a:custGeom>
          <a:solidFill>
            <a:srgbClr val="A855F7"/>
          </a:solidFill>
          <a:ln/>
        </p:spPr>
      </p:sp>
      <p:sp>
        <p:nvSpPr>
          <p:cNvPr id="73" name="Text 71"/>
          <p:cNvSpPr/>
          <p:nvPr/>
        </p:nvSpPr>
        <p:spPr>
          <a:xfrm>
            <a:off x="8747336" y="5212104"/>
            <a:ext cx="1837280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Positioning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8747336" y="5438230"/>
            <a:ext cx="1827858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Positions as genuinely different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8332771" y="5758577"/>
            <a:ext cx="301502" cy="301502"/>
          </a:xfrm>
          <a:prstGeom prst="roundRect">
            <a:avLst>
              <a:gd name="adj" fmla="val 25000"/>
            </a:avLst>
          </a:prstGeom>
          <a:solidFill>
            <a:srgbClr val="A855F7">
              <a:alpha val="20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8398724" y="5833952"/>
            <a:ext cx="169595" cy="150751"/>
          </a:xfrm>
          <a:custGeom>
            <a:avLst/>
            <a:gdLst/>
            <a:ahLst/>
            <a:cxnLst/>
            <a:rect l="l" t="t" r="r" b="b"/>
            <a:pathLst>
              <a:path w="169595" h="150751">
                <a:moveTo>
                  <a:pt x="91128" y="-5565"/>
                </a:moveTo>
                <a:cubicBezTo>
                  <a:pt x="89921" y="-7920"/>
                  <a:pt x="87477" y="-9422"/>
                  <a:pt x="84827" y="-9422"/>
                </a:cubicBezTo>
                <a:cubicBezTo>
                  <a:pt x="82177" y="-9422"/>
                  <a:pt x="79733" y="-7920"/>
                  <a:pt x="78526" y="-5565"/>
                </a:cubicBezTo>
                <a:lnTo>
                  <a:pt x="56856" y="36893"/>
                </a:lnTo>
                <a:lnTo>
                  <a:pt x="9775" y="44371"/>
                </a:lnTo>
                <a:cubicBezTo>
                  <a:pt x="7155" y="44784"/>
                  <a:pt x="4976" y="46639"/>
                  <a:pt x="4152" y="49171"/>
                </a:cubicBezTo>
                <a:cubicBezTo>
                  <a:pt x="3327" y="51703"/>
                  <a:pt x="4004" y="54471"/>
                  <a:pt x="5859" y="56355"/>
                </a:cubicBezTo>
                <a:lnTo>
                  <a:pt x="39543" y="90068"/>
                </a:lnTo>
                <a:lnTo>
                  <a:pt x="32123" y="137148"/>
                </a:lnTo>
                <a:cubicBezTo>
                  <a:pt x="31711" y="139769"/>
                  <a:pt x="32800" y="142419"/>
                  <a:pt x="34950" y="143979"/>
                </a:cubicBezTo>
                <a:cubicBezTo>
                  <a:pt x="37099" y="145540"/>
                  <a:pt x="39926" y="145775"/>
                  <a:pt x="42310" y="144568"/>
                </a:cubicBezTo>
                <a:lnTo>
                  <a:pt x="84827" y="122956"/>
                </a:lnTo>
                <a:lnTo>
                  <a:pt x="127314" y="144568"/>
                </a:lnTo>
                <a:cubicBezTo>
                  <a:pt x="129670" y="145775"/>
                  <a:pt x="132526" y="145540"/>
                  <a:pt x="134675" y="143979"/>
                </a:cubicBezTo>
                <a:cubicBezTo>
                  <a:pt x="136824" y="142419"/>
                  <a:pt x="137914" y="139798"/>
                  <a:pt x="137502" y="137148"/>
                </a:cubicBezTo>
                <a:lnTo>
                  <a:pt x="130052" y="90068"/>
                </a:lnTo>
                <a:lnTo>
                  <a:pt x="163736" y="56355"/>
                </a:lnTo>
                <a:cubicBezTo>
                  <a:pt x="165620" y="54471"/>
                  <a:pt x="166268" y="51703"/>
                  <a:pt x="165444" y="49171"/>
                </a:cubicBezTo>
                <a:cubicBezTo>
                  <a:pt x="164619" y="46639"/>
                  <a:pt x="162470" y="44784"/>
                  <a:pt x="159820" y="44371"/>
                </a:cubicBezTo>
                <a:lnTo>
                  <a:pt x="112769" y="36893"/>
                </a:lnTo>
                <a:lnTo>
                  <a:pt x="91128" y="-5565"/>
                </a:lnTo>
                <a:close/>
              </a:path>
            </a:pathLst>
          </a:custGeom>
          <a:solidFill>
            <a:srgbClr val="A855F7"/>
          </a:solidFill>
          <a:ln/>
        </p:spPr>
      </p:sp>
      <p:sp>
        <p:nvSpPr>
          <p:cNvPr id="77" name="Text 75"/>
          <p:cNvSpPr/>
          <p:nvPr/>
        </p:nvSpPr>
        <p:spPr>
          <a:xfrm>
            <a:off x="8747336" y="5739733"/>
            <a:ext cx="1969187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Brand Authority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8747336" y="5965859"/>
            <a:ext cx="1959765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Thought leadership and expertise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8332771" y="6308818"/>
            <a:ext cx="3278838" cy="7538"/>
          </a:xfrm>
          <a:prstGeom prst="roundRect">
            <a:avLst>
              <a:gd name="adj" fmla="val 0"/>
            </a:avLst>
          </a:prstGeom>
          <a:solidFill>
            <a:srgbClr val="A855F7">
              <a:alpha val="30196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8891256" y="6482185"/>
            <a:ext cx="150751" cy="150751"/>
          </a:xfrm>
          <a:custGeom>
            <a:avLst/>
            <a:gdLst/>
            <a:ahLst/>
            <a:cxnLst/>
            <a:rect l="l" t="t" r="r" b="b"/>
            <a:pathLst>
              <a:path w="150751" h="150751">
                <a:moveTo>
                  <a:pt x="131907" y="75376"/>
                </a:moveTo>
                <a:cubicBezTo>
                  <a:pt x="131907" y="44175"/>
                  <a:pt x="106576" y="18844"/>
                  <a:pt x="75376" y="18844"/>
                </a:cubicBezTo>
                <a:cubicBezTo>
                  <a:pt x="44175" y="18844"/>
                  <a:pt x="18844" y="44175"/>
                  <a:pt x="18844" y="75376"/>
                </a:cubicBezTo>
                <a:cubicBezTo>
                  <a:pt x="18844" y="106576"/>
                  <a:pt x="44175" y="131907"/>
                  <a:pt x="75376" y="131907"/>
                </a:cubicBezTo>
                <a:cubicBezTo>
                  <a:pt x="106576" y="131907"/>
                  <a:pt x="131907" y="106576"/>
                  <a:pt x="131907" y="75376"/>
                </a:cubicBezTo>
                <a:close/>
                <a:moveTo>
                  <a:pt x="0" y="75376"/>
                </a:moveTo>
                <a:cubicBezTo>
                  <a:pt x="0" y="33775"/>
                  <a:pt x="33775" y="0"/>
                  <a:pt x="75376" y="0"/>
                </a:cubicBezTo>
                <a:cubicBezTo>
                  <a:pt x="116976" y="0"/>
                  <a:pt x="150751" y="33775"/>
                  <a:pt x="150751" y="75376"/>
                </a:cubicBezTo>
                <a:cubicBezTo>
                  <a:pt x="150751" y="116976"/>
                  <a:pt x="116976" y="150751"/>
                  <a:pt x="75376" y="150751"/>
                </a:cubicBezTo>
                <a:cubicBezTo>
                  <a:pt x="33775" y="150751"/>
                  <a:pt x="0" y="116976"/>
                  <a:pt x="0" y="75376"/>
                </a:cubicBezTo>
                <a:close/>
                <a:moveTo>
                  <a:pt x="75376" y="98930"/>
                </a:moveTo>
                <a:cubicBezTo>
                  <a:pt x="88376" y="98930"/>
                  <a:pt x="98930" y="88376"/>
                  <a:pt x="98930" y="75376"/>
                </a:cubicBezTo>
                <a:cubicBezTo>
                  <a:pt x="98930" y="62375"/>
                  <a:pt x="88376" y="51821"/>
                  <a:pt x="75376" y="51821"/>
                </a:cubicBezTo>
                <a:cubicBezTo>
                  <a:pt x="62375" y="51821"/>
                  <a:pt x="51821" y="62375"/>
                  <a:pt x="51821" y="75376"/>
                </a:cubicBezTo>
                <a:cubicBezTo>
                  <a:pt x="51821" y="88376"/>
                  <a:pt x="62375" y="98930"/>
                  <a:pt x="75376" y="98930"/>
                </a:cubicBezTo>
                <a:close/>
                <a:moveTo>
                  <a:pt x="75376" y="32977"/>
                </a:moveTo>
                <a:cubicBezTo>
                  <a:pt x="98776" y="32977"/>
                  <a:pt x="117774" y="51975"/>
                  <a:pt x="117774" y="75376"/>
                </a:cubicBezTo>
                <a:cubicBezTo>
                  <a:pt x="117774" y="98776"/>
                  <a:pt x="98776" y="117774"/>
                  <a:pt x="75376" y="117774"/>
                </a:cubicBezTo>
                <a:cubicBezTo>
                  <a:pt x="51975" y="117774"/>
                  <a:pt x="32977" y="98776"/>
                  <a:pt x="32977" y="75376"/>
                </a:cubicBezTo>
                <a:cubicBezTo>
                  <a:pt x="32977" y="51975"/>
                  <a:pt x="51975" y="32977"/>
                  <a:pt x="75376" y="32977"/>
                </a:cubicBezTo>
                <a:close/>
                <a:moveTo>
                  <a:pt x="65954" y="75376"/>
                </a:moveTo>
                <a:cubicBezTo>
                  <a:pt x="65954" y="70175"/>
                  <a:pt x="70175" y="65954"/>
                  <a:pt x="75376" y="65954"/>
                </a:cubicBezTo>
                <a:cubicBezTo>
                  <a:pt x="80576" y="65954"/>
                  <a:pt x="84798" y="70175"/>
                  <a:pt x="84798" y="75376"/>
                </a:cubicBezTo>
                <a:cubicBezTo>
                  <a:pt x="84798" y="80576"/>
                  <a:pt x="80576" y="84798"/>
                  <a:pt x="75376" y="84798"/>
                </a:cubicBezTo>
                <a:cubicBezTo>
                  <a:pt x="70175" y="84798"/>
                  <a:pt x="65954" y="80576"/>
                  <a:pt x="65954" y="75376"/>
                </a:cubicBezTo>
                <a:close/>
              </a:path>
            </a:pathLst>
          </a:custGeom>
          <a:solidFill>
            <a:srgbClr val="A855F7"/>
          </a:solidFill>
          <a:ln/>
        </p:spPr>
      </p:sp>
      <p:sp>
        <p:nvSpPr>
          <p:cNvPr id="81" name="Text 79"/>
          <p:cNvSpPr/>
          <p:nvPr/>
        </p:nvSpPr>
        <p:spPr>
          <a:xfrm>
            <a:off x="9136227" y="6463341"/>
            <a:ext cx="2006875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b="1" dirty="0">
                <a:solidFill>
                  <a:srgbClr val="A85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Goal: Unforgettable Brand Identity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231" y="391854"/>
            <a:ext cx="35623" cy="3562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6366F1"/>
              </a:gs>
              <a:gs pos="0">
                <a:srgbClr val="FFFFFF"/>
              </a:gs>
              <a:gs pos="100000">
                <a:srgbClr val="22D3E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498723" y="356231"/>
            <a:ext cx="6857443" cy="42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6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SEO Scoring — 0 to 100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98723" y="854954"/>
            <a:ext cx="11417198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2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Four-component weighted system for objective quality assessment</a:t>
            </a:r>
            <a:endParaRPr lang="en-US" sz="1600" dirty="0"/>
          </a:p>
        </p:txBody>
      </p:sp>
      <p:pic>
        <p:nvPicPr>
          <p:cNvPr id="5" name="Image 0" descr="https://kimi-img.moonshot.cn/pub/slides/26-04-29-11:54:49-d7oo229l88bp4ql3qng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6231" y="1959270"/>
            <a:ext cx="4809116" cy="3740424"/>
          </a:xfrm>
          <a:prstGeom prst="roundRect">
            <a:avLst>
              <a:gd name="adj" fmla="val 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5717393" y="1246808"/>
            <a:ext cx="6118264" cy="1211185"/>
          </a:xfrm>
          <a:custGeom>
            <a:avLst/>
            <a:gdLst/>
            <a:ahLst/>
            <a:cxnLst/>
            <a:rect l="l" t="t" r="r" b="b"/>
            <a:pathLst>
              <a:path w="6118264" h="1211185">
                <a:moveTo>
                  <a:pt x="0" y="0"/>
                </a:moveTo>
                <a:lnTo>
                  <a:pt x="6011418" y="0"/>
                </a:lnTo>
                <a:cubicBezTo>
                  <a:pt x="6070426" y="70"/>
                  <a:pt x="6118225" y="47926"/>
                  <a:pt x="6118225" y="106934"/>
                </a:cubicBezTo>
                <a:lnTo>
                  <a:pt x="6118225" y="1104265"/>
                </a:lnTo>
                <a:cubicBezTo>
                  <a:pt x="6118225" y="1163273"/>
                  <a:pt x="6070426" y="1211129"/>
                  <a:pt x="6011418" y="1211199"/>
                </a:cubicBezTo>
                <a:lnTo>
                  <a:pt x="0" y="1211199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6366F1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7" name="Shape 4"/>
          <p:cNvSpPr/>
          <p:nvPr/>
        </p:nvSpPr>
        <p:spPr>
          <a:xfrm>
            <a:off x="5717393" y="1246808"/>
            <a:ext cx="35623" cy="1211185"/>
          </a:xfrm>
          <a:prstGeom prst="roundRect">
            <a:avLst>
              <a:gd name="adj" fmla="val 0"/>
            </a:avLst>
          </a:prstGeom>
          <a:solidFill>
            <a:srgbClr val="6366F1"/>
          </a:solidFill>
          <a:ln/>
        </p:spPr>
      </p:sp>
      <p:sp>
        <p:nvSpPr>
          <p:cNvPr id="8" name="Shape 5"/>
          <p:cNvSpPr/>
          <p:nvPr/>
        </p:nvSpPr>
        <p:spPr>
          <a:xfrm>
            <a:off x="5877697" y="1424923"/>
            <a:ext cx="356231" cy="356231"/>
          </a:xfrm>
          <a:prstGeom prst="roundRect">
            <a:avLst>
              <a:gd name="adj" fmla="val 20000"/>
            </a:avLst>
          </a:prstGeom>
          <a:solidFill>
            <a:srgbClr val="6366F1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5966755" y="1513981"/>
            <a:ext cx="178115" cy="178115"/>
          </a:xfrm>
          <a:custGeom>
            <a:avLst/>
            <a:gdLst/>
            <a:ahLst/>
            <a:cxnLst/>
            <a:rect l="l" t="t" r="r" b="b"/>
            <a:pathLst>
              <a:path w="178115" h="178115">
                <a:moveTo>
                  <a:pt x="116888" y="122454"/>
                </a:moveTo>
                <a:cubicBezTo>
                  <a:pt x="150702" y="122454"/>
                  <a:pt x="178115" y="95041"/>
                  <a:pt x="178115" y="61227"/>
                </a:cubicBezTo>
                <a:cubicBezTo>
                  <a:pt x="178115" y="27413"/>
                  <a:pt x="150702" y="0"/>
                  <a:pt x="116888" y="0"/>
                </a:cubicBezTo>
                <a:cubicBezTo>
                  <a:pt x="83074" y="0"/>
                  <a:pt x="55661" y="27413"/>
                  <a:pt x="55661" y="61227"/>
                </a:cubicBezTo>
                <a:cubicBezTo>
                  <a:pt x="55661" y="67733"/>
                  <a:pt x="56670" y="74029"/>
                  <a:pt x="58548" y="79908"/>
                </a:cubicBezTo>
                <a:lnTo>
                  <a:pt x="2435" y="136022"/>
                </a:lnTo>
                <a:cubicBezTo>
                  <a:pt x="870" y="137587"/>
                  <a:pt x="0" y="139709"/>
                  <a:pt x="0" y="141936"/>
                </a:cubicBezTo>
                <a:lnTo>
                  <a:pt x="0" y="169766"/>
                </a:lnTo>
                <a:cubicBezTo>
                  <a:pt x="0" y="174393"/>
                  <a:pt x="3722" y="178115"/>
                  <a:pt x="8349" y="178115"/>
                </a:cubicBezTo>
                <a:lnTo>
                  <a:pt x="36180" y="178115"/>
                </a:lnTo>
                <a:cubicBezTo>
                  <a:pt x="40807" y="178115"/>
                  <a:pt x="44529" y="174393"/>
                  <a:pt x="44529" y="169766"/>
                </a:cubicBezTo>
                <a:lnTo>
                  <a:pt x="44529" y="155851"/>
                </a:lnTo>
                <a:lnTo>
                  <a:pt x="58444" y="155851"/>
                </a:lnTo>
                <a:cubicBezTo>
                  <a:pt x="63071" y="155851"/>
                  <a:pt x="66793" y="152129"/>
                  <a:pt x="66793" y="147502"/>
                </a:cubicBezTo>
                <a:lnTo>
                  <a:pt x="66793" y="133587"/>
                </a:lnTo>
                <a:lnTo>
                  <a:pt x="80709" y="133587"/>
                </a:lnTo>
                <a:cubicBezTo>
                  <a:pt x="82935" y="133587"/>
                  <a:pt x="85057" y="132717"/>
                  <a:pt x="86623" y="131151"/>
                </a:cubicBezTo>
                <a:lnTo>
                  <a:pt x="98207" y="119567"/>
                </a:lnTo>
                <a:cubicBezTo>
                  <a:pt x="104086" y="121445"/>
                  <a:pt x="110383" y="122454"/>
                  <a:pt x="116888" y="122454"/>
                </a:cubicBezTo>
                <a:close/>
                <a:moveTo>
                  <a:pt x="130804" y="33397"/>
                </a:moveTo>
                <a:cubicBezTo>
                  <a:pt x="138484" y="33397"/>
                  <a:pt x="144719" y="39632"/>
                  <a:pt x="144719" y="47312"/>
                </a:cubicBezTo>
                <a:cubicBezTo>
                  <a:pt x="144719" y="54992"/>
                  <a:pt x="138484" y="61227"/>
                  <a:pt x="130804" y="61227"/>
                </a:cubicBezTo>
                <a:cubicBezTo>
                  <a:pt x="123123" y="61227"/>
                  <a:pt x="116888" y="54992"/>
                  <a:pt x="116888" y="47312"/>
                </a:cubicBezTo>
                <a:cubicBezTo>
                  <a:pt x="116888" y="39632"/>
                  <a:pt x="123123" y="33397"/>
                  <a:pt x="130804" y="3339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0" name="Text 7"/>
          <p:cNvSpPr/>
          <p:nvPr/>
        </p:nvSpPr>
        <p:spPr>
          <a:xfrm>
            <a:off x="6340797" y="1389300"/>
            <a:ext cx="1318054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Keyword Match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340797" y="1638662"/>
            <a:ext cx="1291337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component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152585" y="1442735"/>
            <a:ext cx="676839" cy="320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04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877697" y="1888023"/>
            <a:ext cx="5886714" cy="42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Measures keyword presence across title, description, features, and meta fields. Higher scores indicate stronger search term coverage.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717393" y="2564862"/>
            <a:ext cx="6118264" cy="1211185"/>
          </a:xfrm>
          <a:custGeom>
            <a:avLst/>
            <a:gdLst/>
            <a:ahLst/>
            <a:cxnLst/>
            <a:rect l="l" t="t" r="r" b="b"/>
            <a:pathLst>
              <a:path w="6118264" h="1211185">
                <a:moveTo>
                  <a:pt x="0" y="0"/>
                </a:moveTo>
                <a:lnTo>
                  <a:pt x="6011418" y="0"/>
                </a:lnTo>
                <a:cubicBezTo>
                  <a:pt x="6070426" y="70"/>
                  <a:pt x="6118225" y="47926"/>
                  <a:pt x="6118225" y="106934"/>
                </a:cubicBezTo>
                <a:lnTo>
                  <a:pt x="6118225" y="1104265"/>
                </a:lnTo>
                <a:cubicBezTo>
                  <a:pt x="6118225" y="1163273"/>
                  <a:pt x="6070426" y="1211129"/>
                  <a:pt x="6011418" y="1211199"/>
                </a:cubicBezTo>
                <a:lnTo>
                  <a:pt x="0" y="1211199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A855F7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5" name="Shape 12"/>
          <p:cNvSpPr/>
          <p:nvPr/>
        </p:nvSpPr>
        <p:spPr>
          <a:xfrm>
            <a:off x="5717393" y="2564862"/>
            <a:ext cx="35623" cy="1211185"/>
          </a:xfrm>
          <a:prstGeom prst="roundRect">
            <a:avLst>
              <a:gd name="adj" fmla="val 0"/>
            </a:avLst>
          </a:prstGeom>
          <a:solidFill>
            <a:srgbClr val="A855F7"/>
          </a:solidFill>
          <a:ln/>
        </p:spPr>
      </p:sp>
      <p:sp>
        <p:nvSpPr>
          <p:cNvPr id="16" name="Shape 13"/>
          <p:cNvSpPr/>
          <p:nvPr/>
        </p:nvSpPr>
        <p:spPr>
          <a:xfrm>
            <a:off x="5877697" y="2742977"/>
            <a:ext cx="356231" cy="356231"/>
          </a:xfrm>
          <a:prstGeom prst="roundRect">
            <a:avLst>
              <a:gd name="adj" fmla="val 20000"/>
            </a:avLst>
          </a:prstGeom>
          <a:solidFill>
            <a:srgbClr val="A855F7">
              <a:alpha val="2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5955623" y="2832035"/>
            <a:ext cx="200380" cy="178115"/>
          </a:xfrm>
          <a:custGeom>
            <a:avLst/>
            <a:gdLst/>
            <a:ahLst/>
            <a:cxnLst/>
            <a:rect l="l" t="t" r="r" b="b"/>
            <a:pathLst>
              <a:path w="200380" h="178115">
                <a:moveTo>
                  <a:pt x="72742" y="179577"/>
                </a:moveTo>
                <a:cubicBezTo>
                  <a:pt x="66237" y="186082"/>
                  <a:pt x="55661" y="186082"/>
                  <a:pt x="49121" y="179577"/>
                </a:cubicBezTo>
                <a:lnTo>
                  <a:pt x="9775" y="140231"/>
                </a:lnTo>
                <a:cubicBezTo>
                  <a:pt x="3270" y="133726"/>
                  <a:pt x="3270" y="123150"/>
                  <a:pt x="9775" y="116610"/>
                </a:cubicBezTo>
                <a:lnTo>
                  <a:pt x="15689" y="110696"/>
                </a:lnTo>
                <a:lnTo>
                  <a:pt x="41259" y="136265"/>
                </a:lnTo>
                <a:cubicBezTo>
                  <a:pt x="44529" y="139535"/>
                  <a:pt x="49817" y="139535"/>
                  <a:pt x="53052" y="136265"/>
                </a:cubicBezTo>
                <a:cubicBezTo>
                  <a:pt x="56287" y="132995"/>
                  <a:pt x="56322" y="127707"/>
                  <a:pt x="53052" y="124472"/>
                </a:cubicBezTo>
                <a:lnTo>
                  <a:pt x="27483" y="98903"/>
                </a:lnTo>
                <a:lnTo>
                  <a:pt x="39276" y="87110"/>
                </a:lnTo>
                <a:lnTo>
                  <a:pt x="56983" y="104817"/>
                </a:lnTo>
                <a:cubicBezTo>
                  <a:pt x="60253" y="108087"/>
                  <a:pt x="65541" y="108087"/>
                  <a:pt x="68776" y="104817"/>
                </a:cubicBezTo>
                <a:cubicBezTo>
                  <a:pt x="72012" y="101547"/>
                  <a:pt x="72046" y="96259"/>
                  <a:pt x="68776" y="93024"/>
                </a:cubicBezTo>
                <a:lnTo>
                  <a:pt x="51069" y="75316"/>
                </a:lnTo>
                <a:lnTo>
                  <a:pt x="62862" y="63523"/>
                </a:lnTo>
                <a:lnTo>
                  <a:pt x="88432" y="89092"/>
                </a:lnTo>
                <a:cubicBezTo>
                  <a:pt x="91702" y="92363"/>
                  <a:pt x="96989" y="92363"/>
                  <a:pt x="100225" y="89092"/>
                </a:cubicBezTo>
                <a:cubicBezTo>
                  <a:pt x="103460" y="85822"/>
                  <a:pt x="103495" y="80535"/>
                  <a:pt x="100225" y="77299"/>
                </a:cubicBezTo>
                <a:lnTo>
                  <a:pt x="74655" y="51730"/>
                </a:lnTo>
                <a:lnTo>
                  <a:pt x="86449" y="39937"/>
                </a:lnTo>
                <a:lnTo>
                  <a:pt x="104156" y="57644"/>
                </a:lnTo>
                <a:cubicBezTo>
                  <a:pt x="107426" y="60914"/>
                  <a:pt x="112714" y="60914"/>
                  <a:pt x="115949" y="57644"/>
                </a:cubicBezTo>
                <a:cubicBezTo>
                  <a:pt x="119184" y="54374"/>
                  <a:pt x="119219" y="49086"/>
                  <a:pt x="115949" y="45851"/>
                </a:cubicBezTo>
                <a:lnTo>
                  <a:pt x="98242" y="28144"/>
                </a:lnTo>
                <a:lnTo>
                  <a:pt x="110035" y="16350"/>
                </a:lnTo>
                <a:lnTo>
                  <a:pt x="135604" y="41920"/>
                </a:lnTo>
                <a:cubicBezTo>
                  <a:pt x="138874" y="45190"/>
                  <a:pt x="144162" y="45190"/>
                  <a:pt x="147397" y="41920"/>
                </a:cubicBezTo>
                <a:cubicBezTo>
                  <a:pt x="150633" y="38650"/>
                  <a:pt x="150668" y="33362"/>
                  <a:pt x="147397" y="30127"/>
                </a:cubicBezTo>
                <a:lnTo>
                  <a:pt x="121828" y="4557"/>
                </a:lnTo>
                <a:lnTo>
                  <a:pt x="127742" y="-1357"/>
                </a:lnTo>
                <a:cubicBezTo>
                  <a:pt x="134248" y="-7862"/>
                  <a:pt x="144823" y="-7862"/>
                  <a:pt x="151363" y="-1357"/>
                </a:cubicBezTo>
                <a:lnTo>
                  <a:pt x="190813" y="37884"/>
                </a:lnTo>
                <a:cubicBezTo>
                  <a:pt x="197318" y="44390"/>
                  <a:pt x="197318" y="54965"/>
                  <a:pt x="190813" y="61505"/>
                </a:cubicBezTo>
                <a:lnTo>
                  <a:pt x="72742" y="179577"/>
                </a:lnTo>
                <a:close/>
              </a:path>
            </a:pathLst>
          </a:custGeom>
          <a:solidFill>
            <a:srgbClr val="A855F7"/>
          </a:solidFill>
          <a:ln/>
        </p:spPr>
      </p:sp>
      <p:sp>
        <p:nvSpPr>
          <p:cNvPr id="18" name="Text 15"/>
          <p:cNvSpPr/>
          <p:nvPr/>
        </p:nvSpPr>
        <p:spPr>
          <a:xfrm>
            <a:off x="6340797" y="2707354"/>
            <a:ext cx="1300243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Optimal Length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0797" y="2956716"/>
            <a:ext cx="1273525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 sizing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154701" y="2760789"/>
            <a:ext cx="667933" cy="320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04" b="1" dirty="0">
                <a:solidFill>
                  <a:srgbClr val="A855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20%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877697" y="3206077"/>
            <a:ext cx="5886714" cy="42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Evaluates if word count falls within ideal range of 150-300 words. Too short or too long descriptions hurt engagement and ranking.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717393" y="3882916"/>
            <a:ext cx="6118264" cy="1211185"/>
          </a:xfrm>
          <a:custGeom>
            <a:avLst/>
            <a:gdLst/>
            <a:ahLst/>
            <a:cxnLst/>
            <a:rect l="l" t="t" r="r" b="b"/>
            <a:pathLst>
              <a:path w="6118264" h="1211185">
                <a:moveTo>
                  <a:pt x="0" y="0"/>
                </a:moveTo>
                <a:lnTo>
                  <a:pt x="6011418" y="0"/>
                </a:lnTo>
                <a:cubicBezTo>
                  <a:pt x="6070426" y="70"/>
                  <a:pt x="6118225" y="47926"/>
                  <a:pt x="6118225" y="106934"/>
                </a:cubicBezTo>
                <a:lnTo>
                  <a:pt x="6118225" y="1104265"/>
                </a:lnTo>
                <a:cubicBezTo>
                  <a:pt x="6118225" y="1163273"/>
                  <a:pt x="6070426" y="1211129"/>
                  <a:pt x="6011418" y="1211199"/>
                </a:cubicBezTo>
                <a:lnTo>
                  <a:pt x="0" y="1211199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2D3EE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3" name="Shape 20"/>
          <p:cNvSpPr/>
          <p:nvPr/>
        </p:nvSpPr>
        <p:spPr>
          <a:xfrm>
            <a:off x="5717393" y="3882916"/>
            <a:ext cx="35623" cy="1211185"/>
          </a:xfrm>
          <a:prstGeom prst="roundRect">
            <a:avLst>
              <a:gd name="adj" fmla="val 0"/>
            </a:avLst>
          </a:prstGeom>
          <a:solidFill>
            <a:srgbClr val="22D3EE"/>
          </a:solidFill>
          <a:ln/>
        </p:spPr>
      </p:sp>
      <p:sp>
        <p:nvSpPr>
          <p:cNvPr id="24" name="Shape 21"/>
          <p:cNvSpPr/>
          <p:nvPr/>
        </p:nvSpPr>
        <p:spPr>
          <a:xfrm>
            <a:off x="5877697" y="4061031"/>
            <a:ext cx="356231" cy="356231"/>
          </a:xfrm>
          <a:prstGeom prst="roundRect">
            <a:avLst>
              <a:gd name="adj" fmla="val 20000"/>
            </a:avLst>
          </a:prstGeom>
          <a:solidFill>
            <a:srgbClr val="22D3EE">
              <a:alpha val="20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5966755" y="4150089"/>
            <a:ext cx="178115" cy="178115"/>
          </a:xfrm>
          <a:custGeom>
            <a:avLst/>
            <a:gdLst/>
            <a:ahLst/>
            <a:cxnLst/>
            <a:rect l="l" t="t" r="r" b="b"/>
            <a:pathLst>
              <a:path w="178115" h="178115">
                <a:moveTo>
                  <a:pt x="89058" y="52878"/>
                </a:moveTo>
                <a:cubicBezTo>
                  <a:pt x="105954" y="52878"/>
                  <a:pt x="119671" y="39161"/>
                  <a:pt x="119671" y="22264"/>
                </a:cubicBezTo>
                <a:cubicBezTo>
                  <a:pt x="119671" y="5368"/>
                  <a:pt x="105954" y="-8349"/>
                  <a:pt x="89058" y="-8349"/>
                </a:cubicBezTo>
                <a:cubicBezTo>
                  <a:pt x="72162" y="-8349"/>
                  <a:pt x="58444" y="5368"/>
                  <a:pt x="58444" y="22264"/>
                </a:cubicBezTo>
                <a:cubicBezTo>
                  <a:pt x="58444" y="39161"/>
                  <a:pt x="72162" y="52878"/>
                  <a:pt x="89058" y="52878"/>
                </a:cubicBezTo>
                <a:close/>
                <a:moveTo>
                  <a:pt x="89058" y="156790"/>
                </a:moveTo>
                <a:lnTo>
                  <a:pt x="89058" y="104852"/>
                </a:lnTo>
                <a:cubicBezTo>
                  <a:pt x="94728" y="102486"/>
                  <a:pt x="100503" y="100086"/>
                  <a:pt x="106347" y="97650"/>
                </a:cubicBezTo>
                <a:cubicBezTo>
                  <a:pt x="119915" y="92015"/>
                  <a:pt x="134456" y="89092"/>
                  <a:pt x="149172" y="89092"/>
                </a:cubicBezTo>
                <a:lnTo>
                  <a:pt x="155851" y="89092"/>
                </a:lnTo>
                <a:lnTo>
                  <a:pt x="155851" y="144754"/>
                </a:lnTo>
                <a:lnTo>
                  <a:pt x="149172" y="144754"/>
                </a:lnTo>
                <a:cubicBezTo>
                  <a:pt x="128612" y="144754"/>
                  <a:pt x="108226" y="148824"/>
                  <a:pt x="89232" y="156755"/>
                </a:cubicBezTo>
                <a:lnTo>
                  <a:pt x="89058" y="156825"/>
                </a:lnTo>
                <a:close/>
                <a:moveTo>
                  <a:pt x="89058" y="80709"/>
                </a:moveTo>
                <a:lnTo>
                  <a:pt x="80326" y="77056"/>
                </a:lnTo>
                <a:cubicBezTo>
                  <a:pt x="64045" y="70272"/>
                  <a:pt x="46581" y="66793"/>
                  <a:pt x="28944" y="66793"/>
                </a:cubicBezTo>
                <a:lnTo>
                  <a:pt x="16698" y="66793"/>
                </a:lnTo>
                <a:cubicBezTo>
                  <a:pt x="7479" y="66793"/>
                  <a:pt x="0" y="74273"/>
                  <a:pt x="0" y="83492"/>
                </a:cubicBezTo>
                <a:lnTo>
                  <a:pt x="0" y="150285"/>
                </a:lnTo>
                <a:cubicBezTo>
                  <a:pt x="0" y="159504"/>
                  <a:pt x="7479" y="166983"/>
                  <a:pt x="16698" y="166983"/>
                </a:cubicBezTo>
                <a:lnTo>
                  <a:pt x="28944" y="166983"/>
                </a:lnTo>
                <a:cubicBezTo>
                  <a:pt x="46581" y="166983"/>
                  <a:pt x="64045" y="170462"/>
                  <a:pt x="80326" y="177246"/>
                </a:cubicBezTo>
                <a:lnTo>
                  <a:pt x="84779" y="179089"/>
                </a:lnTo>
                <a:cubicBezTo>
                  <a:pt x="87527" y="180237"/>
                  <a:pt x="90588" y="180237"/>
                  <a:pt x="93337" y="179089"/>
                </a:cubicBezTo>
                <a:lnTo>
                  <a:pt x="97790" y="177246"/>
                </a:lnTo>
                <a:cubicBezTo>
                  <a:pt x="114070" y="170462"/>
                  <a:pt x="131534" y="166983"/>
                  <a:pt x="149172" y="166983"/>
                </a:cubicBezTo>
                <a:lnTo>
                  <a:pt x="161417" y="166983"/>
                </a:lnTo>
                <a:cubicBezTo>
                  <a:pt x="170636" y="166983"/>
                  <a:pt x="178115" y="159504"/>
                  <a:pt x="178115" y="150285"/>
                </a:cubicBezTo>
                <a:lnTo>
                  <a:pt x="178115" y="83492"/>
                </a:lnTo>
                <a:cubicBezTo>
                  <a:pt x="178115" y="74273"/>
                  <a:pt x="170636" y="66793"/>
                  <a:pt x="161417" y="66793"/>
                </a:cubicBezTo>
                <a:lnTo>
                  <a:pt x="149172" y="66793"/>
                </a:lnTo>
                <a:cubicBezTo>
                  <a:pt x="131534" y="66793"/>
                  <a:pt x="114070" y="70272"/>
                  <a:pt x="97790" y="77056"/>
                </a:cubicBezTo>
                <a:lnTo>
                  <a:pt x="89058" y="80709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26" name="Text 23"/>
          <p:cNvSpPr/>
          <p:nvPr/>
        </p:nvSpPr>
        <p:spPr>
          <a:xfrm>
            <a:off x="6340797" y="4025408"/>
            <a:ext cx="1104316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Readability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340797" y="4274770"/>
            <a:ext cx="1077598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Sentence structure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1154701" y="4078843"/>
            <a:ext cx="667933" cy="320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04" b="1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20%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877697" y="4524131"/>
            <a:ext cx="5886714" cy="42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Analyzes average sentence length targeting 15-20 words. Optimal readability improves user engagement and reduces bounce rates.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717393" y="5200970"/>
            <a:ext cx="6118264" cy="1211185"/>
          </a:xfrm>
          <a:custGeom>
            <a:avLst/>
            <a:gdLst/>
            <a:ahLst/>
            <a:cxnLst/>
            <a:rect l="l" t="t" r="r" b="b"/>
            <a:pathLst>
              <a:path w="6118264" h="1211185">
                <a:moveTo>
                  <a:pt x="0" y="0"/>
                </a:moveTo>
                <a:lnTo>
                  <a:pt x="6011418" y="0"/>
                </a:lnTo>
                <a:cubicBezTo>
                  <a:pt x="6070426" y="70"/>
                  <a:pt x="6118225" y="47926"/>
                  <a:pt x="6118225" y="106934"/>
                </a:cubicBezTo>
                <a:lnTo>
                  <a:pt x="6118225" y="1104265"/>
                </a:lnTo>
                <a:cubicBezTo>
                  <a:pt x="6118225" y="1163273"/>
                  <a:pt x="6070426" y="1211129"/>
                  <a:pt x="6011418" y="1211199"/>
                </a:cubicBezTo>
                <a:lnTo>
                  <a:pt x="0" y="1211199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97316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1" name="Shape 28"/>
          <p:cNvSpPr/>
          <p:nvPr/>
        </p:nvSpPr>
        <p:spPr>
          <a:xfrm>
            <a:off x="5717393" y="5200970"/>
            <a:ext cx="35623" cy="1211185"/>
          </a:xfrm>
          <a:prstGeom prst="roundRect">
            <a:avLst>
              <a:gd name="adj" fmla="val 0"/>
            </a:avLst>
          </a:prstGeom>
          <a:solidFill>
            <a:srgbClr val="F97316"/>
          </a:solidFill>
          <a:ln/>
        </p:spPr>
      </p:sp>
      <p:sp>
        <p:nvSpPr>
          <p:cNvPr id="32" name="Shape 29"/>
          <p:cNvSpPr/>
          <p:nvPr/>
        </p:nvSpPr>
        <p:spPr>
          <a:xfrm>
            <a:off x="5877697" y="5379085"/>
            <a:ext cx="356231" cy="356231"/>
          </a:xfrm>
          <a:prstGeom prst="roundRect">
            <a:avLst>
              <a:gd name="adj" fmla="val 20000"/>
            </a:avLst>
          </a:prstGeom>
          <a:solidFill>
            <a:srgbClr val="F97316">
              <a:alpha val="20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5977887" y="5468143"/>
            <a:ext cx="155851" cy="178115"/>
          </a:xfrm>
          <a:custGeom>
            <a:avLst/>
            <a:gdLst/>
            <a:ahLst/>
            <a:cxnLst/>
            <a:rect l="l" t="t" r="r" b="b"/>
            <a:pathLst>
              <a:path w="155851" h="178115">
                <a:moveTo>
                  <a:pt x="117862" y="-3444"/>
                </a:moveTo>
                <a:cubicBezTo>
                  <a:pt x="122002" y="-452"/>
                  <a:pt x="123533" y="4975"/>
                  <a:pt x="121654" y="9706"/>
                </a:cubicBezTo>
                <a:lnTo>
                  <a:pt x="94380" y="77925"/>
                </a:lnTo>
                <a:lnTo>
                  <a:pt x="144719" y="77925"/>
                </a:lnTo>
                <a:cubicBezTo>
                  <a:pt x="149415" y="77925"/>
                  <a:pt x="153590" y="80848"/>
                  <a:pt x="155190" y="85266"/>
                </a:cubicBezTo>
                <a:cubicBezTo>
                  <a:pt x="156790" y="89684"/>
                  <a:pt x="155434" y="94624"/>
                  <a:pt x="151850" y="97616"/>
                </a:cubicBezTo>
                <a:lnTo>
                  <a:pt x="51660" y="181107"/>
                </a:lnTo>
                <a:cubicBezTo>
                  <a:pt x="47729" y="184377"/>
                  <a:pt x="42128" y="184551"/>
                  <a:pt x="37989" y="181559"/>
                </a:cubicBezTo>
                <a:cubicBezTo>
                  <a:pt x="33849" y="178568"/>
                  <a:pt x="32318" y="173141"/>
                  <a:pt x="34197" y="168410"/>
                </a:cubicBezTo>
                <a:lnTo>
                  <a:pt x="61471" y="100190"/>
                </a:lnTo>
                <a:lnTo>
                  <a:pt x="11132" y="100190"/>
                </a:lnTo>
                <a:cubicBezTo>
                  <a:pt x="6436" y="100190"/>
                  <a:pt x="2261" y="97268"/>
                  <a:pt x="661" y="92850"/>
                </a:cubicBezTo>
                <a:cubicBezTo>
                  <a:pt x="-939" y="88432"/>
                  <a:pt x="417" y="83492"/>
                  <a:pt x="4001" y="80500"/>
                </a:cubicBezTo>
                <a:lnTo>
                  <a:pt x="104191" y="-2992"/>
                </a:lnTo>
                <a:cubicBezTo>
                  <a:pt x="108122" y="-6262"/>
                  <a:pt x="113723" y="-6436"/>
                  <a:pt x="117862" y="-3444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34" name="Text 31"/>
          <p:cNvSpPr/>
          <p:nvPr/>
        </p:nvSpPr>
        <p:spPr>
          <a:xfrm>
            <a:off x="6340797" y="5343462"/>
            <a:ext cx="1211185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Power Words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340797" y="5592824"/>
            <a:ext cx="1184467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Conversion language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11154701" y="5396897"/>
            <a:ext cx="667933" cy="320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04" b="1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20%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5877697" y="5842186"/>
            <a:ext cx="5886714" cy="42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Detects presence of 60+ conversion-boosting words (e.g., "exclusive," "guaranteed," "revolutionary") that trigger emotional responses.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3673074" y="6522586"/>
            <a:ext cx="1200498" cy="327732"/>
          </a:xfrm>
          <a:prstGeom prst="roundRect">
            <a:avLst>
              <a:gd name="adj" fmla="val 50000"/>
            </a:avLst>
          </a:prstGeom>
          <a:solidFill>
            <a:srgbClr val="10B981">
              <a:alpha val="14902"/>
            </a:srgbClr>
          </a:solidFill>
          <a:ln w="1016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819128" y="6633021"/>
            <a:ext cx="106869" cy="106869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40" name="Text 37"/>
          <p:cNvSpPr/>
          <p:nvPr/>
        </p:nvSpPr>
        <p:spPr>
          <a:xfrm>
            <a:off x="3997244" y="6597397"/>
            <a:ext cx="792614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Excellent 90+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5022298" y="6522586"/>
            <a:ext cx="1289556" cy="327732"/>
          </a:xfrm>
          <a:prstGeom prst="roundRect">
            <a:avLst>
              <a:gd name="adj" fmla="val 50000"/>
            </a:avLst>
          </a:prstGeom>
          <a:solidFill>
            <a:srgbClr val="6366F1">
              <a:alpha val="14902"/>
            </a:srgbClr>
          </a:solidFill>
          <a:ln w="1016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168353" y="6633021"/>
            <a:ext cx="106869" cy="106869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43" name="Text 40"/>
          <p:cNvSpPr/>
          <p:nvPr/>
        </p:nvSpPr>
        <p:spPr>
          <a:xfrm>
            <a:off x="5346468" y="6597397"/>
            <a:ext cx="881671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Very Good 80+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465033" y="6522586"/>
            <a:ext cx="995665" cy="327732"/>
          </a:xfrm>
          <a:prstGeom prst="roundRect">
            <a:avLst>
              <a:gd name="adj" fmla="val 50000"/>
            </a:avLst>
          </a:prstGeom>
          <a:solidFill>
            <a:srgbClr val="A855F7">
              <a:alpha val="14902"/>
            </a:srgbClr>
          </a:solidFill>
          <a:ln w="1016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611088" y="6633021"/>
            <a:ext cx="106869" cy="106869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/>
        </p:spPr>
      </p:sp>
      <p:sp>
        <p:nvSpPr>
          <p:cNvPr id="46" name="Text 43"/>
          <p:cNvSpPr/>
          <p:nvPr/>
        </p:nvSpPr>
        <p:spPr>
          <a:xfrm>
            <a:off x="6789203" y="6597397"/>
            <a:ext cx="587781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A85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Good 70+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7610760" y="6522586"/>
            <a:ext cx="906607" cy="327732"/>
          </a:xfrm>
          <a:prstGeom prst="roundRect">
            <a:avLst>
              <a:gd name="adj" fmla="val 50000"/>
            </a:avLst>
          </a:prstGeom>
          <a:solidFill>
            <a:srgbClr val="F97316">
              <a:alpha val="14902"/>
            </a:srgbClr>
          </a:solidFill>
          <a:ln w="1016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7756815" y="6633021"/>
            <a:ext cx="106869" cy="106869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49" name="Text 46"/>
          <p:cNvSpPr/>
          <p:nvPr/>
        </p:nvSpPr>
        <p:spPr>
          <a:xfrm>
            <a:off x="7934930" y="6597397"/>
            <a:ext cx="498723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Fair 60+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hotos.peopleimages.com/picture/202304/2809814-brain-neural-pathway-artificial-rendering-and-digital-graphic-of-intelligence-and-neuroscience.-isolated-black-background-and-no-people-with-ai-generated-neuro-data-and-mind-connection-fit_400_400.jpg"/>
          <p:cNvPicPr>
            <a:picLocks noChangeAspect="1"/>
          </p:cNvPicPr>
          <p:nvPr/>
        </p:nvPicPr>
        <p:blipFill>
          <a:blip r:embed="rId3">
            <a:alphaModFix amt="15000"/>
          </a:blip>
          <a:srcRect t="7871" b="7871"/>
          <a:stretch/>
        </p:blipFill>
        <p:spPr>
          <a:xfrm>
            <a:off x="0" y="0"/>
            <a:ext cx="12192000" cy="6856999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6999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B0F19">
                  <a:alpha val="95000"/>
                </a:srgbClr>
              </a:gs>
              <a:gs pos="100000">
                <a:srgbClr val="0B0F19">
                  <a:alpha val="9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20420" y="352463"/>
            <a:ext cx="32042" cy="3204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A855F7"/>
              </a:gs>
              <a:gs pos="0">
                <a:srgbClr val="FFFFFF"/>
              </a:gs>
              <a:gs pos="100000">
                <a:srgbClr val="22D3EE"/>
              </a:gs>
            </a:gsLst>
            <a:lin ang="540000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448589" y="320420"/>
            <a:ext cx="5591338" cy="384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2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System That Learns From You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48589" y="769009"/>
            <a:ext cx="11495085" cy="224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5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mem0 vector memory creates a continuously improving AI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611315" y="2665699"/>
            <a:ext cx="2039476" cy="203947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A855F7">
                  <a:alpha val="30000"/>
                </a:srgbClr>
              </a:gs>
              <a:gs pos="100000">
                <a:srgbClr val="22D3EE">
                  <a:alpha val="20000"/>
                </a:srgbClr>
              </a:gs>
            </a:gsLst>
            <a:lin ang="2700000" scaled="1"/>
          </a:gradFill>
          <a:ln w="20320">
            <a:solidFill>
              <a:srgbClr val="A855F7">
                <a:alpha val="50196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117579" y="3171963"/>
            <a:ext cx="1025346" cy="1025346"/>
          </a:xfrm>
          <a:custGeom>
            <a:avLst/>
            <a:gdLst/>
            <a:ahLst/>
            <a:cxnLst/>
            <a:rect l="l" t="t" r="r" b="b"/>
            <a:pathLst>
              <a:path w="1025346" h="1025346">
                <a:moveTo>
                  <a:pt x="240315" y="112147"/>
                </a:moveTo>
                <a:cubicBezTo>
                  <a:pt x="240315" y="50266"/>
                  <a:pt x="290581" y="0"/>
                  <a:pt x="352463" y="0"/>
                </a:cubicBezTo>
                <a:lnTo>
                  <a:pt x="400526" y="0"/>
                </a:lnTo>
                <a:cubicBezTo>
                  <a:pt x="435972" y="0"/>
                  <a:pt x="464610" y="28638"/>
                  <a:pt x="464610" y="64084"/>
                </a:cubicBezTo>
                <a:lnTo>
                  <a:pt x="464610" y="961261"/>
                </a:lnTo>
                <a:cubicBezTo>
                  <a:pt x="464610" y="996708"/>
                  <a:pt x="435972" y="1025346"/>
                  <a:pt x="400526" y="1025346"/>
                </a:cubicBezTo>
                <a:lnTo>
                  <a:pt x="336442" y="1025346"/>
                </a:lnTo>
                <a:cubicBezTo>
                  <a:pt x="276763" y="1025346"/>
                  <a:pt x="226497" y="984492"/>
                  <a:pt x="212279" y="929219"/>
                </a:cubicBezTo>
                <a:cubicBezTo>
                  <a:pt x="210877" y="929219"/>
                  <a:pt x="209675" y="929219"/>
                  <a:pt x="208273" y="929219"/>
                </a:cubicBezTo>
                <a:cubicBezTo>
                  <a:pt x="119757" y="929219"/>
                  <a:pt x="48063" y="857525"/>
                  <a:pt x="48063" y="769009"/>
                </a:cubicBezTo>
                <a:cubicBezTo>
                  <a:pt x="48063" y="732962"/>
                  <a:pt x="60079" y="699718"/>
                  <a:pt x="80105" y="672883"/>
                </a:cubicBezTo>
                <a:cubicBezTo>
                  <a:pt x="41254" y="643645"/>
                  <a:pt x="16021" y="597184"/>
                  <a:pt x="16021" y="544715"/>
                </a:cubicBezTo>
                <a:cubicBezTo>
                  <a:pt x="16021" y="482834"/>
                  <a:pt x="51267" y="428963"/>
                  <a:pt x="102535" y="402328"/>
                </a:cubicBezTo>
                <a:cubicBezTo>
                  <a:pt x="88316" y="378296"/>
                  <a:pt x="80105" y="350260"/>
                  <a:pt x="80105" y="320420"/>
                </a:cubicBezTo>
                <a:cubicBezTo>
                  <a:pt x="80105" y="231904"/>
                  <a:pt x="151799" y="160210"/>
                  <a:pt x="240315" y="160210"/>
                </a:cubicBezTo>
                <a:lnTo>
                  <a:pt x="240315" y="112147"/>
                </a:lnTo>
                <a:close/>
                <a:moveTo>
                  <a:pt x="785030" y="112147"/>
                </a:moveTo>
                <a:lnTo>
                  <a:pt x="785030" y="160210"/>
                </a:lnTo>
                <a:cubicBezTo>
                  <a:pt x="873546" y="160210"/>
                  <a:pt x="945240" y="231904"/>
                  <a:pt x="945240" y="320420"/>
                </a:cubicBezTo>
                <a:cubicBezTo>
                  <a:pt x="945240" y="350460"/>
                  <a:pt x="937030" y="378497"/>
                  <a:pt x="922811" y="402328"/>
                </a:cubicBezTo>
                <a:cubicBezTo>
                  <a:pt x="974279" y="428963"/>
                  <a:pt x="1009325" y="482633"/>
                  <a:pt x="1009325" y="544715"/>
                </a:cubicBezTo>
                <a:cubicBezTo>
                  <a:pt x="1009325" y="597184"/>
                  <a:pt x="984091" y="643645"/>
                  <a:pt x="945240" y="672883"/>
                </a:cubicBezTo>
                <a:cubicBezTo>
                  <a:pt x="965267" y="699718"/>
                  <a:pt x="977283" y="732962"/>
                  <a:pt x="977283" y="769009"/>
                </a:cubicBezTo>
                <a:cubicBezTo>
                  <a:pt x="977283" y="857525"/>
                  <a:pt x="905588" y="929219"/>
                  <a:pt x="817072" y="929219"/>
                </a:cubicBezTo>
                <a:cubicBezTo>
                  <a:pt x="815670" y="929219"/>
                  <a:pt x="814469" y="929219"/>
                  <a:pt x="813067" y="929219"/>
                </a:cubicBezTo>
                <a:cubicBezTo>
                  <a:pt x="798848" y="984492"/>
                  <a:pt x="748582" y="1025346"/>
                  <a:pt x="688904" y="1025346"/>
                </a:cubicBezTo>
                <a:lnTo>
                  <a:pt x="624820" y="1025346"/>
                </a:lnTo>
                <a:cubicBezTo>
                  <a:pt x="589373" y="1025346"/>
                  <a:pt x="560736" y="996708"/>
                  <a:pt x="560736" y="961261"/>
                </a:cubicBezTo>
                <a:lnTo>
                  <a:pt x="560736" y="64084"/>
                </a:lnTo>
                <a:cubicBezTo>
                  <a:pt x="560736" y="28638"/>
                  <a:pt x="589373" y="0"/>
                  <a:pt x="624820" y="0"/>
                </a:cubicBezTo>
                <a:lnTo>
                  <a:pt x="672883" y="0"/>
                </a:lnTo>
                <a:cubicBezTo>
                  <a:pt x="734764" y="0"/>
                  <a:pt x="785030" y="50266"/>
                  <a:pt x="785030" y="112147"/>
                </a:cubicBezTo>
                <a:close/>
              </a:path>
            </a:pathLst>
          </a:custGeom>
          <a:solidFill>
            <a:srgbClr val="A855F7">
              <a:alpha val="8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3210213" y="2598411"/>
            <a:ext cx="503060" cy="503060"/>
          </a:xfrm>
          <a:prstGeom prst="roundRect">
            <a:avLst>
              <a:gd name="adj" fmla="val 50000"/>
            </a:avLst>
          </a:prstGeom>
          <a:solidFill>
            <a:srgbClr val="6366F1">
              <a:alpha val="20000"/>
            </a:srgbClr>
          </a:solidFill>
          <a:ln w="10160">
            <a:solidFill>
              <a:srgbClr val="6366F1">
                <a:alpha val="50196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367219" y="2755417"/>
            <a:ext cx="192252" cy="192252"/>
          </a:xfrm>
          <a:custGeom>
            <a:avLst/>
            <a:gdLst/>
            <a:ahLst/>
            <a:cxnLst/>
            <a:rect l="l" t="t" r="r" b="b"/>
            <a:pathLst>
              <a:path w="192252" h="192252">
                <a:moveTo>
                  <a:pt x="180274" y="72095"/>
                </a:moveTo>
                <a:lnTo>
                  <a:pt x="183240" y="72095"/>
                </a:lnTo>
                <a:cubicBezTo>
                  <a:pt x="188235" y="72095"/>
                  <a:pt x="192252" y="68077"/>
                  <a:pt x="192252" y="63083"/>
                </a:cubicBezTo>
                <a:lnTo>
                  <a:pt x="192252" y="9012"/>
                </a:lnTo>
                <a:cubicBezTo>
                  <a:pt x="192252" y="5370"/>
                  <a:pt x="190074" y="2065"/>
                  <a:pt x="186695" y="676"/>
                </a:cubicBezTo>
                <a:cubicBezTo>
                  <a:pt x="183316" y="-713"/>
                  <a:pt x="179448" y="75"/>
                  <a:pt x="176857" y="2628"/>
                </a:cubicBezTo>
                <a:lnTo>
                  <a:pt x="157444" y="22079"/>
                </a:lnTo>
                <a:cubicBezTo>
                  <a:pt x="140810" y="8298"/>
                  <a:pt x="119407" y="0"/>
                  <a:pt x="96126" y="0"/>
                </a:cubicBezTo>
                <a:cubicBezTo>
                  <a:pt x="47688" y="0"/>
                  <a:pt x="7623" y="35822"/>
                  <a:pt x="976" y="82421"/>
                </a:cubicBezTo>
                <a:cubicBezTo>
                  <a:pt x="38" y="88992"/>
                  <a:pt x="4581" y="95075"/>
                  <a:pt x="11152" y="96014"/>
                </a:cubicBezTo>
                <a:cubicBezTo>
                  <a:pt x="17723" y="96952"/>
                  <a:pt x="23806" y="92371"/>
                  <a:pt x="24745" y="85838"/>
                </a:cubicBezTo>
                <a:cubicBezTo>
                  <a:pt x="29739" y="50879"/>
                  <a:pt x="59816" y="24032"/>
                  <a:pt x="96126" y="24032"/>
                </a:cubicBezTo>
                <a:cubicBezTo>
                  <a:pt x="112798" y="24032"/>
                  <a:pt x="128118" y="29664"/>
                  <a:pt x="140322" y="39164"/>
                </a:cubicBezTo>
                <a:lnTo>
                  <a:pt x="122786" y="56699"/>
                </a:lnTo>
                <a:cubicBezTo>
                  <a:pt x="120195" y="59290"/>
                  <a:pt x="119444" y="63158"/>
                  <a:pt x="120834" y="66537"/>
                </a:cubicBezTo>
                <a:cubicBezTo>
                  <a:pt x="122223" y="69917"/>
                  <a:pt x="125527" y="72095"/>
                  <a:pt x="129170" y="72095"/>
                </a:cubicBezTo>
                <a:lnTo>
                  <a:pt x="180274" y="72095"/>
                </a:lnTo>
                <a:close/>
                <a:moveTo>
                  <a:pt x="191314" y="109832"/>
                </a:moveTo>
                <a:cubicBezTo>
                  <a:pt x="192252" y="103261"/>
                  <a:pt x="187671" y="97178"/>
                  <a:pt x="181138" y="96239"/>
                </a:cubicBezTo>
                <a:cubicBezTo>
                  <a:pt x="174604" y="95300"/>
                  <a:pt x="168484" y="99881"/>
                  <a:pt x="167545" y="106415"/>
                </a:cubicBezTo>
                <a:cubicBezTo>
                  <a:pt x="162551" y="141335"/>
                  <a:pt x="132474" y="168183"/>
                  <a:pt x="96164" y="168183"/>
                </a:cubicBezTo>
                <a:cubicBezTo>
                  <a:pt x="79492" y="168183"/>
                  <a:pt x="64172" y="162551"/>
                  <a:pt x="51968" y="153051"/>
                </a:cubicBezTo>
                <a:lnTo>
                  <a:pt x="69466" y="135553"/>
                </a:lnTo>
                <a:cubicBezTo>
                  <a:pt x="72057" y="132962"/>
                  <a:pt x="72808" y="129094"/>
                  <a:pt x="71419" y="125715"/>
                </a:cubicBezTo>
                <a:cubicBezTo>
                  <a:pt x="70029" y="122336"/>
                  <a:pt x="66725" y="120158"/>
                  <a:pt x="63083" y="120158"/>
                </a:cubicBezTo>
                <a:lnTo>
                  <a:pt x="9012" y="120158"/>
                </a:lnTo>
                <a:cubicBezTo>
                  <a:pt x="4018" y="120158"/>
                  <a:pt x="0" y="124175"/>
                  <a:pt x="0" y="129170"/>
                </a:cubicBezTo>
                <a:lnTo>
                  <a:pt x="0" y="183240"/>
                </a:lnTo>
                <a:cubicBezTo>
                  <a:pt x="0" y="186883"/>
                  <a:pt x="2178" y="190187"/>
                  <a:pt x="5557" y="191576"/>
                </a:cubicBezTo>
                <a:cubicBezTo>
                  <a:pt x="8937" y="192966"/>
                  <a:pt x="12804" y="192177"/>
                  <a:pt x="15395" y="189624"/>
                </a:cubicBezTo>
                <a:lnTo>
                  <a:pt x="34846" y="170173"/>
                </a:lnTo>
                <a:cubicBezTo>
                  <a:pt x="51443" y="183954"/>
                  <a:pt x="72846" y="192252"/>
                  <a:pt x="96126" y="192252"/>
                </a:cubicBezTo>
                <a:cubicBezTo>
                  <a:pt x="144565" y="192252"/>
                  <a:pt x="184630" y="156430"/>
                  <a:pt x="191276" y="10983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1" name="Shape 8"/>
          <p:cNvSpPr/>
          <p:nvPr/>
        </p:nvSpPr>
        <p:spPr>
          <a:xfrm>
            <a:off x="1544026" y="4264597"/>
            <a:ext cx="503060" cy="503060"/>
          </a:xfrm>
          <a:prstGeom prst="roundRect">
            <a:avLst>
              <a:gd name="adj" fmla="val 50000"/>
            </a:avLst>
          </a:prstGeom>
          <a:solidFill>
            <a:srgbClr val="22D3EE">
              <a:alpha val="20000"/>
            </a:srgbClr>
          </a:solidFill>
          <a:ln w="10160">
            <a:solidFill>
              <a:srgbClr val="22D3EE">
                <a:alpha val="50196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13048" y="4421603"/>
            <a:ext cx="168221" cy="192252"/>
          </a:xfrm>
          <a:custGeom>
            <a:avLst/>
            <a:gdLst/>
            <a:ahLst/>
            <a:cxnLst/>
            <a:rect l="l" t="t" r="r" b="b"/>
            <a:pathLst>
              <a:path w="168221" h="192252">
                <a:moveTo>
                  <a:pt x="168221" y="77276"/>
                </a:moveTo>
                <a:cubicBezTo>
                  <a:pt x="162663" y="80956"/>
                  <a:pt x="156280" y="83923"/>
                  <a:pt x="149634" y="86288"/>
                </a:cubicBezTo>
                <a:cubicBezTo>
                  <a:pt x="131986" y="92597"/>
                  <a:pt x="108818" y="96126"/>
                  <a:pt x="84110" y="96126"/>
                </a:cubicBezTo>
                <a:cubicBezTo>
                  <a:pt x="59403" y="96126"/>
                  <a:pt x="36198" y="92559"/>
                  <a:pt x="18587" y="86288"/>
                </a:cubicBezTo>
                <a:cubicBezTo>
                  <a:pt x="11978" y="83923"/>
                  <a:pt x="5557" y="80956"/>
                  <a:pt x="0" y="77276"/>
                </a:cubicBezTo>
                <a:lnTo>
                  <a:pt x="0" y="108142"/>
                </a:lnTo>
                <a:cubicBezTo>
                  <a:pt x="0" y="124739"/>
                  <a:pt x="37662" y="138181"/>
                  <a:pt x="84110" y="138181"/>
                </a:cubicBezTo>
                <a:cubicBezTo>
                  <a:pt x="130559" y="138181"/>
                  <a:pt x="168221" y="124739"/>
                  <a:pt x="168221" y="108142"/>
                </a:cubicBezTo>
                <a:lnTo>
                  <a:pt x="168221" y="77276"/>
                </a:lnTo>
                <a:close/>
                <a:moveTo>
                  <a:pt x="168221" y="48063"/>
                </a:moveTo>
                <a:lnTo>
                  <a:pt x="168221" y="30039"/>
                </a:lnTo>
                <a:cubicBezTo>
                  <a:pt x="168221" y="13443"/>
                  <a:pt x="130559" y="0"/>
                  <a:pt x="84110" y="0"/>
                </a:cubicBezTo>
                <a:cubicBezTo>
                  <a:pt x="37662" y="0"/>
                  <a:pt x="0" y="13443"/>
                  <a:pt x="0" y="30039"/>
                </a:cubicBezTo>
                <a:lnTo>
                  <a:pt x="0" y="48063"/>
                </a:lnTo>
                <a:cubicBezTo>
                  <a:pt x="0" y="64660"/>
                  <a:pt x="37662" y="78102"/>
                  <a:pt x="84110" y="78102"/>
                </a:cubicBezTo>
                <a:cubicBezTo>
                  <a:pt x="130559" y="78102"/>
                  <a:pt x="168221" y="64660"/>
                  <a:pt x="168221" y="48063"/>
                </a:cubicBezTo>
                <a:close/>
                <a:moveTo>
                  <a:pt x="149634" y="146367"/>
                </a:moveTo>
                <a:cubicBezTo>
                  <a:pt x="132023" y="152638"/>
                  <a:pt x="108855" y="156205"/>
                  <a:pt x="84110" y="156205"/>
                </a:cubicBezTo>
                <a:cubicBezTo>
                  <a:pt x="59365" y="156205"/>
                  <a:pt x="36198" y="152638"/>
                  <a:pt x="18587" y="146367"/>
                </a:cubicBezTo>
                <a:cubicBezTo>
                  <a:pt x="11978" y="144001"/>
                  <a:pt x="5557" y="141035"/>
                  <a:pt x="0" y="137355"/>
                </a:cubicBezTo>
                <a:lnTo>
                  <a:pt x="0" y="162213"/>
                </a:lnTo>
                <a:cubicBezTo>
                  <a:pt x="0" y="178810"/>
                  <a:pt x="37662" y="192252"/>
                  <a:pt x="84110" y="192252"/>
                </a:cubicBezTo>
                <a:cubicBezTo>
                  <a:pt x="130559" y="192252"/>
                  <a:pt x="168221" y="178810"/>
                  <a:pt x="168221" y="162213"/>
                </a:cubicBezTo>
                <a:lnTo>
                  <a:pt x="168221" y="137355"/>
                </a:lnTo>
                <a:cubicBezTo>
                  <a:pt x="162663" y="141035"/>
                  <a:pt x="156280" y="144001"/>
                  <a:pt x="149634" y="146367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58802" y="3687840"/>
            <a:ext cx="374892" cy="374892"/>
          </a:xfrm>
          <a:prstGeom prst="roundRect">
            <a:avLst>
              <a:gd name="adj" fmla="val 50000"/>
            </a:avLst>
          </a:prstGeom>
          <a:solidFill>
            <a:srgbClr val="A855F7">
              <a:alpha val="20000"/>
            </a:srgbClr>
          </a:solidFill>
          <a:ln w="10160">
            <a:solidFill>
              <a:srgbClr val="A855F7">
                <a:alpha val="50196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787771" y="3796783"/>
            <a:ext cx="120158" cy="160210"/>
          </a:xfrm>
          <a:custGeom>
            <a:avLst/>
            <a:gdLst/>
            <a:ahLst/>
            <a:cxnLst/>
            <a:rect l="l" t="t" r="r" b="b"/>
            <a:pathLst>
              <a:path w="120158" h="160210">
                <a:moveTo>
                  <a:pt x="91652" y="120158"/>
                </a:moveTo>
                <a:cubicBezTo>
                  <a:pt x="93936" y="113180"/>
                  <a:pt x="98504" y="106859"/>
                  <a:pt x="103667" y="101414"/>
                </a:cubicBezTo>
                <a:cubicBezTo>
                  <a:pt x="113899" y="90650"/>
                  <a:pt x="120158" y="76100"/>
                  <a:pt x="120158" y="60079"/>
                </a:cubicBezTo>
                <a:cubicBezTo>
                  <a:pt x="120158" y="26910"/>
                  <a:pt x="93247" y="0"/>
                  <a:pt x="60079" y="0"/>
                </a:cubicBezTo>
                <a:cubicBezTo>
                  <a:pt x="26910" y="0"/>
                  <a:pt x="0" y="26910"/>
                  <a:pt x="0" y="60079"/>
                </a:cubicBezTo>
                <a:cubicBezTo>
                  <a:pt x="0" y="76100"/>
                  <a:pt x="6258" y="90650"/>
                  <a:pt x="16490" y="101414"/>
                </a:cubicBezTo>
                <a:cubicBezTo>
                  <a:pt x="21653" y="106859"/>
                  <a:pt x="26253" y="113180"/>
                  <a:pt x="28506" y="120158"/>
                </a:cubicBezTo>
                <a:lnTo>
                  <a:pt x="91620" y="120158"/>
                </a:lnTo>
                <a:close/>
                <a:moveTo>
                  <a:pt x="90118" y="135177"/>
                </a:moveTo>
                <a:lnTo>
                  <a:pt x="30039" y="135177"/>
                </a:lnTo>
                <a:lnTo>
                  <a:pt x="30039" y="140184"/>
                </a:lnTo>
                <a:cubicBezTo>
                  <a:pt x="30039" y="154015"/>
                  <a:pt x="41242" y="165217"/>
                  <a:pt x="55072" y="165217"/>
                </a:cubicBezTo>
                <a:lnTo>
                  <a:pt x="65085" y="165217"/>
                </a:lnTo>
                <a:cubicBezTo>
                  <a:pt x="78916" y="165217"/>
                  <a:pt x="90118" y="154015"/>
                  <a:pt x="90118" y="140184"/>
                </a:cubicBezTo>
                <a:lnTo>
                  <a:pt x="90118" y="135177"/>
                </a:lnTo>
                <a:close/>
                <a:moveTo>
                  <a:pt x="57576" y="35046"/>
                </a:moveTo>
                <a:cubicBezTo>
                  <a:pt x="45122" y="35046"/>
                  <a:pt x="35046" y="45122"/>
                  <a:pt x="35046" y="57576"/>
                </a:cubicBezTo>
                <a:cubicBezTo>
                  <a:pt x="35046" y="61737"/>
                  <a:pt x="31698" y="65085"/>
                  <a:pt x="27536" y="65085"/>
                </a:cubicBezTo>
                <a:cubicBezTo>
                  <a:pt x="23374" y="65085"/>
                  <a:pt x="20026" y="61737"/>
                  <a:pt x="20026" y="57576"/>
                </a:cubicBezTo>
                <a:cubicBezTo>
                  <a:pt x="20026" y="36830"/>
                  <a:pt x="36830" y="20026"/>
                  <a:pt x="57576" y="20026"/>
                </a:cubicBezTo>
                <a:cubicBezTo>
                  <a:pt x="61737" y="20026"/>
                  <a:pt x="65085" y="23374"/>
                  <a:pt x="65085" y="27536"/>
                </a:cubicBezTo>
                <a:cubicBezTo>
                  <a:pt x="65085" y="31698"/>
                  <a:pt x="61737" y="35046"/>
                  <a:pt x="57576" y="35046"/>
                </a:cubicBezTo>
                <a:close/>
              </a:path>
            </a:pathLst>
          </a:custGeom>
          <a:solidFill>
            <a:srgbClr val="A855F7"/>
          </a:solidFill>
          <a:ln/>
        </p:spPr>
      </p:sp>
      <p:sp>
        <p:nvSpPr>
          <p:cNvPr id="15" name="Shape 12"/>
          <p:cNvSpPr/>
          <p:nvPr/>
        </p:nvSpPr>
        <p:spPr>
          <a:xfrm>
            <a:off x="5148356" y="1153514"/>
            <a:ext cx="6720820" cy="1602102"/>
          </a:xfrm>
          <a:custGeom>
            <a:avLst/>
            <a:gdLst/>
            <a:ahLst/>
            <a:cxnLst/>
            <a:rect l="l" t="t" r="r" b="b"/>
            <a:pathLst>
              <a:path w="6720820" h="1602102">
                <a:moveTo>
                  <a:pt x="0" y="0"/>
                </a:moveTo>
                <a:lnTo>
                  <a:pt x="6624701" y="0"/>
                </a:lnTo>
                <a:cubicBezTo>
                  <a:pt x="6677797" y="0"/>
                  <a:pt x="6720840" y="43043"/>
                  <a:pt x="6720840" y="96139"/>
                </a:cubicBezTo>
                <a:lnTo>
                  <a:pt x="6720840" y="1505966"/>
                </a:lnTo>
                <a:cubicBezTo>
                  <a:pt x="6720840" y="1559062"/>
                  <a:pt x="6677797" y="1602105"/>
                  <a:pt x="6624701" y="1602105"/>
                </a:cubicBezTo>
                <a:lnTo>
                  <a:pt x="0" y="1602105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6366F1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6" name="Shape 13"/>
          <p:cNvSpPr/>
          <p:nvPr/>
        </p:nvSpPr>
        <p:spPr>
          <a:xfrm>
            <a:off x="5148356" y="1153514"/>
            <a:ext cx="32042" cy="1602102"/>
          </a:xfrm>
          <a:prstGeom prst="roundRect">
            <a:avLst>
              <a:gd name="adj" fmla="val 0"/>
            </a:avLst>
          </a:prstGeom>
          <a:solidFill>
            <a:srgbClr val="6366F1"/>
          </a:solidFill>
          <a:ln/>
        </p:spPr>
      </p:sp>
      <p:sp>
        <p:nvSpPr>
          <p:cNvPr id="17" name="Shape 14"/>
          <p:cNvSpPr/>
          <p:nvPr/>
        </p:nvSpPr>
        <p:spPr>
          <a:xfrm>
            <a:off x="5324588" y="1345668"/>
            <a:ext cx="448589" cy="448589"/>
          </a:xfrm>
          <a:prstGeom prst="roundRect">
            <a:avLst>
              <a:gd name="adj" fmla="val 21429"/>
            </a:avLst>
          </a:prstGeom>
          <a:gradFill flip="none" rotWithShape="1">
            <a:gsLst>
              <a:gs pos="0">
                <a:srgbClr val="6366F1"/>
              </a:gs>
              <a:gs pos="100000">
                <a:srgbClr val="4F46E5"/>
              </a:gs>
            </a:gsLst>
            <a:lin ang="2700000" scaled="1"/>
          </a:gradFill>
          <a:ln/>
        </p:spPr>
      </p:sp>
      <p:sp>
        <p:nvSpPr>
          <p:cNvPr id="18" name="Shape 15"/>
          <p:cNvSpPr/>
          <p:nvPr/>
        </p:nvSpPr>
        <p:spPr>
          <a:xfrm>
            <a:off x="5464772" y="1473837"/>
            <a:ext cx="168221" cy="192252"/>
          </a:xfrm>
          <a:custGeom>
            <a:avLst/>
            <a:gdLst/>
            <a:ahLst/>
            <a:cxnLst/>
            <a:rect l="l" t="t" r="r" b="b"/>
            <a:pathLst>
              <a:path w="168221" h="192252">
                <a:moveTo>
                  <a:pt x="24032" y="12016"/>
                </a:moveTo>
                <a:cubicBezTo>
                  <a:pt x="10777" y="12016"/>
                  <a:pt x="0" y="22792"/>
                  <a:pt x="0" y="36047"/>
                </a:cubicBezTo>
                <a:lnTo>
                  <a:pt x="0" y="156205"/>
                </a:lnTo>
                <a:cubicBezTo>
                  <a:pt x="0" y="169460"/>
                  <a:pt x="10777" y="180237"/>
                  <a:pt x="24032" y="180237"/>
                </a:cubicBezTo>
                <a:lnTo>
                  <a:pt x="144189" y="180237"/>
                </a:lnTo>
                <a:cubicBezTo>
                  <a:pt x="157444" y="180237"/>
                  <a:pt x="168221" y="169460"/>
                  <a:pt x="168221" y="156205"/>
                </a:cubicBezTo>
                <a:lnTo>
                  <a:pt x="168221" y="65073"/>
                </a:lnTo>
                <a:cubicBezTo>
                  <a:pt x="168221" y="58690"/>
                  <a:pt x="165705" y="52569"/>
                  <a:pt x="161199" y="48063"/>
                </a:cubicBezTo>
                <a:lnTo>
                  <a:pt x="132173" y="19037"/>
                </a:lnTo>
                <a:cubicBezTo>
                  <a:pt x="127668" y="14532"/>
                  <a:pt x="121547" y="12016"/>
                  <a:pt x="115164" y="12016"/>
                </a:cubicBezTo>
                <a:lnTo>
                  <a:pt x="24032" y="12016"/>
                </a:lnTo>
                <a:close/>
                <a:moveTo>
                  <a:pt x="36047" y="48063"/>
                </a:moveTo>
                <a:cubicBezTo>
                  <a:pt x="36047" y="41417"/>
                  <a:pt x="41417" y="36047"/>
                  <a:pt x="48063" y="36047"/>
                </a:cubicBezTo>
                <a:lnTo>
                  <a:pt x="108142" y="36047"/>
                </a:lnTo>
                <a:cubicBezTo>
                  <a:pt x="114788" y="36047"/>
                  <a:pt x="120158" y="41417"/>
                  <a:pt x="120158" y="48063"/>
                </a:cubicBezTo>
                <a:lnTo>
                  <a:pt x="120158" y="72095"/>
                </a:lnTo>
                <a:cubicBezTo>
                  <a:pt x="120158" y="78741"/>
                  <a:pt x="114788" y="84110"/>
                  <a:pt x="108142" y="84110"/>
                </a:cubicBezTo>
                <a:lnTo>
                  <a:pt x="48063" y="84110"/>
                </a:lnTo>
                <a:cubicBezTo>
                  <a:pt x="41417" y="84110"/>
                  <a:pt x="36047" y="78741"/>
                  <a:pt x="36047" y="72095"/>
                </a:cubicBezTo>
                <a:lnTo>
                  <a:pt x="36047" y="48063"/>
                </a:lnTo>
                <a:close/>
                <a:moveTo>
                  <a:pt x="84110" y="108142"/>
                </a:moveTo>
                <a:cubicBezTo>
                  <a:pt x="97374" y="108142"/>
                  <a:pt x="108142" y="118910"/>
                  <a:pt x="108142" y="132173"/>
                </a:cubicBezTo>
                <a:cubicBezTo>
                  <a:pt x="108142" y="145437"/>
                  <a:pt x="97374" y="156205"/>
                  <a:pt x="84110" y="156205"/>
                </a:cubicBezTo>
                <a:cubicBezTo>
                  <a:pt x="70847" y="156205"/>
                  <a:pt x="60079" y="145437"/>
                  <a:pt x="60079" y="132173"/>
                </a:cubicBezTo>
                <a:cubicBezTo>
                  <a:pt x="60079" y="118910"/>
                  <a:pt x="70847" y="108142"/>
                  <a:pt x="84110" y="10814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5901345" y="1313724"/>
            <a:ext cx="472620" cy="224294"/>
          </a:xfrm>
          <a:prstGeom prst="roundRect">
            <a:avLst>
              <a:gd name="adj" fmla="val 50000"/>
            </a:avLst>
          </a:prstGeom>
          <a:solidFill>
            <a:srgbClr val="6366F1">
              <a:alpha val="2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5901345" y="1313724"/>
            <a:ext cx="528694" cy="224294"/>
          </a:xfrm>
          <a:prstGeom prst="rect">
            <a:avLst/>
          </a:prstGeom>
          <a:noFill/>
          <a:ln/>
        </p:spPr>
        <p:txBody>
          <a:bodyPr wrap="square" lIns="96126" tIns="32042" rIns="96126" bIns="32042" rtlCol="0" anchor="ctr"/>
          <a:lstStyle/>
          <a:p>
            <a:pPr>
              <a:lnSpc>
                <a:spcPct val="120000"/>
              </a:lnSpc>
            </a:pPr>
            <a:r>
              <a:rPr lang="en-US" sz="883" b="1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1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901345" y="1570060"/>
            <a:ext cx="2387133" cy="256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1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 Save Your Best Variant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324588" y="1922425"/>
            <a:ext cx="6448463" cy="416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9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 reviewing the three generated variants and their SEO scores, you select and save the one that best matches your brand voice and performance goals.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348619" y="2451119"/>
            <a:ext cx="112147" cy="128168"/>
          </a:xfrm>
          <a:custGeom>
            <a:avLst/>
            <a:gdLst/>
            <a:ahLst/>
            <a:cxnLst/>
            <a:rect l="l" t="t" r="r" b="b"/>
            <a:pathLst>
              <a:path w="112147" h="128168">
                <a:moveTo>
                  <a:pt x="32042" y="10013"/>
                </a:moveTo>
                <a:cubicBezTo>
                  <a:pt x="32042" y="4481"/>
                  <a:pt x="36523" y="0"/>
                  <a:pt x="42055" y="0"/>
                </a:cubicBezTo>
                <a:cubicBezTo>
                  <a:pt x="47587" y="0"/>
                  <a:pt x="52068" y="4481"/>
                  <a:pt x="52068" y="10013"/>
                </a:cubicBezTo>
                <a:lnTo>
                  <a:pt x="52068" y="47112"/>
                </a:lnTo>
                <a:cubicBezTo>
                  <a:pt x="54196" y="45209"/>
                  <a:pt x="57000" y="44058"/>
                  <a:pt x="60079" y="44058"/>
                </a:cubicBezTo>
                <a:cubicBezTo>
                  <a:pt x="65236" y="44058"/>
                  <a:pt x="69641" y="47312"/>
                  <a:pt x="71344" y="51868"/>
                </a:cubicBezTo>
                <a:cubicBezTo>
                  <a:pt x="73547" y="49540"/>
                  <a:pt x="76651" y="48063"/>
                  <a:pt x="80105" y="48063"/>
                </a:cubicBezTo>
                <a:cubicBezTo>
                  <a:pt x="86438" y="48063"/>
                  <a:pt x="91620" y="52944"/>
                  <a:pt x="92096" y="59153"/>
                </a:cubicBezTo>
                <a:cubicBezTo>
                  <a:pt x="94224" y="57225"/>
                  <a:pt x="97052" y="56074"/>
                  <a:pt x="100131" y="56074"/>
                </a:cubicBezTo>
                <a:cubicBezTo>
                  <a:pt x="106765" y="56074"/>
                  <a:pt x="112147" y="61456"/>
                  <a:pt x="112147" y="68089"/>
                </a:cubicBezTo>
                <a:lnTo>
                  <a:pt x="112147" y="96126"/>
                </a:lnTo>
                <a:cubicBezTo>
                  <a:pt x="112147" y="113824"/>
                  <a:pt x="97803" y="128168"/>
                  <a:pt x="80105" y="128168"/>
                </a:cubicBezTo>
                <a:lnTo>
                  <a:pt x="58752" y="128168"/>
                </a:lnTo>
                <a:cubicBezTo>
                  <a:pt x="57500" y="128168"/>
                  <a:pt x="56274" y="128093"/>
                  <a:pt x="55072" y="127918"/>
                </a:cubicBezTo>
                <a:cubicBezTo>
                  <a:pt x="41229" y="126516"/>
                  <a:pt x="28487" y="119407"/>
                  <a:pt x="20026" y="108142"/>
                </a:cubicBezTo>
                <a:lnTo>
                  <a:pt x="2003" y="84110"/>
                </a:lnTo>
                <a:cubicBezTo>
                  <a:pt x="-1327" y="79680"/>
                  <a:pt x="-426" y="73421"/>
                  <a:pt x="4005" y="70092"/>
                </a:cubicBezTo>
                <a:cubicBezTo>
                  <a:pt x="8436" y="66763"/>
                  <a:pt x="14694" y="67664"/>
                  <a:pt x="18024" y="72095"/>
                </a:cubicBezTo>
                <a:lnTo>
                  <a:pt x="32042" y="90794"/>
                </a:lnTo>
                <a:lnTo>
                  <a:pt x="32042" y="10013"/>
                </a:lnTo>
                <a:close/>
                <a:moveTo>
                  <a:pt x="60079" y="76100"/>
                </a:moveTo>
                <a:cubicBezTo>
                  <a:pt x="60079" y="73897"/>
                  <a:pt x="58276" y="72095"/>
                  <a:pt x="56074" y="72095"/>
                </a:cubicBezTo>
                <a:cubicBezTo>
                  <a:pt x="53871" y="72095"/>
                  <a:pt x="52068" y="73897"/>
                  <a:pt x="52068" y="76100"/>
                </a:cubicBezTo>
                <a:lnTo>
                  <a:pt x="52068" y="100131"/>
                </a:lnTo>
                <a:cubicBezTo>
                  <a:pt x="52068" y="102334"/>
                  <a:pt x="53871" y="104137"/>
                  <a:pt x="56074" y="104137"/>
                </a:cubicBezTo>
                <a:cubicBezTo>
                  <a:pt x="58276" y="104137"/>
                  <a:pt x="60079" y="102334"/>
                  <a:pt x="60079" y="100131"/>
                </a:cubicBezTo>
                <a:lnTo>
                  <a:pt x="60079" y="76100"/>
                </a:lnTo>
                <a:close/>
                <a:moveTo>
                  <a:pt x="72095" y="72095"/>
                </a:moveTo>
                <a:cubicBezTo>
                  <a:pt x="69892" y="72095"/>
                  <a:pt x="68089" y="73897"/>
                  <a:pt x="68089" y="76100"/>
                </a:cubicBezTo>
                <a:lnTo>
                  <a:pt x="68089" y="100131"/>
                </a:lnTo>
                <a:cubicBezTo>
                  <a:pt x="68089" y="102334"/>
                  <a:pt x="69892" y="104137"/>
                  <a:pt x="72095" y="104137"/>
                </a:cubicBezTo>
                <a:cubicBezTo>
                  <a:pt x="74298" y="104137"/>
                  <a:pt x="76100" y="102334"/>
                  <a:pt x="76100" y="100131"/>
                </a:cubicBezTo>
                <a:lnTo>
                  <a:pt x="76100" y="76100"/>
                </a:lnTo>
                <a:cubicBezTo>
                  <a:pt x="76100" y="73897"/>
                  <a:pt x="74298" y="72095"/>
                  <a:pt x="72095" y="72095"/>
                </a:cubicBezTo>
                <a:close/>
                <a:moveTo>
                  <a:pt x="92121" y="76100"/>
                </a:moveTo>
                <a:cubicBezTo>
                  <a:pt x="92121" y="73897"/>
                  <a:pt x="90319" y="72095"/>
                  <a:pt x="88116" y="72095"/>
                </a:cubicBezTo>
                <a:cubicBezTo>
                  <a:pt x="85913" y="72095"/>
                  <a:pt x="84110" y="73897"/>
                  <a:pt x="84110" y="76100"/>
                </a:cubicBezTo>
                <a:lnTo>
                  <a:pt x="84110" y="100131"/>
                </a:lnTo>
                <a:cubicBezTo>
                  <a:pt x="84110" y="102334"/>
                  <a:pt x="85913" y="104137"/>
                  <a:pt x="88116" y="104137"/>
                </a:cubicBezTo>
                <a:cubicBezTo>
                  <a:pt x="90319" y="104137"/>
                  <a:pt x="92121" y="102334"/>
                  <a:pt x="92121" y="100131"/>
                </a:cubicBezTo>
                <a:lnTo>
                  <a:pt x="92121" y="7610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4" name="Text 21"/>
          <p:cNvSpPr/>
          <p:nvPr/>
        </p:nvSpPr>
        <p:spPr>
          <a:xfrm>
            <a:off x="5548882" y="2435098"/>
            <a:ext cx="1417861" cy="160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3" b="1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User-driven quality curation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5148356" y="2883687"/>
            <a:ext cx="6720820" cy="1602102"/>
          </a:xfrm>
          <a:custGeom>
            <a:avLst/>
            <a:gdLst/>
            <a:ahLst/>
            <a:cxnLst/>
            <a:rect l="l" t="t" r="r" b="b"/>
            <a:pathLst>
              <a:path w="6720820" h="1602102">
                <a:moveTo>
                  <a:pt x="0" y="0"/>
                </a:moveTo>
                <a:lnTo>
                  <a:pt x="6624701" y="0"/>
                </a:lnTo>
                <a:cubicBezTo>
                  <a:pt x="6677797" y="0"/>
                  <a:pt x="6720840" y="43043"/>
                  <a:pt x="6720840" y="96139"/>
                </a:cubicBezTo>
                <a:lnTo>
                  <a:pt x="6720840" y="1505966"/>
                </a:lnTo>
                <a:cubicBezTo>
                  <a:pt x="6720840" y="1559062"/>
                  <a:pt x="6677797" y="1602105"/>
                  <a:pt x="6624701" y="1602105"/>
                </a:cubicBezTo>
                <a:lnTo>
                  <a:pt x="0" y="1602105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A855F7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6" name="Shape 23"/>
          <p:cNvSpPr/>
          <p:nvPr/>
        </p:nvSpPr>
        <p:spPr>
          <a:xfrm>
            <a:off x="5148356" y="2883687"/>
            <a:ext cx="32042" cy="1602102"/>
          </a:xfrm>
          <a:prstGeom prst="roundRect">
            <a:avLst>
              <a:gd name="adj" fmla="val 0"/>
            </a:avLst>
          </a:prstGeom>
          <a:solidFill>
            <a:srgbClr val="A855F7"/>
          </a:solidFill>
          <a:ln/>
        </p:spPr>
      </p:sp>
      <p:sp>
        <p:nvSpPr>
          <p:cNvPr id="27" name="Shape 24"/>
          <p:cNvSpPr/>
          <p:nvPr/>
        </p:nvSpPr>
        <p:spPr>
          <a:xfrm>
            <a:off x="5324588" y="3075837"/>
            <a:ext cx="448589" cy="448589"/>
          </a:xfrm>
          <a:prstGeom prst="roundRect">
            <a:avLst>
              <a:gd name="adj" fmla="val 21429"/>
            </a:avLst>
          </a:prstGeom>
          <a:gradFill flip="none" rotWithShape="1">
            <a:gsLst>
              <a:gs pos="0">
                <a:srgbClr val="A855F7"/>
              </a:gs>
              <a:gs pos="100000">
                <a:srgbClr val="9333EA"/>
              </a:gs>
            </a:gsLst>
            <a:lin ang="2700000" scaled="1"/>
          </a:gradFill>
          <a:ln/>
        </p:spPr>
      </p:sp>
      <p:sp>
        <p:nvSpPr>
          <p:cNvPr id="28" name="Shape 25"/>
          <p:cNvSpPr/>
          <p:nvPr/>
        </p:nvSpPr>
        <p:spPr>
          <a:xfrm>
            <a:off x="5464772" y="3204006"/>
            <a:ext cx="168221" cy="192252"/>
          </a:xfrm>
          <a:custGeom>
            <a:avLst/>
            <a:gdLst/>
            <a:ahLst/>
            <a:cxnLst/>
            <a:rect l="l" t="t" r="r" b="b"/>
            <a:pathLst>
              <a:path w="168221" h="192252">
                <a:moveTo>
                  <a:pt x="168221" y="77276"/>
                </a:moveTo>
                <a:cubicBezTo>
                  <a:pt x="162663" y="80956"/>
                  <a:pt x="156280" y="83923"/>
                  <a:pt x="149634" y="86288"/>
                </a:cubicBezTo>
                <a:cubicBezTo>
                  <a:pt x="131986" y="92597"/>
                  <a:pt x="108818" y="96126"/>
                  <a:pt x="84110" y="96126"/>
                </a:cubicBezTo>
                <a:cubicBezTo>
                  <a:pt x="59403" y="96126"/>
                  <a:pt x="36198" y="92559"/>
                  <a:pt x="18587" y="86288"/>
                </a:cubicBezTo>
                <a:cubicBezTo>
                  <a:pt x="11978" y="83923"/>
                  <a:pt x="5557" y="80956"/>
                  <a:pt x="0" y="77276"/>
                </a:cubicBezTo>
                <a:lnTo>
                  <a:pt x="0" y="108142"/>
                </a:lnTo>
                <a:cubicBezTo>
                  <a:pt x="0" y="124739"/>
                  <a:pt x="37662" y="138181"/>
                  <a:pt x="84110" y="138181"/>
                </a:cubicBezTo>
                <a:cubicBezTo>
                  <a:pt x="130559" y="138181"/>
                  <a:pt x="168221" y="124739"/>
                  <a:pt x="168221" y="108142"/>
                </a:cubicBezTo>
                <a:lnTo>
                  <a:pt x="168221" y="77276"/>
                </a:lnTo>
                <a:close/>
                <a:moveTo>
                  <a:pt x="168221" y="48063"/>
                </a:moveTo>
                <a:lnTo>
                  <a:pt x="168221" y="30039"/>
                </a:lnTo>
                <a:cubicBezTo>
                  <a:pt x="168221" y="13443"/>
                  <a:pt x="130559" y="0"/>
                  <a:pt x="84110" y="0"/>
                </a:cubicBezTo>
                <a:cubicBezTo>
                  <a:pt x="37662" y="0"/>
                  <a:pt x="0" y="13443"/>
                  <a:pt x="0" y="30039"/>
                </a:cubicBezTo>
                <a:lnTo>
                  <a:pt x="0" y="48063"/>
                </a:lnTo>
                <a:cubicBezTo>
                  <a:pt x="0" y="64660"/>
                  <a:pt x="37662" y="78102"/>
                  <a:pt x="84110" y="78102"/>
                </a:cubicBezTo>
                <a:cubicBezTo>
                  <a:pt x="130559" y="78102"/>
                  <a:pt x="168221" y="64660"/>
                  <a:pt x="168221" y="48063"/>
                </a:cubicBezTo>
                <a:close/>
                <a:moveTo>
                  <a:pt x="149634" y="146367"/>
                </a:moveTo>
                <a:cubicBezTo>
                  <a:pt x="132023" y="152638"/>
                  <a:pt x="108855" y="156205"/>
                  <a:pt x="84110" y="156205"/>
                </a:cubicBezTo>
                <a:cubicBezTo>
                  <a:pt x="59365" y="156205"/>
                  <a:pt x="36198" y="152638"/>
                  <a:pt x="18587" y="146367"/>
                </a:cubicBezTo>
                <a:cubicBezTo>
                  <a:pt x="11978" y="144001"/>
                  <a:pt x="5557" y="141035"/>
                  <a:pt x="0" y="137355"/>
                </a:cubicBezTo>
                <a:lnTo>
                  <a:pt x="0" y="162213"/>
                </a:lnTo>
                <a:cubicBezTo>
                  <a:pt x="0" y="178810"/>
                  <a:pt x="37662" y="192252"/>
                  <a:pt x="84110" y="192252"/>
                </a:cubicBezTo>
                <a:cubicBezTo>
                  <a:pt x="130559" y="192252"/>
                  <a:pt x="168221" y="178810"/>
                  <a:pt x="168221" y="162213"/>
                </a:cubicBezTo>
                <a:lnTo>
                  <a:pt x="168221" y="137355"/>
                </a:lnTo>
                <a:cubicBezTo>
                  <a:pt x="162663" y="141035"/>
                  <a:pt x="156280" y="144001"/>
                  <a:pt x="149634" y="14636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Shape 26"/>
          <p:cNvSpPr/>
          <p:nvPr/>
        </p:nvSpPr>
        <p:spPr>
          <a:xfrm>
            <a:off x="5901345" y="3043897"/>
            <a:ext cx="496652" cy="224294"/>
          </a:xfrm>
          <a:prstGeom prst="roundRect">
            <a:avLst>
              <a:gd name="adj" fmla="val 50000"/>
            </a:avLst>
          </a:prstGeom>
          <a:solidFill>
            <a:srgbClr val="A855F7">
              <a:alpha val="20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5901345" y="3043897"/>
            <a:ext cx="552725" cy="224294"/>
          </a:xfrm>
          <a:prstGeom prst="rect">
            <a:avLst/>
          </a:prstGeom>
          <a:noFill/>
          <a:ln/>
        </p:spPr>
        <p:txBody>
          <a:bodyPr wrap="square" lIns="96126" tIns="32042" rIns="96126" bIns="32042" rtlCol="0" anchor="ctr"/>
          <a:lstStyle/>
          <a:p>
            <a:pPr>
              <a:lnSpc>
                <a:spcPct val="120000"/>
              </a:lnSpc>
            </a:pPr>
            <a:r>
              <a:rPr lang="en-US" sz="883" b="1" dirty="0">
                <a:solidFill>
                  <a:srgbClr val="A85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2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901345" y="3300233"/>
            <a:ext cx="3092058" cy="256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1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mem0 Stores as Vector Embedding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324588" y="3652594"/>
            <a:ext cx="6448463" cy="416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9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saved description is converted into a </a:t>
            </a:r>
            <a:r>
              <a:rPr lang="en-US" sz="1009" b="1" dirty="0">
                <a:solidFill>
                  <a:srgbClr val="A85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vector embedding</a:t>
            </a:r>
            <a:r>
              <a:rPr lang="en-US" sz="1009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rich metadata including SEO score, variant type, product category, and keyword patterns.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5340609" y="4181288"/>
            <a:ext cx="128168" cy="128168"/>
          </a:xfrm>
          <a:custGeom>
            <a:avLst/>
            <a:gdLst/>
            <a:ahLst/>
            <a:cxnLst/>
            <a:rect l="l" t="t" r="r" b="b"/>
            <a:pathLst>
              <a:path w="128168" h="128168">
                <a:moveTo>
                  <a:pt x="12016" y="64084"/>
                </a:moveTo>
                <a:cubicBezTo>
                  <a:pt x="12016" y="35321"/>
                  <a:pt x="35321" y="12016"/>
                  <a:pt x="64084" y="12016"/>
                </a:cubicBezTo>
                <a:cubicBezTo>
                  <a:pt x="79880" y="12016"/>
                  <a:pt x="94023" y="19050"/>
                  <a:pt x="103586" y="30165"/>
                </a:cubicBezTo>
                <a:cubicBezTo>
                  <a:pt x="105739" y="32693"/>
                  <a:pt x="109544" y="32968"/>
                  <a:pt x="112047" y="30815"/>
                </a:cubicBezTo>
                <a:cubicBezTo>
                  <a:pt x="114550" y="28663"/>
                  <a:pt x="114851" y="24858"/>
                  <a:pt x="112698" y="22354"/>
                </a:cubicBezTo>
                <a:cubicBezTo>
                  <a:pt x="100957" y="8661"/>
                  <a:pt x="83535" y="0"/>
                  <a:pt x="64084" y="0"/>
                </a:cubicBezTo>
                <a:cubicBezTo>
                  <a:pt x="28688" y="0"/>
                  <a:pt x="0" y="28688"/>
                  <a:pt x="0" y="64084"/>
                </a:cubicBezTo>
                <a:lnTo>
                  <a:pt x="0" y="74097"/>
                </a:lnTo>
                <a:cubicBezTo>
                  <a:pt x="0" y="77427"/>
                  <a:pt x="2679" y="80105"/>
                  <a:pt x="6008" y="80105"/>
                </a:cubicBezTo>
                <a:cubicBezTo>
                  <a:pt x="9337" y="80105"/>
                  <a:pt x="12016" y="77427"/>
                  <a:pt x="12016" y="74097"/>
                </a:cubicBezTo>
                <a:lnTo>
                  <a:pt x="12016" y="64084"/>
                </a:lnTo>
                <a:close/>
                <a:moveTo>
                  <a:pt x="126791" y="50842"/>
                </a:moveTo>
                <a:cubicBezTo>
                  <a:pt x="126116" y="47587"/>
                  <a:pt x="122911" y="45510"/>
                  <a:pt x="119682" y="46211"/>
                </a:cubicBezTo>
                <a:cubicBezTo>
                  <a:pt x="116453" y="46912"/>
                  <a:pt x="114350" y="50091"/>
                  <a:pt x="115051" y="53320"/>
                </a:cubicBezTo>
                <a:cubicBezTo>
                  <a:pt x="115777" y="56800"/>
                  <a:pt x="116177" y="60404"/>
                  <a:pt x="116177" y="64109"/>
                </a:cubicBezTo>
                <a:lnTo>
                  <a:pt x="116177" y="74122"/>
                </a:lnTo>
                <a:cubicBezTo>
                  <a:pt x="116177" y="77452"/>
                  <a:pt x="118856" y="80130"/>
                  <a:pt x="122185" y="80130"/>
                </a:cubicBezTo>
                <a:cubicBezTo>
                  <a:pt x="125515" y="80130"/>
                  <a:pt x="128193" y="77452"/>
                  <a:pt x="128193" y="74122"/>
                </a:cubicBezTo>
                <a:lnTo>
                  <a:pt x="128193" y="64109"/>
                </a:lnTo>
                <a:cubicBezTo>
                  <a:pt x="128193" y="59578"/>
                  <a:pt x="127718" y="55147"/>
                  <a:pt x="126816" y="50867"/>
                </a:cubicBezTo>
                <a:close/>
                <a:moveTo>
                  <a:pt x="64084" y="20026"/>
                </a:moveTo>
                <a:cubicBezTo>
                  <a:pt x="59328" y="20026"/>
                  <a:pt x="54722" y="20777"/>
                  <a:pt x="50441" y="22179"/>
                </a:cubicBezTo>
                <a:cubicBezTo>
                  <a:pt x="46636" y="23431"/>
                  <a:pt x="45760" y="28112"/>
                  <a:pt x="48363" y="31166"/>
                </a:cubicBezTo>
                <a:cubicBezTo>
                  <a:pt x="50141" y="33244"/>
                  <a:pt x="53070" y="33869"/>
                  <a:pt x="55723" y="33143"/>
                </a:cubicBezTo>
                <a:cubicBezTo>
                  <a:pt x="58377" y="32418"/>
                  <a:pt x="61180" y="32042"/>
                  <a:pt x="64084" y="32042"/>
                </a:cubicBezTo>
                <a:cubicBezTo>
                  <a:pt x="81782" y="32042"/>
                  <a:pt x="96126" y="46386"/>
                  <a:pt x="96126" y="64084"/>
                </a:cubicBezTo>
                <a:lnTo>
                  <a:pt x="96126" y="70317"/>
                </a:lnTo>
                <a:cubicBezTo>
                  <a:pt x="96126" y="76626"/>
                  <a:pt x="95751" y="82909"/>
                  <a:pt x="95025" y="89167"/>
                </a:cubicBezTo>
                <a:cubicBezTo>
                  <a:pt x="94599" y="92822"/>
                  <a:pt x="97378" y="96126"/>
                  <a:pt x="101083" y="96126"/>
                </a:cubicBezTo>
                <a:cubicBezTo>
                  <a:pt x="104037" y="96126"/>
                  <a:pt x="106565" y="93973"/>
                  <a:pt x="106915" y="91044"/>
                </a:cubicBezTo>
                <a:cubicBezTo>
                  <a:pt x="107741" y="84185"/>
                  <a:pt x="108167" y="77276"/>
                  <a:pt x="108167" y="70342"/>
                </a:cubicBezTo>
                <a:lnTo>
                  <a:pt x="108167" y="64109"/>
                </a:lnTo>
                <a:cubicBezTo>
                  <a:pt x="108167" y="39777"/>
                  <a:pt x="88441" y="20051"/>
                  <a:pt x="64109" y="20051"/>
                </a:cubicBezTo>
                <a:close/>
                <a:moveTo>
                  <a:pt x="37725" y="37224"/>
                </a:moveTo>
                <a:cubicBezTo>
                  <a:pt x="35447" y="34570"/>
                  <a:pt x="31391" y="34370"/>
                  <a:pt x="29238" y="37124"/>
                </a:cubicBezTo>
                <a:cubicBezTo>
                  <a:pt x="23456" y="44584"/>
                  <a:pt x="20026" y="53921"/>
                  <a:pt x="20026" y="64084"/>
                </a:cubicBezTo>
                <a:lnTo>
                  <a:pt x="20026" y="70317"/>
                </a:lnTo>
                <a:cubicBezTo>
                  <a:pt x="20026" y="76375"/>
                  <a:pt x="19375" y="82433"/>
                  <a:pt x="18074" y="88316"/>
                </a:cubicBezTo>
                <a:cubicBezTo>
                  <a:pt x="17223" y="92221"/>
                  <a:pt x="20051" y="96101"/>
                  <a:pt x="24057" y="96101"/>
                </a:cubicBezTo>
                <a:cubicBezTo>
                  <a:pt x="26685" y="96101"/>
                  <a:pt x="29038" y="94349"/>
                  <a:pt x="29614" y="91770"/>
                </a:cubicBezTo>
                <a:cubicBezTo>
                  <a:pt x="31216" y="84736"/>
                  <a:pt x="32042" y="77552"/>
                  <a:pt x="32042" y="70292"/>
                </a:cubicBezTo>
                <a:lnTo>
                  <a:pt x="32042" y="64059"/>
                </a:lnTo>
                <a:cubicBezTo>
                  <a:pt x="32042" y="57250"/>
                  <a:pt x="34170" y="50942"/>
                  <a:pt x="37775" y="45760"/>
                </a:cubicBezTo>
                <a:cubicBezTo>
                  <a:pt x="39577" y="43157"/>
                  <a:pt x="39777" y="39602"/>
                  <a:pt x="37725" y="37199"/>
                </a:cubicBezTo>
                <a:close/>
                <a:moveTo>
                  <a:pt x="64084" y="40053"/>
                </a:moveTo>
                <a:cubicBezTo>
                  <a:pt x="50817" y="40053"/>
                  <a:pt x="40053" y="50817"/>
                  <a:pt x="40053" y="64084"/>
                </a:cubicBezTo>
                <a:lnTo>
                  <a:pt x="40053" y="70317"/>
                </a:lnTo>
                <a:cubicBezTo>
                  <a:pt x="40053" y="79304"/>
                  <a:pt x="38901" y="88216"/>
                  <a:pt x="36598" y="96877"/>
                </a:cubicBezTo>
                <a:cubicBezTo>
                  <a:pt x="35647" y="100457"/>
                  <a:pt x="38275" y="104137"/>
                  <a:pt x="41980" y="104137"/>
                </a:cubicBezTo>
                <a:cubicBezTo>
                  <a:pt x="44358" y="104137"/>
                  <a:pt x="46461" y="102585"/>
                  <a:pt x="47087" y="100282"/>
                </a:cubicBezTo>
                <a:cubicBezTo>
                  <a:pt x="49715" y="90519"/>
                  <a:pt x="51067" y="80456"/>
                  <a:pt x="51067" y="70317"/>
                </a:cubicBezTo>
                <a:lnTo>
                  <a:pt x="51067" y="64084"/>
                </a:lnTo>
                <a:cubicBezTo>
                  <a:pt x="51067" y="56900"/>
                  <a:pt x="56900" y="51067"/>
                  <a:pt x="64084" y="51067"/>
                </a:cubicBezTo>
                <a:cubicBezTo>
                  <a:pt x="71269" y="51067"/>
                  <a:pt x="77101" y="56900"/>
                  <a:pt x="77101" y="64084"/>
                </a:cubicBezTo>
                <a:lnTo>
                  <a:pt x="77101" y="70317"/>
                </a:lnTo>
                <a:cubicBezTo>
                  <a:pt x="77101" y="79404"/>
                  <a:pt x="76225" y="88441"/>
                  <a:pt x="74498" y="97328"/>
                </a:cubicBezTo>
                <a:cubicBezTo>
                  <a:pt x="73822" y="100807"/>
                  <a:pt x="76425" y="104137"/>
                  <a:pt x="79955" y="104137"/>
                </a:cubicBezTo>
                <a:cubicBezTo>
                  <a:pt x="82508" y="104137"/>
                  <a:pt x="84711" y="102384"/>
                  <a:pt x="85212" y="99881"/>
                </a:cubicBezTo>
                <a:cubicBezTo>
                  <a:pt x="87139" y="90168"/>
                  <a:pt x="88116" y="80280"/>
                  <a:pt x="88116" y="70317"/>
                </a:cubicBezTo>
                <a:lnTo>
                  <a:pt x="88116" y="64084"/>
                </a:lnTo>
                <a:cubicBezTo>
                  <a:pt x="88116" y="50817"/>
                  <a:pt x="77352" y="40053"/>
                  <a:pt x="64084" y="40053"/>
                </a:cubicBezTo>
                <a:close/>
                <a:moveTo>
                  <a:pt x="70092" y="64084"/>
                </a:moveTo>
                <a:cubicBezTo>
                  <a:pt x="70092" y="60755"/>
                  <a:pt x="67413" y="58076"/>
                  <a:pt x="64084" y="58076"/>
                </a:cubicBezTo>
                <a:cubicBezTo>
                  <a:pt x="60755" y="58076"/>
                  <a:pt x="58076" y="60755"/>
                  <a:pt x="58076" y="64084"/>
                </a:cubicBezTo>
                <a:lnTo>
                  <a:pt x="58076" y="70317"/>
                </a:lnTo>
                <a:cubicBezTo>
                  <a:pt x="58076" y="85312"/>
                  <a:pt x="55323" y="100181"/>
                  <a:pt x="49941" y="114175"/>
                </a:cubicBezTo>
                <a:lnTo>
                  <a:pt x="48464" y="118005"/>
                </a:lnTo>
                <a:cubicBezTo>
                  <a:pt x="47262" y="121109"/>
                  <a:pt x="48814" y="124589"/>
                  <a:pt x="51918" y="125765"/>
                </a:cubicBezTo>
                <a:cubicBezTo>
                  <a:pt x="55022" y="126942"/>
                  <a:pt x="58502" y="125415"/>
                  <a:pt x="59678" y="122311"/>
                </a:cubicBezTo>
                <a:lnTo>
                  <a:pt x="61155" y="118480"/>
                </a:lnTo>
                <a:cubicBezTo>
                  <a:pt x="67063" y="103110"/>
                  <a:pt x="70092" y="86789"/>
                  <a:pt x="70092" y="70317"/>
                </a:cubicBezTo>
                <a:lnTo>
                  <a:pt x="70092" y="64084"/>
                </a:lnTo>
                <a:close/>
              </a:path>
            </a:pathLst>
          </a:custGeom>
          <a:solidFill>
            <a:srgbClr val="A855F7"/>
          </a:solidFill>
          <a:ln/>
        </p:spPr>
      </p:sp>
      <p:sp>
        <p:nvSpPr>
          <p:cNvPr id="34" name="Text 31"/>
          <p:cNvSpPr/>
          <p:nvPr/>
        </p:nvSpPr>
        <p:spPr>
          <a:xfrm>
            <a:off x="5548882" y="4165267"/>
            <a:ext cx="1457913" cy="160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3" b="1" dirty="0">
                <a:solidFill>
                  <a:srgbClr val="A85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Semantic + metadata storage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5148356" y="4613856"/>
            <a:ext cx="6720820" cy="1602102"/>
          </a:xfrm>
          <a:custGeom>
            <a:avLst/>
            <a:gdLst/>
            <a:ahLst/>
            <a:cxnLst/>
            <a:rect l="l" t="t" r="r" b="b"/>
            <a:pathLst>
              <a:path w="6720820" h="1602102">
                <a:moveTo>
                  <a:pt x="0" y="0"/>
                </a:moveTo>
                <a:lnTo>
                  <a:pt x="6624701" y="0"/>
                </a:lnTo>
                <a:cubicBezTo>
                  <a:pt x="6677797" y="0"/>
                  <a:pt x="6720840" y="43043"/>
                  <a:pt x="6720840" y="96139"/>
                </a:cubicBezTo>
                <a:lnTo>
                  <a:pt x="6720840" y="1505966"/>
                </a:lnTo>
                <a:cubicBezTo>
                  <a:pt x="6720840" y="1559062"/>
                  <a:pt x="6677797" y="1602105"/>
                  <a:pt x="6624701" y="1602105"/>
                </a:cubicBezTo>
                <a:lnTo>
                  <a:pt x="0" y="1602105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2D3EE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6" name="Shape 33"/>
          <p:cNvSpPr/>
          <p:nvPr/>
        </p:nvSpPr>
        <p:spPr>
          <a:xfrm>
            <a:off x="5148356" y="4613856"/>
            <a:ext cx="32042" cy="1602102"/>
          </a:xfrm>
          <a:prstGeom prst="roundRect">
            <a:avLst>
              <a:gd name="adj" fmla="val 0"/>
            </a:avLst>
          </a:prstGeom>
          <a:solidFill>
            <a:srgbClr val="22D3EE"/>
          </a:solidFill>
          <a:ln/>
        </p:spPr>
      </p:sp>
      <p:sp>
        <p:nvSpPr>
          <p:cNvPr id="37" name="Shape 34"/>
          <p:cNvSpPr/>
          <p:nvPr/>
        </p:nvSpPr>
        <p:spPr>
          <a:xfrm>
            <a:off x="5324588" y="4806006"/>
            <a:ext cx="448589" cy="448589"/>
          </a:xfrm>
          <a:prstGeom prst="roundRect">
            <a:avLst>
              <a:gd name="adj" fmla="val 21429"/>
            </a:avLst>
          </a:prstGeom>
          <a:gradFill flip="none" rotWithShape="1">
            <a:gsLst>
              <a:gs pos="0">
                <a:srgbClr val="22D3EE"/>
              </a:gs>
              <a:gs pos="100000">
                <a:srgbClr val="06B6D4"/>
              </a:gs>
            </a:gsLst>
            <a:lin ang="2700000" scaled="1"/>
          </a:gradFill>
          <a:ln/>
        </p:spPr>
      </p:sp>
      <p:sp>
        <p:nvSpPr>
          <p:cNvPr id="38" name="Shape 35"/>
          <p:cNvSpPr/>
          <p:nvPr/>
        </p:nvSpPr>
        <p:spPr>
          <a:xfrm>
            <a:off x="5476787" y="4934175"/>
            <a:ext cx="144189" cy="192252"/>
          </a:xfrm>
          <a:custGeom>
            <a:avLst/>
            <a:gdLst/>
            <a:ahLst/>
            <a:cxnLst/>
            <a:rect l="l" t="t" r="r" b="b"/>
            <a:pathLst>
              <a:path w="144189" h="192252">
                <a:moveTo>
                  <a:pt x="109982" y="144189"/>
                </a:moveTo>
                <a:cubicBezTo>
                  <a:pt x="112723" y="135816"/>
                  <a:pt x="118205" y="128231"/>
                  <a:pt x="124401" y="121697"/>
                </a:cubicBezTo>
                <a:cubicBezTo>
                  <a:pt x="136679" y="108780"/>
                  <a:pt x="144189" y="91320"/>
                  <a:pt x="144189" y="72095"/>
                </a:cubicBezTo>
                <a:cubicBezTo>
                  <a:pt x="144189" y="32292"/>
                  <a:pt x="111897" y="0"/>
                  <a:pt x="72095" y="0"/>
                </a:cubicBezTo>
                <a:cubicBezTo>
                  <a:pt x="32292" y="0"/>
                  <a:pt x="0" y="32292"/>
                  <a:pt x="0" y="72095"/>
                </a:cubicBezTo>
                <a:cubicBezTo>
                  <a:pt x="0" y="91320"/>
                  <a:pt x="7510" y="108780"/>
                  <a:pt x="19788" y="121697"/>
                </a:cubicBezTo>
                <a:cubicBezTo>
                  <a:pt x="25984" y="128231"/>
                  <a:pt x="31504" y="135816"/>
                  <a:pt x="34207" y="144189"/>
                </a:cubicBezTo>
                <a:lnTo>
                  <a:pt x="109944" y="144189"/>
                </a:lnTo>
                <a:close/>
                <a:moveTo>
                  <a:pt x="108142" y="162213"/>
                </a:moveTo>
                <a:lnTo>
                  <a:pt x="36047" y="162213"/>
                </a:lnTo>
                <a:lnTo>
                  <a:pt x="36047" y="168221"/>
                </a:lnTo>
                <a:cubicBezTo>
                  <a:pt x="36047" y="184818"/>
                  <a:pt x="49490" y="198260"/>
                  <a:pt x="66087" y="198260"/>
                </a:cubicBezTo>
                <a:lnTo>
                  <a:pt x="78102" y="198260"/>
                </a:lnTo>
                <a:cubicBezTo>
                  <a:pt x="94699" y="198260"/>
                  <a:pt x="108142" y="184818"/>
                  <a:pt x="108142" y="168221"/>
                </a:cubicBezTo>
                <a:lnTo>
                  <a:pt x="108142" y="162213"/>
                </a:lnTo>
                <a:close/>
                <a:moveTo>
                  <a:pt x="69091" y="42055"/>
                </a:moveTo>
                <a:cubicBezTo>
                  <a:pt x="54146" y="42055"/>
                  <a:pt x="42055" y="54146"/>
                  <a:pt x="42055" y="69091"/>
                </a:cubicBezTo>
                <a:cubicBezTo>
                  <a:pt x="42055" y="74085"/>
                  <a:pt x="38037" y="78102"/>
                  <a:pt x="33043" y="78102"/>
                </a:cubicBezTo>
                <a:cubicBezTo>
                  <a:pt x="28049" y="78102"/>
                  <a:pt x="24032" y="74085"/>
                  <a:pt x="24032" y="69091"/>
                </a:cubicBezTo>
                <a:cubicBezTo>
                  <a:pt x="24032" y="44195"/>
                  <a:pt x="44195" y="24032"/>
                  <a:pt x="69091" y="24032"/>
                </a:cubicBezTo>
                <a:cubicBezTo>
                  <a:pt x="74085" y="24032"/>
                  <a:pt x="78102" y="28049"/>
                  <a:pt x="78102" y="33043"/>
                </a:cubicBezTo>
                <a:cubicBezTo>
                  <a:pt x="78102" y="38037"/>
                  <a:pt x="74085" y="42055"/>
                  <a:pt x="69091" y="4205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Shape 36"/>
          <p:cNvSpPr/>
          <p:nvPr/>
        </p:nvSpPr>
        <p:spPr>
          <a:xfrm>
            <a:off x="5901345" y="4774066"/>
            <a:ext cx="496652" cy="224294"/>
          </a:xfrm>
          <a:prstGeom prst="roundRect">
            <a:avLst>
              <a:gd name="adj" fmla="val 50000"/>
            </a:avLst>
          </a:prstGeom>
          <a:solidFill>
            <a:srgbClr val="22D3EE">
              <a:alpha val="20000"/>
            </a:srgbClr>
          </a:solidFill>
          <a:ln/>
        </p:spPr>
      </p:sp>
      <p:sp>
        <p:nvSpPr>
          <p:cNvPr id="40" name="Text 37"/>
          <p:cNvSpPr/>
          <p:nvPr/>
        </p:nvSpPr>
        <p:spPr>
          <a:xfrm>
            <a:off x="5901345" y="4774066"/>
            <a:ext cx="552725" cy="224294"/>
          </a:xfrm>
          <a:prstGeom prst="rect">
            <a:avLst/>
          </a:prstGeom>
          <a:noFill/>
          <a:ln/>
        </p:spPr>
        <p:txBody>
          <a:bodyPr wrap="square" lIns="96126" tIns="32042" rIns="96126" bIns="32042" rtlCol="0" anchor="ctr"/>
          <a:lstStyle/>
          <a:p>
            <a:pPr>
              <a:lnSpc>
                <a:spcPct val="120000"/>
              </a:lnSpc>
            </a:pPr>
            <a:r>
              <a:rPr lang="en-US" sz="883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3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5901345" y="5030402"/>
            <a:ext cx="3035984" cy="256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1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Retrieval Guides Future Generation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5324588" y="5382763"/>
            <a:ext cx="6448463" cy="416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9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Next time you optimize a similar product, the system </a:t>
            </a:r>
            <a:r>
              <a:rPr lang="en-US" sz="1009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retrieves relevant past results</a:t>
            </a:r>
            <a:r>
              <a:rPr lang="en-US" sz="1009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uses them to guide Claude toward your proven successful patterns.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5340609" y="5911457"/>
            <a:ext cx="128168" cy="128168"/>
          </a:xfrm>
          <a:custGeom>
            <a:avLst/>
            <a:gdLst/>
            <a:ahLst/>
            <a:cxnLst/>
            <a:rect l="l" t="t" r="r" b="b"/>
            <a:pathLst>
              <a:path w="128168" h="128168">
                <a:moveTo>
                  <a:pt x="16021" y="16021"/>
                </a:moveTo>
                <a:cubicBezTo>
                  <a:pt x="16021" y="11590"/>
                  <a:pt x="12441" y="8011"/>
                  <a:pt x="8011" y="8011"/>
                </a:cubicBezTo>
                <a:cubicBezTo>
                  <a:pt x="3580" y="8011"/>
                  <a:pt x="0" y="11590"/>
                  <a:pt x="0" y="16021"/>
                </a:cubicBezTo>
                <a:lnTo>
                  <a:pt x="0" y="100131"/>
                </a:lnTo>
                <a:cubicBezTo>
                  <a:pt x="0" y="111196"/>
                  <a:pt x="8962" y="120158"/>
                  <a:pt x="20026" y="120158"/>
                </a:cubicBezTo>
                <a:lnTo>
                  <a:pt x="120158" y="120158"/>
                </a:lnTo>
                <a:cubicBezTo>
                  <a:pt x="124589" y="120158"/>
                  <a:pt x="128168" y="116578"/>
                  <a:pt x="128168" y="112147"/>
                </a:cubicBezTo>
                <a:cubicBezTo>
                  <a:pt x="128168" y="107716"/>
                  <a:pt x="124589" y="104137"/>
                  <a:pt x="120158" y="104137"/>
                </a:cubicBezTo>
                <a:lnTo>
                  <a:pt x="20026" y="104137"/>
                </a:lnTo>
                <a:cubicBezTo>
                  <a:pt x="17823" y="104137"/>
                  <a:pt x="16021" y="102334"/>
                  <a:pt x="16021" y="100131"/>
                </a:cubicBezTo>
                <a:lnTo>
                  <a:pt x="16021" y="16021"/>
                </a:lnTo>
                <a:close/>
                <a:moveTo>
                  <a:pt x="117805" y="37699"/>
                </a:moveTo>
                <a:cubicBezTo>
                  <a:pt x="120934" y="34570"/>
                  <a:pt x="120934" y="29489"/>
                  <a:pt x="117805" y="26360"/>
                </a:cubicBezTo>
                <a:cubicBezTo>
                  <a:pt x="114675" y="23230"/>
                  <a:pt x="109594" y="23230"/>
                  <a:pt x="106465" y="26360"/>
                </a:cubicBezTo>
                <a:lnTo>
                  <a:pt x="80105" y="52744"/>
                </a:lnTo>
                <a:lnTo>
                  <a:pt x="65736" y="38400"/>
                </a:lnTo>
                <a:cubicBezTo>
                  <a:pt x="62607" y="35271"/>
                  <a:pt x="57525" y="35271"/>
                  <a:pt x="54396" y="38400"/>
                </a:cubicBezTo>
                <a:lnTo>
                  <a:pt x="30365" y="62432"/>
                </a:lnTo>
                <a:cubicBezTo>
                  <a:pt x="27236" y="65561"/>
                  <a:pt x="27236" y="70643"/>
                  <a:pt x="30365" y="73772"/>
                </a:cubicBezTo>
                <a:cubicBezTo>
                  <a:pt x="33494" y="76901"/>
                  <a:pt x="38576" y="76901"/>
                  <a:pt x="41705" y="73772"/>
                </a:cubicBezTo>
                <a:lnTo>
                  <a:pt x="60079" y="55398"/>
                </a:lnTo>
                <a:lnTo>
                  <a:pt x="74448" y="69767"/>
                </a:lnTo>
                <a:cubicBezTo>
                  <a:pt x="77577" y="72896"/>
                  <a:pt x="82658" y="72896"/>
                  <a:pt x="85788" y="69767"/>
                </a:cubicBezTo>
                <a:lnTo>
                  <a:pt x="117830" y="37725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44" name="Text 41"/>
          <p:cNvSpPr/>
          <p:nvPr/>
        </p:nvSpPr>
        <p:spPr>
          <a:xfrm>
            <a:off x="5548882" y="5895436"/>
            <a:ext cx="1714250" cy="160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3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Continuously improving alignment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323625" y="6347229"/>
            <a:ext cx="11541546" cy="503060"/>
          </a:xfrm>
          <a:prstGeom prst="roundRect">
            <a:avLst>
              <a:gd name="adj" fmla="val 19108"/>
            </a:avLst>
          </a:prstGeom>
          <a:gradFill flip="none" rotWithShape="1">
            <a:gsLst>
              <a:gs pos="0">
                <a:srgbClr val="A855F7">
                  <a:alpha val="20000"/>
                </a:srgbClr>
              </a:gs>
              <a:gs pos="50000">
                <a:srgbClr val="22D3EE">
                  <a:alpha val="15000"/>
                </a:srgbClr>
              </a:gs>
              <a:gs pos="100000">
                <a:srgbClr val="6366F1">
                  <a:alpha val="20000"/>
                </a:srgbClr>
              </a:gs>
            </a:gsLst>
            <a:lin ang="0" scaled="1"/>
          </a:gradFill>
          <a:ln w="1016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72019" y="6478604"/>
            <a:ext cx="270355" cy="240315"/>
          </a:xfrm>
          <a:custGeom>
            <a:avLst/>
            <a:gdLst/>
            <a:ahLst/>
            <a:cxnLst/>
            <a:rect l="l" t="t" r="r" b="b"/>
            <a:pathLst>
              <a:path w="270355" h="240315">
                <a:moveTo>
                  <a:pt x="145269" y="-8871"/>
                </a:moveTo>
                <a:cubicBezTo>
                  <a:pt x="143344" y="-12626"/>
                  <a:pt x="139449" y="-15020"/>
                  <a:pt x="135224" y="-15020"/>
                </a:cubicBezTo>
                <a:cubicBezTo>
                  <a:pt x="131000" y="-15020"/>
                  <a:pt x="127104" y="-12626"/>
                  <a:pt x="125180" y="-8871"/>
                </a:cubicBezTo>
                <a:lnTo>
                  <a:pt x="90635" y="58812"/>
                </a:lnTo>
                <a:lnTo>
                  <a:pt x="15583" y="70733"/>
                </a:lnTo>
                <a:cubicBezTo>
                  <a:pt x="11406" y="71391"/>
                  <a:pt x="7932" y="74348"/>
                  <a:pt x="6618" y="78384"/>
                </a:cubicBezTo>
                <a:cubicBezTo>
                  <a:pt x="5304" y="82421"/>
                  <a:pt x="6383" y="86833"/>
                  <a:pt x="9340" y="89837"/>
                </a:cubicBezTo>
                <a:lnTo>
                  <a:pt x="63036" y="143579"/>
                </a:lnTo>
                <a:lnTo>
                  <a:pt x="51208" y="218631"/>
                </a:lnTo>
                <a:cubicBezTo>
                  <a:pt x="50551" y="222808"/>
                  <a:pt x="52287" y="227032"/>
                  <a:pt x="55714" y="229520"/>
                </a:cubicBezTo>
                <a:cubicBezTo>
                  <a:pt x="59140" y="232008"/>
                  <a:pt x="63646" y="232383"/>
                  <a:pt x="67448" y="230459"/>
                </a:cubicBezTo>
                <a:lnTo>
                  <a:pt x="135224" y="196007"/>
                </a:lnTo>
                <a:lnTo>
                  <a:pt x="202954" y="230459"/>
                </a:lnTo>
                <a:cubicBezTo>
                  <a:pt x="206709" y="232383"/>
                  <a:pt x="211262" y="232008"/>
                  <a:pt x="214688" y="229520"/>
                </a:cubicBezTo>
                <a:cubicBezTo>
                  <a:pt x="218114" y="227032"/>
                  <a:pt x="219851" y="222855"/>
                  <a:pt x="219194" y="218631"/>
                </a:cubicBezTo>
                <a:lnTo>
                  <a:pt x="207319" y="143579"/>
                </a:lnTo>
                <a:lnTo>
                  <a:pt x="261014" y="89837"/>
                </a:lnTo>
                <a:cubicBezTo>
                  <a:pt x="264018" y="86833"/>
                  <a:pt x="265051" y="82421"/>
                  <a:pt x="263737" y="78384"/>
                </a:cubicBezTo>
                <a:cubicBezTo>
                  <a:pt x="262423" y="74348"/>
                  <a:pt x="258996" y="71391"/>
                  <a:pt x="254772" y="70733"/>
                </a:cubicBezTo>
                <a:lnTo>
                  <a:pt x="179767" y="58812"/>
                </a:lnTo>
                <a:lnTo>
                  <a:pt x="145269" y="-8871"/>
                </a:lnTo>
                <a:close/>
              </a:path>
            </a:pathLst>
          </a:custGeom>
          <a:solidFill>
            <a:srgbClr val="A855F7"/>
          </a:solidFill>
          <a:ln/>
        </p:spPr>
      </p:sp>
      <p:sp>
        <p:nvSpPr>
          <p:cNvPr id="47" name="Text 44"/>
          <p:cNvSpPr/>
          <p:nvPr/>
        </p:nvSpPr>
        <p:spPr>
          <a:xfrm>
            <a:off x="883560" y="6486614"/>
            <a:ext cx="7009198" cy="224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more you use ContentBoost AI, the </a:t>
            </a:r>
            <a:r>
              <a:rPr lang="en-US" sz="1262" b="1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smarter</a:t>
            </a:r>
            <a:r>
              <a:rPr lang="en-US" sz="126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</a:t>
            </a:r>
            <a:r>
              <a:rPr lang="en-US" sz="1262" b="1" dirty="0">
                <a:solidFill>
                  <a:srgbClr val="A855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more aligned</a:t>
            </a:r>
            <a:r>
              <a:rPr lang="en-US" sz="126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it becomes with your brand voice.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4641" y="359793"/>
            <a:ext cx="1904054" cy="292109"/>
          </a:xfrm>
          <a:prstGeom prst="roundRect">
            <a:avLst>
              <a:gd name="adj" fmla="val 50000"/>
            </a:avLst>
          </a:pr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299602" y="434604"/>
            <a:ext cx="160304" cy="142492"/>
          </a:xfrm>
          <a:custGeom>
            <a:avLst/>
            <a:gdLst/>
            <a:ahLst/>
            <a:cxnLst/>
            <a:rect l="l" t="t" r="r" b="b"/>
            <a:pathLst>
              <a:path w="160304" h="142492">
                <a:moveTo>
                  <a:pt x="53435" y="17812"/>
                </a:moveTo>
                <a:cubicBezTo>
                  <a:pt x="23934" y="17812"/>
                  <a:pt x="0" y="41746"/>
                  <a:pt x="0" y="71246"/>
                </a:cubicBezTo>
                <a:cubicBezTo>
                  <a:pt x="0" y="100747"/>
                  <a:pt x="23934" y="124681"/>
                  <a:pt x="53435" y="124681"/>
                </a:cubicBezTo>
                <a:lnTo>
                  <a:pt x="106869" y="124681"/>
                </a:lnTo>
                <a:cubicBezTo>
                  <a:pt x="136370" y="124681"/>
                  <a:pt x="160304" y="100747"/>
                  <a:pt x="160304" y="71246"/>
                </a:cubicBezTo>
                <a:cubicBezTo>
                  <a:pt x="160304" y="41746"/>
                  <a:pt x="136370" y="17812"/>
                  <a:pt x="106869" y="17812"/>
                </a:cubicBezTo>
                <a:lnTo>
                  <a:pt x="53435" y="17812"/>
                </a:lnTo>
                <a:close/>
                <a:moveTo>
                  <a:pt x="106869" y="44529"/>
                </a:moveTo>
                <a:cubicBezTo>
                  <a:pt x="121615" y="44529"/>
                  <a:pt x="133587" y="56500"/>
                  <a:pt x="133587" y="71246"/>
                </a:cubicBezTo>
                <a:cubicBezTo>
                  <a:pt x="133587" y="85992"/>
                  <a:pt x="121615" y="97963"/>
                  <a:pt x="106869" y="97963"/>
                </a:cubicBezTo>
                <a:cubicBezTo>
                  <a:pt x="92124" y="97963"/>
                  <a:pt x="80152" y="85992"/>
                  <a:pt x="80152" y="71246"/>
                </a:cubicBezTo>
                <a:cubicBezTo>
                  <a:pt x="80152" y="56500"/>
                  <a:pt x="92124" y="44529"/>
                  <a:pt x="106869" y="4452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508887" y="416793"/>
            <a:ext cx="1424923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2" b="1" kern="0" spc="49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Operational Modes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49362" y="762335"/>
            <a:ext cx="11693277" cy="42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36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Works With or Without API Keys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16155" y="1261058"/>
            <a:ext cx="11559690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2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Flexible deployment from prototype to production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3355" y="1695660"/>
            <a:ext cx="4743213" cy="4796648"/>
          </a:xfrm>
          <a:prstGeom prst="roundRect">
            <a:avLst>
              <a:gd name="adj" fmla="val 3004"/>
            </a:avLst>
          </a:prstGeom>
          <a:gradFill flip="none" rotWithShape="1">
            <a:gsLst>
              <a:gs pos="0">
                <a:srgbClr val="64748B">
                  <a:alpha val="20000"/>
                </a:srgbClr>
              </a:gs>
              <a:gs pos="100000">
                <a:srgbClr val="64748B">
                  <a:alpha val="5000"/>
                </a:srgbClr>
              </a:gs>
            </a:gsLst>
            <a:lin ang="5400000" scaled="1"/>
          </a:gradFill>
          <a:ln w="20320">
            <a:solidFill>
              <a:srgbClr val="64748B">
                <a:alpha val="5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50089" y="1880900"/>
            <a:ext cx="569969" cy="569969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64748B"/>
              </a:gs>
              <a:gs pos="100000">
                <a:srgbClr val="475569"/>
              </a:gs>
            </a:gsLst>
            <a:lin ang="2700000" scaled="1"/>
          </a:gra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03714" y="2032299"/>
            <a:ext cx="267173" cy="267173"/>
          </a:xfrm>
          <a:custGeom>
            <a:avLst/>
            <a:gdLst/>
            <a:ahLst/>
            <a:cxnLst/>
            <a:rect l="l" t="t" r="r" b="b"/>
            <a:pathLst>
              <a:path w="267173" h="267173">
                <a:moveTo>
                  <a:pt x="178776" y="4905"/>
                </a:moveTo>
                <a:cubicBezTo>
                  <a:pt x="172254" y="-1618"/>
                  <a:pt x="161661" y="-1618"/>
                  <a:pt x="155138" y="4905"/>
                </a:cubicBezTo>
                <a:cubicBezTo>
                  <a:pt x="148615" y="11428"/>
                  <a:pt x="148615" y="22021"/>
                  <a:pt x="155138" y="28544"/>
                </a:cubicBezTo>
                <a:lnTo>
                  <a:pt x="160043" y="33397"/>
                </a:lnTo>
                <a:lnTo>
                  <a:pt x="14663" y="178776"/>
                </a:lnTo>
                <a:cubicBezTo>
                  <a:pt x="5270" y="188169"/>
                  <a:pt x="0" y="200902"/>
                  <a:pt x="0" y="214208"/>
                </a:cubicBezTo>
                <a:lnTo>
                  <a:pt x="0" y="217078"/>
                </a:lnTo>
                <a:cubicBezTo>
                  <a:pt x="0" y="244735"/>
                  <a:pt x="22438" y="267173"/>
                  <a:pt x="50095" y="267173"/>
                </a:cubicBezTo>
                <a:lnTo>
                  <a:pt x="52965" y="267173"/>
                </a:lnTo>
                <a:cubicBezTo>
                  <a:pt x="66271" y="267173"/>
                  <a:pt x="79004" y="261903"/>
                  <a:pt x="88397" y="252510"/>
                </a:cubicBezTo>
                <a:lnTo>
                  <a:pt x="233776" y="107130"/>
                </a:lnTo>
                <a:lnTo>
                  <a:pt x="238682" y="112035"/>
                </a:lnTo>
                <a:cubicBezTo>
                  <a:pt x="245204" y="118558"/>
                  <a:pt x="255797" y="118558"/>
                  <a:pt x="262320" y="112035"/>
                </a:cubicBezTo>
                <a:cubicBezTo>
                  <a:pt x="268843" y="105513"/>
                  <a:pt x="268843" y="94920"/>
                  <a:pt x="262320" y="88397"/>
                </a:cubicBezTo>
                <a:lnTo>
                  <a:pt x="178829" y="4905"/>
                </a:lnTo>
                <a:close/>
                <a:moveTo>
                  <a:pt x="107130" y="133587"/>
                </a:moveTo>
                <a:lnTo>
                  <a:pt x="183682" y="57035"/>
                </a:lnTo>
                <a:lnTo>
                  <a:pt x="210138" y="83492"/>
                </a:lnTo>
                <a:lnTo>
                  <a:pt x="160043" y="133587"/>
                </a:lnTo>
                <a:lnTo>
                  <a:pt x="107078" y="13358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81802" y="2557739"/>
            <a:ext cx="4506320" cy="320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0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Demo Mode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378843" y="2949593"/>
            <a:ext cx="712462" cy="3562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64748B"/>
              </a:gs>
              <a:gs pos="100000">
                <a:srgbClr val="475569"/>
              </a:gs>
            </a:gsLst>
            <a:lin ang="0" scaled="1"/>
          </a:gradFill>
          <a:ln/>
        </p:spPr>
      </p:sp>
      <p:sp>
        <p:nvSpPr>
          <p:cNvPr id="12" name="Text 10"/>
          <p:cNvSpPr/>
          <p:nvPr/>
        </p:nvSpPr>
        <p:spPr>
          <a:xfrm>
            <a:off x="512972" y="3092085"/>
            <a:ext cx="4443980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2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API cost. Full functionality.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595" y="3466128"/>
            <a:ext cx="284985" cy="284985"/>
          </a:xfrm>
          <a:prstGeom prst="roundRect">
            <a:avLst>
              <a:gd name="adj" fmla="val 25000"/>
            </a:avLst>
          </a:prstGeom>
          <a:solidFill>
            <a:srgbClr val="64748B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28747" y="3537374"/>
            <a:ext cx="124681" cy="142492"/>
          </a:xfrm>
          <a:custGeom>
            <a:avLst/>
            <a:gdLst/>
            <a:ahLst/>
            <a:cxnLst/>
            <a:rect l="l" t="t" r="r" b="b"/>
            <a:pathLst>
              <a:path w="124681" h="142492">
                <a:moveTo>
                  <a:pt x="124681" y="57275"/>
                </a:moveTo>
                <a:cubicBezTo>
                  <a:pt x="120562" y="60003"/>
                  <a:pt x="115831" y="62201"/>
                  <a:pt x="110905" y="63955"/>
                </a:cubicBezTo>
                <a:cubicBezTo>
                  <a:pt x="97824" y="68630"/>
                  <a:pt x="80653" y="71246"/>
                  <a:pt x="62340" y="71246"/>
                </a:cubicBezTo>
                <a:cubicBezTo>
                  <a:pt x="44028" y="71246"/>
                  <a:pt x="26829" y="68602"/>
                  <a:pt x="13776" y="63955"/>
                </a:cubicBezTo>
                <a:cubicBezTo>
                  <a:pt x="8878" y="62201"/>
                  <a:pt x="4119" y="60003"/>
                  <a:pt x="0" y="57275"/>
                </a:cubicBezTo>
                <a:lnTo>
                  <a:pt x="0" y="80152"/>
                </a:lnTo>
                <a:cubicBezTo>
                  <a:pt x="0" y="92453"/>
                  <a:pt x="27914" y="102416"/>
                  <a:pt x="62340" y="102416"/>
                </a:cubicBezTo>
                <a:cubicBezTo>
                  <a:pt x="96767" y="102416"/>
                  <a:pt x="124681" y="92453"/>
                  <a:pt x="124681" y="80152"/>
                </a:cubicBezTo>
                <a:lnTo>
                  <a:pt x="124681" y="57275"/>
                </a:lnTo>
                <a:close/>
                <a:moveTo>
                  <a:pt x="124681" y="35623"/>
                </a:moveTo>
                <a:lnTo>
                  <a:pt x="124681" y="22264"/>
                </a:lnTo>
                <a:cubicBezTo>
                  <a:pt x="124681" y="9963"/>
                  <a:pt x="96767" y="0"/>
                  <a:pt x="62340" y="0"/>
                </a:cubicBezTo>
                <a:cubicBezTo>
                  <a:pt x="27914" y="0"/>
                  <a:pt x="0" y="9963"/>
                  <a:pt x="0" y="22264"/>
                </a:cubicBezTo>
                <a:lnTo>
                  <a:pt x="0" y="35623"/>
                </a:lnTo>
                <a:cubicBezTo>
                  <a:pt x="0" y="47924"/>
                  <a:pt x="27914" y="57888"/>
                  <a:pt x="62340" y="57888"/>
                </a:cubicBezTo>
                <a:cubicBezTo>
                  <a:pt x="96767" y="57888"/>
                  <a:pt x="124681" y="47924"/>
                  <a:pt x="124681" y="35623"/>
                </a:cubicBezTo>
                <a:close/>
                <a:moveTo>
                  <a:pt x="110905" y="108483"/>
                </a:moveTo>
                <a:cubicBezTo>
                  <a:pt x="97852" y="113131"/>
                  <a:pt x="80681" y="115775"/>
                  <a:pt x="62340" y="115775"/>
                </a:cubicBezTo>
                <a:cubicBezTo>
                  <a:pt x="44000" y="115775"/>
                  <a:pt x="26829" y="113131"/>
                  <a:pt x="13776" y="108483"/>
                </a:cubicBezTo>
                <a:cubicBezTo>
                  <a:pt x="8878" y="106730"/>
                  <a:pt x="4119" y="104531"/>
                  <a:pt x="0" y="101804"/>
                </a:cubicBezTo>
                <a:lnTo>
                  <a:pt x="0" y="120228"/>
                </a:lnTo>
                <a:cubicBezTo>
                  <a:pt x="0" y="132529"/>
                  <a:pt x="27914" y="142492"/>
                  <a:pt x="62340" y="142492"/>
                </a:cubicBezTo>
                <a:cubicBezTo>
                  <a:pt x="96767" y="142492"/>
                  <a:pt x="124681" y="132529"/>
                  <a:pt x="124681" y="120228"/>
                </a:cubicBezTo>
                <a:lnTo>
                  <a:pt x="124681" y="101804"/>
                </a:lnTo>
                <a:cubicBezTo>
                  <a:pt x="120562" y="104531"/>
                  <a:pt x="115831" y="106730"/>
                  <a:pt x="110905" y="108483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15" name="Text 13"/>
          <p:cNvSpPr/>
          <p:nvPr/>
        </p:nvSpPr>
        <p:spPr>
          <a:xfrm>
            <a:off x="940449" y="3448316"/>
            <a:ext cx="3152643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Fixture Sample Data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40449" y="3662055"/>
            <a:ext cx="3143737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Uses pre-loaded competitor examples for demonstration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595" y="3964851"/>
            <a:ext cx="284985" cy="284985"/>
          </a:xfrm>
          <a:prstGeom prst="roundRect">
            <a:avLst>
              <a:gd name="adj" fmla="val 25000"/>
            </a:avLst>
          </a:prstGeom>
          <a:solidFill>
            <a:srgbClr val="64748B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19842" y="4036097"/>
            <a:ext cx="142492" cy="142492"/>
          </a:xfrm>
          <a:custGeom>
            <a:avLst/>
            <a:gdLst/>
            <a:ahLst/>
            <a:cxnLst/>
            <a:rect l="l" t="t" r="r" b="b"/>
            <a:pathLst>
              <a:path w="142492" h="142492">
                <a:moveTo>
                  <a:pt x="110905" y="3395"/>
                </a:moveTo>
                <a:lnTo>
                  <a:pt x="86358" y="27942"/>
                </a:lnTo>
                <a:lnTo>
                  <a:pt x="114550" y="56134"/>
                </a:lnTo>
                <a:lnTo>
                  <a:pt x="139097" y="31588"/>
                </a:lnTo>
                <a:cubicBezTo>
                  <a:pt x="141268" y="29389"/>
                  <a:pt x="142492" y="26439"/>
                  <a:pt x="142492" y="23378"/>
                </a:cubicBezTo>
                <a:cubicBezTo>
                  <a:pt x="142492" y="20316"/>
                  <a:pt x="141268" y="17366"/>
                  <a:pt x="139097" y="15168"/>
                </a:cubicBezTo>
                <a:lnTo>
                  <a:pt x="127325" y="3395"/>
                </a:lnTo>
                <a:cubicBezTo>
                  <a:pt x="125126" y="1225"/>
                  <a:pt x="122176" y="0"/>
                  <a:pt x="119115" y="0"/>
                </a:cubicBezTo>
                <a:cubicBezTo>
                  <a:pt x="116053" y="0"/>
                  <a:pt x="113103" y="1225"/>
                  <a:pt x="110905" y="3395"/>
                </a:cubicBezTo>
                <a:close/>
                <a:moveTo>
                  <a:pt x="76924" y="37376"/>
                </a:moveTo>
                <a:lnTo>
                  <a:pt x="3395" y="110905"/>
                </a:lnTo>
                <a:cubicBezTo>
                  <a:pt x="1225" y="113103"/>
                  <a:pt x="0" y="116053"/>
                  <a:pt x="0" y="119115"/>
                </a:cubicBezTo>
                <a:cubicBezTo>
                  <a:pt x="0" y="122176"/>
                  <a:pt x="1225" y="125126"/>
                  <a:pt x="3395" y="127325"/>
                </a:cubicBezTo>
                <a:lnTo>
                  <a:pt x="15168" y="139097"/>
                </a:lnTo>
                <a:cubicBezTo>
                  <a:pt x="17366" y="141268"/>
                  <a:pt x="20316" y="142492"/>
                  <a:pt x="23378" y="142492"/>
                </a:cubicBezTo>
                <a:cubicBezTo>
                  <a:pt x="26439" y="142492"/>
                  <a:pt x="29389" y="141268"/>
                  <a:pt x="31588" y="139097"/>
                </a:cubicBezTo>
                <a:lnTo>
                  <a:pt x="105116" y="65569"/>
                </a:lnTo>
                <a:lnTo>
                  <a:pt x="76924" y="37376"/>
                </a:ln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19" name="Text 17"/>
          <p:cNvSpPr/>
          <p:nvPr/>
        </p:nvSpPr>
        <p:spPr>
          <a:xfrm>
            <a:off x="940449" y="3947039"/>
            <a:ext cx="3446533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Template-Based Generation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40449" y="4160778"/>
            <a:ext cx="3437627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Personalized variants using actual user inputs and product data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595" y="4463574"/>
            <a:ext cx="284985" cy="284985"/>
          </a:xfrm>
          <a:prstGeom prst="roundRect">
            <a:avLst>
              <a:gd name="adj" fmla="val 25000"/>
            </a:avLst>
          </a:prstGeom>
          <a:solidFill>
            <a:srgbClr val="64748B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19842" y="4534820"/>
            <a:ext cx="142492" cy="142492"/>
          </a:xfrm>
          <a:custGeom>
            <a:avLst/>
            <a:gdLst/>
            <a:ahLst/>
            <a:cxnLst/>
            <a:rect l="l" t="t" r="r" b="b"/>
            <a:pathLst>
              <a:path w="142492" h="142492">
                <a:moveTo>
                  <a:pt x="8906" y="8906"/>
                </a:moveTo>
                <a:cubicBezTo>
                  <a:pt x="13832" y="8906"/>
                  <a:pt x="17812" y="12886"/>
                  <a:pt x="17812" y="17812"/>
                </a:cubicBezTo>
                <a:lnTo>
                  <a:pt x="17812" y="111322"/>
                </a:lnTo>
                <a:cubicBezTo>
                  <a:pt x="17812" y="113771"/>
                  <a:pt x="19815" y="115775"/>
                  <a:pt x="22264" y="115775"/>
                </a:cubicBezTo>
                <a:lnTo>
                  <a:pt x="133587" y="115775"/>
                </a:lnTo>
                <a:cubicBezTo>
                  <a:pt x="138513" y="115775"/>
                  <a:pt x="142492" y="119755"/>
                  <a:pt x="142492" y="124681"/>
                </a:cubicBezTo>
                <a:cubicBezTo>
                  <a:pt x="142492" y="129607"/>
                  <a:pt x="138513" y="133587"/>
                  <a:pt x="133587" y="133587"/>
                </a:cubicBezTo>
                <a:lnTo>
                  <a:pt x="22264" y="133587"/>
                </a:lnTo>
                <a:cubicBezTo>
                  <a:pt x="9963" y="133587"/>
                  <a:pt x="0" y="123623"/>
                  <a:pt x="0" y="111322"/>
                </a:cubicBezTo>
                <a:lnTo>
                  <a:pt x="0" y="17812"/>
                </a:lnTo>
                <a:cubicBezTo>
                  <a:pt x="0" y="12886"/>
                  <a:pt x="3980" y="8906"/>
                  <a:pt x="8906" y="8906"/>
                </a:cubicBezTo>
                <a:close/>
                <a:moveTo>
                  <a:pt x="35623" y="26717"/>
                </a:moveTo>
                <a:cubicBezTo>
                  <a:pt x="35623" y="21791"/>
                  <a:pt x="39603" y="17812"/>
                  <a:pt x="44529" y="17812"/>
                </a:cubicBezTo>
                <a:lnTo>
                  <a:pt x="97963" y="17812"/>
                </a:lnTo>
                <a:cubicBezTo>
                  <a:pt x="102889" y="17812"/>
                  <a:pt x="106869" y="21791"/>
                  <a:pt x="106869" y="26717"/>
                </a:cubicBezTo>
                <a:cubicBezTo>
                  <a:pt x="106869" y="31643"/>
                  <a:pt x="102889" y="35623"/>
                  <a:pt x="97963" y="35623"/>
                </a:cubicBezTo>
                <a:lnTo>
                  <a:pt x="44529" y="35623"/>
                </a:lnTo>
                <a:cubicBezTo>
                  <a:pt x="39603" y="35623"/>
                  <a:pt x="35623" y="31643"/>
                  <a:pt x="35623" y="26717"/>
                </a:cubicBezTo>
                <a:close/>
                <a:moveTo>
                  <a:pt x="44529" y="48982"/>
                </a:moveTo>
                <a:lnTo>
                  <a:pt x="80152" y="48982"/>
                </a:lnTo>
                <a:cubicBezTo>
                  <a:pt x="85078" y="48982"/>
                  <a:pt x="89058" y="52962"/>
                  <a:pt x="89058" y="57888"/>
                </a:cubicBezTo>
                <a:cubicBezTo>
                  <a:pt x="89058" y="62814"/>
                  <a:pt x="85078" y="66793"/>
                  <a:pt x="80152" y="66793"/>
                </a:cubicBezTo>
                <a:lnTo>
                  <a:pt x="44529" y="66793"/>
                </a:lnTo>
                <a:cubicBezTo>
                  <a:pt x="39603" y="66793"/>
                  <a:pt x="35623" y="62814"/>
                  <a:pt x="35623" y="57888"/>
                </a:cubicBezTo>
                <a:cubicBezTo>
                  <a:pt x="35623" y="52962"/>
                  <a:pt x="39603" y="48982"/>
                  <a:pt x="44529" y="48982"/>
                </a:cubicBezTo>
                <a:close/>
                <a:moveTo>
                  <a:pt x="44529" y="80152"/>
                </a:moveTo>
                <a:lnTo>
                  <a:pt x="115775" y="80152"/>
                </a:lnTo>
                <a:cubicBezTo>
                  <a:pt x="120701" y="80152"/>
                  <a:pt x="124681" y="84132"/>
                  <a:pt x="124681" y="89058"/>
                </a:cubicBezTo>
                <a:cubicBezTo>
                  <a:pt x="124681" y="93984"/>
                  <a:pt x="120701" y="97963"/>
                  <a:pt x="115775" y="97963"/>
                </a:cubicBezTo>
                <a:lnTo>
                  <a:pt x="44529" y="97963"/>
                </a:lnTo>
                <a:cubicBezTo>
                  <a:pt x="39603" y="97963"/>
                  <a:pt x="35623" y="93984"/>
                  <a:pt x="35623" y="89058"/>
                </a:cubicBezTo>
                <a:cubicBezTo>
                  <a:pt x="35623" y="84132"/>
                  <a:pt x="39603" y="80152"/>
                  <a:pt x="44529" y="80152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23" name="Text 21"/>
          <p:cNvSpPr/>
          <p:nvPr/>
        </p:nvSpPr>
        <p:spPr>
          <a:xfrm>
            <a:off x="940449" y="4445762"/>
            <a:ext cx="2849847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SEO Scoring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40449" y="4659501"/>
            <a:ext cx="2840941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4-component scoring system operational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8595" y="4962297"/>
            <a:ext cx="284985" cy="284985"/>
          </a:xfrm>
          <a:prstGeom prst="roundRect">
            <a:avLst>
              <a:gd name="adj" fmla="val 25000"/>
            </a:avLst>
          </a:prstGeom>
          <a:solidFill>
            <a:srgbClr val="64748B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19842" y="5033543"/>
            <a:ext cx="142492" cy="142492"/>
          </a:xfrm>
          <a:custGeom>
            <a:avLst/>
            <a:gdLst/>
            <a:ahLst/>
            <a:cxnLst/>
            <a:rect l="l" t="t" r="r" b="b"/>
            <a:pathLst>
              <a:path w="142492" h="142492">
                <a:moveTo>
                  <a:pt x="17812" y="17812"/>
                </a:moveTo>
                <a:cubicBezTo>
                  <a:pt x="7987" y="17812"/>
                  <a:pt x="0" y="25799"/>
                  <a:pt x="0" y="35623"/>
                </a:cubicBezTo>
                <a:lnTo>
                  <a:pt x="0" y="37683"/>
                </a:lnTo>
                <a:cubicBezTo>
                  <a:pt x="0" y="39575"/>
                  <a:pt x="1225" y="41189"/>
                  <a:pt x="2811" y="42219"/>
                </a:cubicBezTo>
                <a:cubicBezTo>
                  <a:pt x="6485" y="44612"/>
                  <a:pt x="8906" y="48731"/>
                  <a:pt x="8906" y="53435"/>
                </a:cubicBezTo>
                <a:cubicBezTo>
                  <a:pt x="8906" y="58138"/>
                  <a:pt x="6485" y="62257"/>
                  <a:pt x="2811" y="64650"/>
                </a:cubicBezTo>
                <a:cubicBezTo>
                  <a:pt x="1225" y="65680"/>
                  <a:pt x="0" y="67294"/>
                  <a:pt x="0" y="69187"/>
                </a:cubicBezTo>
                <a:lnTo>
                  <a:pt x="0" y="84605"/>
                </a:lnTo>
                <a:lnTo>
                  <a:pt x="142492" y="84605"/>
                </a:lnTo>
                <a:lnTo>
                  <a:pt x="142492" y="69187"/>
                </a:lnTo>
                <a:cubicBezTo>
                  <a:pt x="142492" y="67294"/>
                  <a:pt x="141268" y="65680"/>
                  <a:pt x="139681" y="64650"/>
                </a:cubicBezTo>
                <a:cubicBezTo>
                  <a:pt x="136008" y="62257"/>
                  <a:pt x="133587" y="58138"/>
                  <a:pt x="133587" y="53435"/>
                </a:cubicBezTo>
                <a:cubicBezTo>
                  <a:pt x="133587" y="48731"/>
                  <a:pt x="136008" y="44612"/>
                  <a:pt x="139681" y="42219"/>
                </a:cubicBezTo>
                <a:cubicBezTo>
                  <a:pt x="141268" y="41189"/>
                  <a:pt x="142492" y="39575"/>
                  <a:pt x="142492" y="37683"/>
                </a:cubicBezTo>
                <a:lnTo>
                  <a:pt x="142492" y="35623"/>
                </a:lnTo>
                <a:cubicBezTo>
                  <a:pt x="142492" y="25799"/>
                  <a:pt x="134505" y="17812"/>
                  <a:pt x="124681" y="17812"/>
                </a:cubicBezTo>
                <a:lnTo>
                  <a:pt x="17812" y="17812"/>
                </a:lnTo>
                <a:close/>
                <a:moveTo>
                  <a:pt x="142492" y="115775"/>
                </a:moveTo>
                <a:lnTo>
                  <a:pt x="142492" y="97963"/>
                </a:lnTo>
                <a:lnTo>
                  <a:pt x="0" y="97963"/>
                </a:lnTo>
                <a:lnTo>
                  <a:pt x="0" y="115775"/>
                </a:lnTo>
                <a:cubicBezTo>
                  <a:pt x="0" y="120701"/>
                  <a:pt x="3980" y="124681"/>
                  <a:pt x="8906" y="124681"/>
                </a:cubicBezTo>
                <a:lnTo>
                  <a:pt x="26717" y="124681"/>
                </a:lnTo>
                <a:lnTo>
                  <a:pt x="26717" y="118001"/>
                </a:lnTo>
                <a:cubicBezTo>
                  <a:pt x="26717" y="114300"/>
                  <a:pt x="29695" y="111322"/>
                  <a:pt x="33397" y="111322"/>
                </a:cubicBezTo>
                <a:cubicBezTo>
                  <a:pt x="37098" y="111322"/>
                  <a:pt x="40076" y="114300"/>
                  <a:pt x="40076" y="118001"/>
                </a:cubicBezTo>
                <a:lnTo>
                  <a:pt x="40076" y="124681"/>
                </a:lnTo>
                <a:lnTo>
                  <a:pt x="64567" y="124681"/>
                </a:lnTo>
                <a:lnTo>
                  <a:pt x="64567" y="118001"/>
                </a:lnTo>
                <a:cubicBezTo>
                  <a:pt x="64567" y="114300"/>
                  <a:pt x="67545" y="111322"/>
                  <a:pt x="71246" y="111322"/>
                </a:cubicBezTo>
                <a:cubicBezTo>
                  <a:pt x="74948" y="111322"/>
                  <a:pt x="77925" y="114300"/>
                  <a:pt x="77925" y="118001"/>
                </a:cubicBezTo>
                <a:lnTo>
                  <a:pt x="77925" y="124681"/>
                </a:lnTo>
                <a:lnTo>
                  <a:pt x="102416" y="124681"/>
                </a:lnTo>
                <a:lnTo>
                  <a:pt x="102416" y="118001"/>
                </a:lnTo>
                <a:cubicBezTo>
                  <a:pt x="102416" y="114300"/>
                  <a:pt x="105394" y="111322"/>
                  <a:pt x="109096" y="111322"/>
                </a:cubicBezTo>
                <a:cubicBezTo>
                  <a:pt x="112797" y="111322"/>
                  <a:pt x="115775" y="114300"/>
                  <a:pt x="115775" y="118001"/>
                </a:cubicBezTo>
                <a:lnTo>
                  <a:pt x="115775" y="124681"/>
                </a:lnTo>
                <a:lnTo>
                  <a:pt x="133587" y="124681"/>
                </a:lnTo>
                <a:cubicBezTo>
                  <a:pt x="138513" y="124681"/>
                  <a:pt x="142492" y="120701"/>
                  <a:pt x="142492" y="115775"/>
                </a:cubicBezTo>
                <a:close/>
                <a:moveTo>
                  <a:pt x="44529" y="44529"/>
                </a:moveTo>
                <a:lnTo>
                  <a:pt x="44529" y="62340"/>
                </a:lnTo>
                <a:cubicBezTo>
                  <a:pt x="44529" y="67266"/>
                  <a:pt x="40549" y="71246"/>
                  <a:pt x="35623" y="71246"/>
                </a:cubicBezTo>
                <a:cubicBezTo>
                  <a:pt x="30697" y="71246"/>
                  <a:pt x="26717" y="67266"/>
                  <a:pt x="26717" y="62340"/>
                </a:cubicBezTo>
                <a:lnTo>
                  <a:pt x="26717" y="44529"/>
                </a:lnTo>
                <a:cubicBezTo>
                  <a:pt x="26717" y="39603"/>
                  <a:pt x="30697" y="35623"/>
                  <a:pt x="35623" y="35623"/>
                </a:cubicBezTo>
                <a:cubicBezTo>
                  <a:pt x="40549" y="35623"/>
                  <a:pt x="44529" y="39603"/>
                  <a:pt x="44529" y="44529"/>
                </a:cubicBezTo>
                <a:close/>
                <a:moveTo>
                  <a:pt x="80152" y="44529"/>
                </a:moveTo>
                <a:lnTo>
                  <a:pt x="80152" y="62340"/>
                </a:lnTo>
                <a:cubicBezTo>
                  <a:pt x="80152" y="67266"/>
                  <a:pt x="76172" y="71246"/>
                  <a:pt x="71246" y="71246"/>
                </a:cubicBezTo>
                <a:cubicBezTo>
                  <a:pt x="66320" y="71246"/>
                  <a:pt x="62340" y="67266"/>
                  <a:pt x="62340" y="62340"/>
                </a:cubicBezTo>
                <a:lnTo>
                  <a:pt x="62340" y="44529"/>
                </a:lnTo>
                <a:cubicBezTo>
                  <a:pt x="62340" y="39603"/>
                  <a:pt x="66320" y="35623"/>
                  <a:pt x="71246" y="35623"/>
                </a:cubicBezTo>
                <a:cubicBezTo>
                  <a:pt x="76172" y="35623"/>
                  <a:pt x="80152" y="39603"/>
                  <a:pt x="80152" y="44529"/>
                </a:cubicBezTo>
                <a:close/>
                <a:moveTo>
                  <a:pt x="115775" y="44529"/>
                </a:moveTo>
                <a:lnTo>
                  <a:pt x="115775" y="62340"/>
                </a:lnTo>
                <a:cubicBezTo>
                  <a:pt x="115775" y="67266"/>
                  <a:pt x="111795" y="71246"/>
                  <a:pt x="106869" y="71246"/>
                </a:cubicBezTo>
                <a:cubicBezTo>
                  <a:pt x="101943" y="71246"/>
                  <a:pt x="97963" y="67266"/>
                  <a:pt x="97963" y="62340"/>
                </a:cubicBezTo>
                <a:lnTo>
                  <a:pt x="97963" y="44529"/>
                </a:lnTo>
                <a:cubicBezTo>
                  <a:pt x="97963" y="39603"/>
                  <a:pt x="101943" y="35623"/>
                  <a:pt x="106869" y="35623"/>
                </a:cubicBezTo>
                <a:cubicBezTo>
                  <a:pt x="111795" y="35623"/>
                  <a:pt x="115775" y="39603"/>
                  <a:pt x="115775" y="44529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940449" y="4944486"/>
            <a:ext cx="2885470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Empty Memory Context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40449" y="5158224"/>
            <a:ext cx="2876564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returns empty — no learning from past data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8595" y="5461020"/>
            <a:ext cx="284985" cy="284985"/>
          </a:xfrm>
          <a:prstGeom prst="roundRect">
            <a:avLst>
              <a:gd name="adj" fmla="val 25000"/>
            </a:avLst>
          </a:prstGeom>
          <a:solidFill>
            <a:srgbClr val="64748B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46559" y="5532266"/>
            <a:ext cx="89058" cy="142492"/>
          </a:xfrm>
          <a:custGeom>
            <a:avLst/>
            <a:gdLst/>
            <a:ahLst/>
            <a:cxnLst/>
            <a:rect l="l" t="t" r="r" b="b"/>
            <a:pathLst>
              <a:path w="89058" h="142492">
                <a:moveTo>
                  <a:pt x="37850" y="6679"/>
                </a:moveTo>
                <a:cubicBezTo>
                  <a:pt x="37850" y="2978"/>
                  <a:pt x="40827" y="0"/>
                  <a:pt x="44529" y="0"/>
                </a:cubicBezTo>
                <a:cubicBezTo>
                  <a:pt x="48230" y="0"/>
                  <a:pt x="51208" y="2978"/>
                  <a:pt x="51208" y="6679"/>
                </a:cubicBezTo>
                <a:lnTo>
                  <a:pt x="51208" y="17812"/>
                </a:lnTo>
                <a:lnTo>
                  <a:pt x="66793" y="17812"/>
                </a:lnTo>
                <a:cubicBezTo>
                  <a:pt x="71719" y="17812"/>
                  <a:pt x="75699" y="21791"/>
                  <a:pt x="75699" y="26717"/>
                </a:cubicBezTo>
                <a:cubicBezTo>
                  <a:pt x="75699" y="31643"/>
                  <a:pt x="71719" y="35623"/>
                  <a:pt x="66793" y="35623"/>
                </a:cubicBezTo>
                <a:lnTo>
                  <a:pt x="34816" y="35623"/>
                </a:lnTo>
                <a:cubicBezTo>
                  <a:pt x="27886" y="35623"/>
                  <a:pt x="22264" y="41245"/>
                  <a:pt x="22264" y="48175"/>
                </a:cubicBezTo>
                <a:cubicBezTo>
                  <a:pt x="22264" y="54437"/>
                  <a:pt x="26856" y="59724"/>
                  <a:pt x="33035" y="60615"/>
                </a:cubicBezTo>
                <a:lnTo>
                  <a:pt x="58528" y="64261"/>
                </a:lnTo>
                <a:cubicBezTo>
                  <a:pt x="73500" y="66404"/>
                  <a:pt x="84605" y="79206"/>
                  <a:pt x="84605" y="94318"/>
                </a:cubicBezTo>
                <a:cubicBezTo>
                  <a:pt x="84605" y="111099"/>
                  <a:pt x="70996" y="124681"/>
                  <a:pt x="54242" y="124681"/>
                </a:cubicBezTo>
                <a:lnTo>
                  <a:pt x="51208" y="124681"/>
                </a:lnTo>
                <a:lnTo>
                  <a:pt x="51208" y="135813"/>
                </a:lnTo>
                <a:cubicBezTo>
                  <a:pt x="51208" y="139514"/>
                  <a:pt x="48230" y="142492"/>
                  <a:pt x="44529" y="142492"/>
                </a:cubicBezTo>
                <a:cubicBezTo>
                  <a:pt x="40827" y="142492"/>
                  <a:pt x="37850" y="139514"/>
                  <a:pt x="37850" y="135813"/>
                </a:cubicBezTo>
                <a:lnTo>
                  <a:pt x="37850" y="124681"/>
                </a:lnTo>
                <a:lnTo>
                  <a:pt x="17812" y="124681"/>
                </a:lnTo>
                <a:cubicBezTo>
                  <a:pt x="12886" y="124681"/>
                  <a:pt x="8906" y="120701"/>
                  <a:pt x="8906" y="115775"/>
                </a:cubicBezTo>
                <a:cubicBezTo>
                  <a:pt x="8906" y="110849"/>
                  <a:pt x="12886" y="106869"/>
                  <a:pt x="17812" y="106869"/>
                </a:cubicBezTo>
                <a:lnTo>
                  <a:pt x="54242" y="106869"/>
                </a:lnTo>
                <a:cubicBezTo>
                  <a:pt x="61172" y="106869"/>
                  <a:pt x="66793" y="101247"/>
                  <a:pt x="66793" y="94318"/>
                </a:cubicBezTo>
                <a:cubicBezTo>
                  <a:pt x="66793" y="88056"/>
                  <a:pt x="62201" y="82768"/>
                  <a:pt x="56023" y="81877"/>
                </a:cubicBezTo>
                <a:lnTo>
                  <a:pt x="30530" y="78232"/>
                </a:lnTo>
                <a:cubicBezTo>
                  <a:pt x="15557" y="76117"/>
                  <a:pt x="4453" y="63287"/>
                  <a:pt x="4453" y="48175"/>
                </a:cubicBezTo>
                <a:cubicBezTo>
                  <a:pt x="4453" y="31421"/>
                  <a:pt x="18062" y="17812"/>
                  <a:pt x="34816" y="17812"/>
                </a:cubicBezTo>
                <a:lnTo>
                  <a:pt x="37850" y="17812"/>
                </a:lnTo>
                <a:lnTo>
                  <a:pt x="37850" y="6679"/>
                </a:ln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31" name="Text 29"/>
          <p:cNvSpPr/>
          <p:nvPr/>
        </p:nvSpPr>
        <p:spPr>
          <a:xfrm>
            <a:off x="940449" y="5443209"/>
            <a:ext cx="2529239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API Cost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40449" y="5656947"/>
            <a:ext cx="2520333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external API calls — completely free to run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48595" y="5981117"/>
            <a:ext cx="4372733" cy="7125"/>
          </a:xfrm>
          <a:prstGeom prst="roundRect">
            <a:avLst>
              <a:gd name="adj" fmla="val 0"/>
            </a:avLst>
          </a:prstGeom>
          <a:solidFill>
            <a:srgbClr val="64748B">
              <a:alpha val="3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847836" y="6144982"/>
            <a:ext cx="124681" cy="142492"/>
          </a:xfrm>
          <a:custGeom>
            <a:avLst/>
            <a:gdLst/>
            <a:ahLst/>
            <a:cxnLst/>
            <a:rect l="l" t="t" r="r" b="b"/>
            <a:pathLst>
              <a:path w="124681" h="142492">
                <a:moveTo>
                  <a:pt x="80152" y="0"/>
                </a:moveTo>
                <a:lnTo>
                  <a:pt x="35623" y="0"/>
                </a:lnTo>
                <a:cubicBezTo>
                  <a:pt x="30697" y="0"/>
                  <a:pt x="26717" y="3980"/>
                  <a:pt x="26717" y="8906"/>
                </a:cubicBezTo>
                <a:cubicBezTo>
                  <a:pt x="26717" y="13832"/>
                  <a:pt x="30697" y="17812"/>
                  <a:pt x="35623" y="17812"/>
                </a:cubicBezTo>
                <a:lnTo>
                  <a:pt x="35623" y="59975"/>
                </a:lnTo>
                <a:lnTo>
                  <a:pt x="2087" y="118642"/>
                </a:lnTo>
                <a:cubicBezTo>
                  <a:pt x="724" y="121063"/>
                  <a:pt x="0" y="123762"/>
                  <a:pt x="0" y="126545"/>
                </a:cubicBezTo>
                <a:cubicBezTo>
                  <a:pt x="0" y="135368"/>
                  <a:pt x="7125" y="142492"/>
                  <a:pt x="15947" y="142492"/>
                </a:cubicBezTo>
                <a:lnTo>
                  <a:pt x="108734" y="142492"/>
                </a:lnTo>
                <a:cubicBezTo>
                  <a:pt x="117528" y="142492"/>
                  <a:pt x="124681" y="135368"/>
                  <a:pt x="124681" y="126545"/>
                </a:cubicBezTo>
                <a:cubicBezTo>
                  <a:pt x="124681" y="123762"/>
                  <a:pt x="123957" y="121035"/>
                  <a:pt x="122593" y="118642"/>
                </a:cubicBezTo>
                <a:lnTo>
                  <a:pt x="89058" y="59975"/>
                </a:lnTo>
                <a:lnTo>
                  <a:pt x="89058" y="17812"/>
                </a:lnTo>
                <a:cubicBezTo>
                  <a:pt x="93984" y="17812"/>
                  <a:pt x="97963" y="13832"/>
                  <a:pt x="97963" y="8906"/>
                </a:cubicBezTo>
                <a:cubicBezTo>
                  <a:pt x="97963" y="3980"/>
                  <a:pt x="93984" y="0"/>
                  <a:pt x="89058" y="0"/>
                </a:cubicBezTo>
                <a:lnTo>
                  <a:pt x="80152" y="0"/>
                </a:lnTo>
                <a:close/>
                <a:moveTo>
                  <a:pt x="53435" y="59975"/>
                </a:moveTo>
                <a:lnTo>
                  <a:pt x="53435" y="17812"/>
                </a:lnTo>
                <a:lnTo>
                  <a:pt x="71246" y="17812"/>
                </a:lnTo>
                <a:lnTo>
                  <a:pt x="71246" y="59975"/>
                </a:lnTo>
                <a:cubicBezTo>
                  <a:pt x="71246" y="63064"/>
                  <a:pt x="72053" y="66125"/>
                  <a:pt x="73584" y="68825"/>
                </a:cubicBezTo>
                <a:lnTo>
                  <a:pt x="85161" y="89058"/>
                </a:lnTo>
                <a:lnTo>
                  <a:pt x="39519" y="89058"/>
                </a:lnTo>
                <a:lnTo>
                  <a:pt x="51097" y="68825"/>
                </a:lnTo>
                <a:cubicBezTo>
                  <a:pt x="52628" y="66125"/>
                  <a:pt x="53435" y="63092"/>
                  <a:pt x="53435" y="59975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35" name="Text 33"/>
          <p:cNvSpPr/>
          <p:nvPr/>
        </p:nvSpPr>
        <p:spPr>
          <a:xfrm>
            <a:off x="2070480" y="6127170"/>
            <a:ext cx="1638662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Perfect for testing and demos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739213" y="3514218"/>
            <a:ext cx="712462" cy="3562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64748B"/>
              </a:gs>
              <a:gs pos="100000">
                <a:srgbClr val="10B981"/>
              </a:gs>
            </a:gsLst>
            <a:lin ang="0" scaled="1"/>
          </a:gradFill>
          <a:ln/>
        </p:spPr>
      </p:sp>
      <p:sp>
        <p:nvSpPr>
          <p:cNvPr id="37" name="Shape 35"/>
          <p:cNvSpPr/>
          <p:nvPr/>
        </p:nvSpPr>
        <p:spPr>
          <a:xfrm>
            <a:off x="6131066" y="3549841"/>
            <a:ext cx="284985" cy="28498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blurRad="133587" dist="8905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296596" y="3977318"/>
            <a:ext cx="1594133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2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Auto-detection at startup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301049" y="4155433"/>
            <a:ext cx="1585227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1" dirty="0">
                <a:solidFill>
                  <a:srgbClr val="F8FAFC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Switches based on available keys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964083" y="4404682"/>
            <a:ext cx="267173" cy="267173"/>
          </a:xfrm>
          <a:custGeom>
            <a:avLst/>
            <a:gdLst/>
            <a:ahLst/>
            <a:cxnLst/>
            <a:rect l="l" t="t" r="r" b="b"/>
            <a:pathLst>
              <a:path w="267173" h="267173">
                <a:moveTo>
                  <a:pt x="262268" y="78586"/>
                </a:moveTo>
                <a:lnTo>
                  <a:pt x="212173" y="128681"/>
                </a:lnTo>
                <a:cubicBezTo>
                  <a:pt x="207372" y="133482"/>
                  <a:pt x="200223" y="134891"/>
                  <a:pt x="193961" y="132282"/>
                </a:cubicBezTo>
                <a:cubicBezTo>
                  <a:pt x="187700" y="129673"/>
                  <a:pt x="183682" y="123620"/>
                  <a:pt x="183682" y="116888"/>
                </a:cubicBezTo>
                <a:lnTo>
                  <a:pt x="183682" y="83492"/>
                </a:lnTo>
                <a:lnTo>
                  <a:pt x="16698" y="83492"/>
                </a:lnTo>
                <a:cubicBezTo>
                  <a:pt x="7462" y="83492"/>
                  <a:pt x="0" y="76030"/>
                  <a:pt x="0" y="66793"/>
                </a:cubicBezTo>
                <a:cubicBezTo>
                  <a:pt x="0" y="57557"/>
                  <a:pt x="7462" y="50095"/>
                  <a:pt x="16698" y="50095"/>
                </a:cubicBezTo>
                <a:lnTo>
                  <a:pt x="183682" y="50095"/>
                </a:lnTo>
                <a:lnTo>
                  <a:pt x="183682" y="16698"/>
                </a:lnTo>
                <a:cubicBezTo>
                  <a:pt x="183682" y="9967"/>
                  <a:pt x="187752" y="3861"/>
                  <a:pt x="194014" y="1252"/>
                </a:cubicBezTo>
                <a:cubicBezTo>
                  <a:pt x="200275" y="-1357"/>
                  <a:pt x="207424" y="104"/>
                  <a:pt x="212225" y="4853"/>
                </a:cubicBezTo>
                <a:lnTo>
                  <a:pt x="262320" y="54948"/>
                </a:lnTo>
                <a:cubicBezTo>
                  <a:pt x="268843" y="61471"/>
                  <a:pt x="268843" y="72064"/>
                  <a:pt x="262320" y="78586"/>
                </a:cubicBezTo>
                <a:close/>
                <a:moveTo>
                  <a:pt x="54948" y="262268"/>
                </a:moveTo>
                <a:lnTo>
                  <a:pt x="4853" y="212173"/>
                </a:lnTo>
                <a:cubicBezTo>
                  <a:pt x="-1670" y="205650"/>
                  <a:pt x="-1670" y="195057"/>
                  <a:pt x="4853" y="188534"/>
                </a:cubicBezTo>
                <a:lnTo>
                  <a:pt x="54948" y="138440"/>
                </a:lnTo>
                <a:cubicBezTo>
                  <a:pt x="59749" y="133639"/>
                  <a:pt x="66898" y="132230"/>
                  <a:pt x="73160" y="134839"/>
                </a:cubicBezTo>
                <a:cubicBezTo>
                  <a:pt x="79421" y="137448"/>
                  <a:pt x="83492" y="143553"/>
                  <a:pt x="83492" y="150285"/>
                </a:cubicBezTo>
                <a:lnTo>
                  <a:pt x="83492" y="183682"/>
                </a:lnTo>
                <a:lnTo>
                  <a:pt x="250475" y="183682"/>
                </a:lnTo>
                <a:cubicBezTo>
                  <a:pt x="259711" y="183682"/>
                  <a:pt x="267173" y="191144"/>
                  <a:pt x="267173" y="200380"/>
                </a:cubicBezTo>
                <a:cubicBezTo>
                  <a:pt x="267173" y="209616"/>
                  <a:pt x="259711" y="217078"/>
                  <a:pt x="250475" y="217078"/>
                </a:cubicBezTo>
                <a:lnTo>
                  <a:pt x="83492" y="217078"/>
                </a:lnTo>
                <a:lnTo>
                  <a:pt x="83492" y="250475"/>
                </a:lnTo>
                <a:cubicBezTo>
                  <a:pt x="83492" y="257206"/>
                  <a:pt x="79421" y="263312"/>
                  <a:pt x="73160" y="265921"/>
                </a:cubicBezTo>
                <a:cubicBezTo>
                  <a:pt x="66898" y="268530"/>
                  <a:pt x="59749" y="267069"/>
                  <a:pt x="54948" y="262320"/>
                </a:cubicBezTo>
                <a:close/>
              </a:path>
            </a:pathLst>
          </a:custGeom>
          <a:solidFill>
            <a:srgbClr val="6366F1">
              <a:alpha val="6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084095" y="1695660"/>
            <a:ext cx="4743213" cy="4796648"/>
          </a:xfrm>
          <a:prstGeom prst="roundRect">
            <a:avLst>
              <a:gd name="adj" fmla="val 3004"/>
            </a:avLst>
          </a:prstGeom>
          <a:gradFill flip="none" rotWithShape="1">
            <a:gsLst>
              <a:gs pos="0">
                <a:srgbClr val="10B981">
                  <a:alpha val="20000"/>
                </a:srgbClr>
              </a:gs>
              <a:gs pos="100000">
                <a:srgbClr val="10B981">
                  <a:alpha val="5000"/>
                </a:srgbClr>
              </a:gs>
            </a:gsLst>
            <a:lin ang="5400000" scaled="1"/>
          </a:gradFill>
          <a:ln w="20320">
            <a:solidFill>
              <a:srgbClr val="10B981">
                <a:alpha val="5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170829" y="1880900"/>
            <a:ext cx="569969" cy="569969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10B981"/>
              </a:gs>
              <a:gs pos="100000">
                <a:srgbClr val="059669"/>
              </a:gs>
            </a:gsLst>
            <a:lin ang="2700000" scaled="1"/>
          </a:gra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9324454" y="2032299"/>
            <a:ext cx="267173" cy="267173"/>
          </a:xfrm>
          <a:custGeom>
            <a:avLst/>
            <a:gdLst/>
            <a:ahLst/>
            <a:cxnLst/>
            <a:rect l="l" t="t" r="r" b="b"/>
            <a:pathLst>
              <a:path w="267173" h="267173">
                <a:moveTo>
                  <a:pt x="66793" y="166983"/>
                </a:moveTo>
                <a:lnTo>
                  <a:pt x="12785" y="166983"/>
                </a:lnTo>
                <a:cubicBezTo>
                  <a:pt x="-209" y="166983"/>
                  <a:pt x="-8193" y="152842"/>
                  <a:pt x="-1513" y="141675"/>
                </a:cubicBezTo>
                <a:lnTo>
                  <a:pt x="26091" y="95650"/>
                </a:lnTo>
                <a:cubicBezTo>
                  <a:pt x="30631" y="88084"/>
                  <a:pt x="38771" y="83492"/>
                  <a:pt x="47590" y="83492"/>
                </a:cubicBezTo>
                <a:lnTo>
                  <a:pt x="97163" y="83492"/>
                </a:lnTo>
                <a:cubicBezTo>
                  <a:pt x="136874" y="16229"/>
                  <a:pt x="196101" y="12837"/>
                  <a:pt x="235707" y="18629"/>
                </a:cubicBezTo>
                <a:cubicBezTo>
                  <a:pt x="242387" y="19621"/>
                  <a:pt x="247605" y="24839"/>
                  <a:pt x="248544" y="31466"/>
                </a:cubicBezTo>
                <a:cubicBezTo>
                  <a:pt x="254336" y="71072"/>
                  <a:pt x="250944" y="130299"/>
                  <a:pt x="183682" y="170010"/>
                </a:cubicBezTo>
                <a:lnTo>
                  <a:pt x="183682" y="219583"/>
                </a:lnTo>
                <a:cubicBezTo>
                  <a:pt x="183682" y="228402"/>
                  <a:pt x="179089" y="236542"/>
                  <a:pt x="171523" y="241082"/>
                </a:cubicBezTo>
                <a:lnTo>
                  <a:pt x="125498" y="268686"/>
                </a:lnTo>
                <a:cubicBezTo>
                  <a:pt x="114383" y="275366"/>
                  <a:pt x="100190" y="267330"/>
                  <a:pt x="100190" y="254388"/>
                </a:cubicBezTo>
                <a:lnTo>
                  <a:pt x="100190" y="200380"/>
                </a:lnTo>
                <a:cubicBezTo>
                  <a:pt x="100190" y="181960"/>
                  <a:pt x="85214" y="166983"/>
                  <a:pt x="66793" y="166983"/>
                </a:cubicBezTo>
                <a:lnTo>
                  <a:pt x="66741" y="166983"/>
                </a:lnTo>
                <a:close/>
                <a:moveTo>
                  <a:pt x="208729" y="83492"/>
                </a:moveTo>
                <a:cubicBezTo>
                  <a:pt x="208729" y="69668"/>
                  <a:pt x="197506" y="58444"/>
                  <a:pt x="183682" y="58444"/>
                </a:cubicBezTo>
                <a:cubicBezTo>
                  <a:pt x="169857" y="58444"/>
                  <a:pt x="158634" y="69668"/>
                  <a:pt x="158634" y="83492"/>
                </a:cubicBezTo>
                <a:cubicBezTo>
                  <a:pt x="158634" y="97316"/>
                  <a:pt x="169857" y="108539"/>
                  <a:pt x="183682" y="108539"/>
                </a:cubicBezTo>
                <a:cubicBezTo>
                  <a:pt x="197506" y="108539"/>
                  <a:pt x="208729" y="97316"/>
                  <a:pt x="208729" y="8349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7202542" y="2557739"/>
            <a:ext cx="4506320" cy="320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0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Mode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099583" y="2949593"/>
            <a:ext cx="712462" cy="3562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0B981"/>
              </a:gs>
              <a:gs pos="100000">
                <a:srgbClr val="059669"/>
              </a:gs>
            </a:gsLst>
            <a:lin ang="0" scaled="1"/>
          </a:gradFill>
          <a:ln/>
        </p:spPr>
      </p:sp>
      <p:sp>
        <p:nvSpPr>
          <p:cNvPr id="46" name="Text 44"/>
          <p:cNvSpPr/>
          <p:nvPr/>
        </p:nvSpPr>
        <p:spPr>
          <a:xfrm>
            <a:off x="7233712" y="3092085"/>
            <a:ext cx="4443980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2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power. Production-ready.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269335" y="3466128"/>
            <a:ext cx="284985" cy="284985"/>
          </a:xfrm>
          <a:prstGeom prst="roundRect">
            <a:avLst>
              <a:gd name="adj" fmla="val 25000"/>
            </a:avLst>
          </a:prstGeom>
          <a:solidFill>
            <a:srgbClr val="10B981">
              <a:alpha val="2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340581" y="3537374"/>
            <a:ext cx="142492" cy="142492"/>
          </a:xfrm>
          <a:custGeom>
            <a:avLst/>
            <a:gdLst/>
            <a:ahLst/>
            <a:cxnLst/>
            <a:rect l="l" t="t" r="r" b="b"/>
            <a:pathLst>
              <a:path w="142492" h="142492">
                <a:moveTo>
                  <a:pt x="102778" y="-8627"/>
                </a:moveTo>
                <a:cubicBezTo>
                  <a:pt x="106090" y="-9602"/>
                  <a:pt x="109569" y="-7876"/>
                  <a:pt x="110849" y="-4759"/>
                </a:cubicBezTo>
                <a:lnTo>
                  <a:pt x="111072" y="-4119"/>
                </a:lnTo>
                <a:lnTo>
                  <a:pt x="122204" y="33731"/>
                </a:lnTo>
                <a:cubicBezTo>
                  <a:pt x="122900" y="36068"/>
                  <a:pt x="122232" y="38601"/>
                  <a:pt x="120506" y="40326"/>
                </a:cubicBezTo>
                <a:lnTo>
                  <a:pt x="102667" y="58166"/>
                </a:lnTo>
                <a:lnTo>
                  <a:pt x="123929" y="52377"/>
                </a:lnTo>
                <a:lnTo>
                  <a:pt x="129468" y="35734"/>
                </a:lnTo>
                <a:lnTo>
                  <a:pt x="129718" y="35094"/>
                </a:lnTo>
                <a:cubicBezTo>
                  <a:pt x="131110" y="32005"/>
                  <a:pt x="134644" y="30419"/>
                  <a:pt x="137928" y="31504"/>
                </a:cubicBezTo>
                <a:cubicBezTo>
                  <a:pt x="141212" y="32590"/>
                  <a:pt x="143077" y="35985"/>
                  <a:pt x="142325" y="39297"/>
                </a:cubicBezTo>
                <a:lnTo>
                  <a:pt x="142131" y="39965"/>
                </a:lnTo>
                <a:lnTo>
                  <a:pt x="135451" y="60003"/>
                </a:lnTo>
                <a:cubicBezTo>
                  <a:pt x="134755" y="62118"/>
                  <a:pt x="133030" y="63732"/>
                  <a:pt x="130859" y="64344"/>
                </a:cubicBezTo>
                <a:lnTo>
                  <a:pt x="105506" y="71246"/>
                </a:lnTo>
                <a:lnTo>
                  <a:pt x="130859" y="78148"/>
                </a:lnTo>
                <a:cubicBezTo>
                  <a:pt x="133002" y="78733"/>
                  <a:pt x="134728" y="80375"/>
                  <a:pt x="135451" y="82490"/>
                </a:cubicBezTo>
                <a:lnTo>
                  <a:pt x="142131" y="102528"/>
                </a:lnTo>
                <a:lnTo>
                  <a:pt x="142325" y="103196"/>
                </a:lnTo>
                <a:cubicBezTo>
                  <a:pt x="143077" y="106507"/>
                  <a:pt x="141184" y="109903"/>
                  <a:pt x="137928" y="110988"/>
                </a:cubicBezTo>
                <a:cubicBezTo>
                  <a:pt x="134644" y="112074"/>
                  <a:pt x="131110" y="110487"/>
                  <a:pt x="129718" y="107398"/>
                </a:cubicBezTo>
                <a:lnTo>
                  <a:pt x="129468" y="106758"/>
                </a:lnTo>
                <a:lnTo>
                  <a:pt x="123929" y="90115"/>
                </a:lnTo>
                <a:lnTo>
                  <a:pt x="102667" y="84327"/>
                </a:lnTo>
                <a:lnTo>
                  <a:pt x="120506" y="102166"/>
                </a:lnTo>
                <a:cubicBezTo>
                  <a:pt x="122204" y="103864"/>
                  <a:pt x="122872" y="106368"/>
                  <a:pt x="122232" y="108678"/>
                </a:cubicBezTo>
                <a:lnTo>
                  <a:pt x="111099" y="148754"/>
                </a:lnTo>
                <a:lnTo>
                  <a:pt x="110877" y="149394"/>
                </a:lnTo>
                <a:cubicBezTo>
                  <a:pt x="109652" y="152539"/>
                  <a:pt x="106201" y="154320"/>
                  <a:pt x="102862" y="153402"/>
                </a:cubicBezTo>
                <a:cubicBezTo>
                  <a:pt x="99522" y="152483"/>
                  <a:pt x="97490" y="149172"/>
                  <a:pt x="98075" y="145832"/>
                </a:cubicBezTo>
                <a:lnTo>
                  <a:pt x="98214" y="145164"/>
                </a:lnTo>
                <a:lnTo>
                  <a:pt x="108289" y="108845"/>
                </a:lnTo>
                <a:lnTo>
                  <a:pt x="97936" y="98492"/>
                </a:lnTo>
                <a:cubicBezTo>
                  <a:pt x="97685" y="112992"/>
                  <a:pt x="85829" y="124681"/>
                  <a:pt x="71246" y="124681"/>
                </a:cubicBezTo>
                <a:cubicBezTo>
                  <a:pt x="56663" y="124681"/>
                  <a:pt x="44807" y="112992"/>
                  <a:pt x="44529" y="98492"/>
                </a:cubicBezTo>
                <a:lnTo>
                  <a:pt x="34232" y="108790"/>
                </a:lnTo>
                <a:lnTo>
                  <a:pt x="44251" y="142826"/>
                </a:lnTo>
                <a:lnTo>
                  <a:pt x="44418" y="143494"/>
                </a:lnTo>
                <a:cubicBezTo>
                  <a:pt x="45030" y="146806"/>
                  <a:pt x="43054" y="150146"/>
                  <a:pt x="39742" y="151120"/>
                </a:cubicBezTo>
                <a:cubicBezTo>
                  <a:pt x="36430" y="152094"/>
                  <a:pt x="32951" y="150368"/>
                  <a:pt x="31671" y="147251"/>
                </a:cubicBezTo>
                <a:lnTo>
                  <a:pt x="31449" y="146611"/>
                </a:lnTo>
                <a:lnTo>
                  <a:pt x="20316" y="108762"/>
                </a:lnTo>
                <a:cubicBezTo>
                  <a:pt x="19621" y="106424"/>
                  <a:pt x="20288" y="103891"/>
                  <a:pt x="22014" y="102138"/>
                </a:cubicBezTo>
                <a:lnTo>
                  <a:pt x="39853" y="84299"/>
                </a:lnTo>
                <a:lnTo>
                  <a:pt x="18591" y="90087"/>
                </a:lnTo>
                <a:lnTo>
                  <a:pt x="13053" y="106730"/>
                </a:lnTo>
                <a:lnTo>
                  <a:pt x="12802" y="107370"/>
                </a:lnTo>
                <a:cubicBezTo>
                  <a:pt x="11411" y="110459"/>
                  <a:pt x="7876" y="112046"/>
                  <a:pt x="4592" y="110960"/>
                </a:cubicBezTo>
                <a:cubicBezTo>
                  <a:pt x="1308" y="109875"/>
                  <a:pt x="-557" y="106480"/>
                  <a:pt x="195" y="103168"/>
                </a:cubicBezTo>
                <a:lnTo>
                  <a:pt x="390" y="102500"/>
                </a:lnTo>
                <a:lnTo>
                  <a:pt x="7069" y="82462"/>
                </a:lnTo>
                <a:cubicBezTo>
                  <a:pt x="7765" y="80347"/>
                  <a:pt x="9490" y="78733"/>
                  <a:pt x="11661" y="78120"/>
                </a:cubicBezTo>
                <a:lnTo>
                  <a:pt x="37015" y="71218"/>
                </a:lnTo>
                <a:lnTo>
                  <a:pt x="11661" y="64316"/>
                </a:lnTo>
                <a:cubicBezTo>
                  <a:pt x="9518" y="63732"/>
                  <a:pt x="7793" y="62090"/>
                  <a:pt x="7069" y="59975"/>
                </a:cubicBezTo>
                <a:lnTo>
                  <a:pt x="390" y="39937"/>
                </a:lnTo>
                <a:lnTo>
                  <a:pt x="195" y="39269"/>
                </a:lnTo>
                <a:cubicBezTo>
                  <a:pt x="-557" y="35957"/>
                  <a:pt x="1336" y="32562"/>
                  <a:pt x="4592" y="31476"/>
                </a:cubicBezTo>
                <a:cubicBezTo>
                  <a:pt x="7848" y="30391"/>
                  <a:pt x="11411" y="31977"/>
                  <a:pt x="12802" y="35066"/>
                </a:cubicBezTo>
                <a:lnTo>
                  <a:pt x="13053" y="35707"/>
                </a:lnTo>
                <a:lnTo>
                  <a:pt x="18591" y="52349"/>
                </a:lnTo>
                <a:lnTo>
                  <a:pt x="39853" y="58138"/>
                </a:lnTo>
                <a:lnTo>
                  <a:pt x="22014" y="40299"/>
                </a:lnTo>
                <a:cubicBezTo>
                  <a:pt x="20288" y="38573"/>
                  <a:pt x="19648" y="36041"/>
                  <a:pt x="20316" y="33703"/>
                </a:cubicBezTo>
                <a:lnTo>
                  <a:pt x="31449" y="-4147"/>
                </a:lnTo>
                <a:lnTo>
                  <a:pt x="31671" y="-4787"/>
                </a:lnTo>
                <a:cubicBezTo>
                  <a:pt x="32951" y="-7932"/>
                  <a:pt x="36430" y="-9629"/>
                  <a:pt x="39742" y="-8655"/>
                </a:cubicBezTo>
                <a:cubicBezTo>
                  <a:pt x="43054" y="-7681"/>
                  <a:pt x="45030" y="-4342"/>
                  <a:pt x="44418" y="-1030"/>
                </a:cubicBezTo>
                <a:lnTo>
                  <a:pt x="44251" y="-362"/>
                </a:lnTo>
                <a:lnTo>
                  <a:pt x="34232" y="33675"/>
                </a:lnTo>
                <a:lnTo>
                  <a:pt x="48982" y="48425"/>
                </a:lnTo>
                <a:cubicBezTo>
                  <a:pt x="49260" y="36375"/>
                  <a:pt x="59112" y="26689"/>
                  <a:pt x="71218" y="26689"/>
                </a:cubicBezTo>
                <a:cubicBezTo>
                  <a:pt x="83325" y="26689"/>
                  <a:pt x="93177" y="36375"/>
                  <a:pt x="93455" y="48453"/>
                </a:cubicBezTo>
                <a:lnTo>
                  <a:pt x="108233" y="33675"/>
                </a:lnTo>
                <a:lnTo>
                  <a:pt x="98214" y="-362"/>
                </a:lnTo>
                <a:lnTo>
                  <a:pt x="98047" y="-1030"/>
                </a:lnTo>
                <a:cubicBezTo>
                  <a:pt x="97435" y="-4369"/>
                  <a:pt x="99411" y="-7681"/>
                  <a:pt x="102722" y="-8655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9" name="Text 47"/>
          <p:cNvSpPr/>
          <p:nvPr/>
        </p:nvSpPr>
        <p:spPr>
          <a:xfrm>
            <a:off x="7661189" y="3448316"/>
            <a:ext cx="2965622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 Competitor Scraping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661189" y="3662055"/>
            <a:ext cx="2956716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Firecrawl extraction from actual competitor URLs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269335" y="3964851"/>
            <a:ext cx="284985" cy="284985"/>
          </a:xfrm>
          <a:prstGeom prst="roundRect">
            <a:avLst>
              <a:gd name="adj" fmla="val 25000"/>
            </a:avLst>
          </a:prstGeom>
          <a:solidFill>
            <a:srgbClr val="10B981">
              <a:alpha val="2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340581" y="4036097"/>
            <a:ext cx="142492" cy="142492"/>
          </a:xfrm>
          <a:custGeom>
            <a:avLst/>
            <a:gdLst/>
            <a:ahLst/>
            <a:cxnLst/>
            <a:rect l="l" t="t" r="r" b="b"/>
            <a:pathLst>
              <a:path w="142492" h="142492">
                <a:moveTo>
                  <a:pt x="33397" y="15585"/>
                </a:moveTo>
                <a:cubicBezTo>
                  <a:pt x="33397" y="6985"/>
                  <a:pt x="40382" y="0"/>
                  <a:pt x="48982" y="0"/>
                </a:cubicBezTo>
                <a:lnTo>
                  <a:pt x="55661" y="0"/>
                </a:lnTo>
                <a:cubicBezTo>
                  <a:pt x="60587" y="0"/>
                  <a:pt x="64567" y="3980"/>
                  <a:pt x="64567" y="8906"/>
                </a:cubicBezTo>
                <a:lnTo>
                  <a:pt x="64567" y="133587"/>
                </a:lnTo>
                <a:cubicBezTo>
                  <a:pt x="64567" y="138513"/>
                  <a:pt x="60587" y="142492"/>
                  <a:pt x="55661" y="142492"/>
                </a:cubicBezTo>
                <a:lnTo>
                  <a:pt x="46755" y="142492"/>
                </a:lnTo>
                <a:cubicBezTo>
                  <a:pt x="38462" y="142492"/>
                  <a:pt x="31476" y="136815"/>
                  <a:pt x="29500" y="129134"/>
                </a:cubicBezTo>
                <a:cubicBezTo>
                  <a:pt x="29306" y="129134"/>
                  <a:pt x="29139" y="129134"/>
                  <a:pt x="28944" y="129134"/>
                </a:cubicBezTo>
                <a:cubicBezTo>
                  <a:pt x="16643" y="129134"/>
                  <a:pt x="6679" y="119170"/>
                  <a:pt x="6679" y="106869"/>
                </a:cubicBezTo>
                <a:cubicBezTo>
                  <a:pt x="6679" y="101860"/>
                  <a:pt x="8349" y="97240"/>
                  <a:pt x="11132" y="93511"/>
                </a:cubicBezTo>
                <a:cubicBezTo>
                  <a:pt x="5733" y="89447"/>
                  <a:pt x="2226" y="82991"/>
                  <a:pt x="2226" y="75699"/>
                </a:cubicBezTo>
                <a:cubicBezTo>
                  <a:pt x="2226" y="67099"/>
                  <a:pt x="7125" y="59613"/>
                  <a:pt x="14249" y="55912"/>
                </a:cubicBezTo>
                <a:cubicBezTo>
                  <a:pt x="12273" y="52572"/>
                  <a:pt x="11132" y="48676"/>
                  <a:pt x="11132" y="44529"/>
                </a:cubicBezTo>
                <a:cubicBezTo>
                  <a:pt x="11132" y="32228"/>
                  <a:pt x="21096" y="22264"/>
                  <a:pt x="33397" y="22264"/>
                </a:cubicBezTo>
                <a:lnTo>
                  <a:pt x="33397" y="15585"/>
                </a:lnTo>
                <a:close/>
                <a:moveTo>
                  <a:pt x="109096" y="15585"/>
                </a:moveTo>
                <a:lnTo>
                  <a:pt x="109096" y="22264"/>
                </a:lnTo>
                <a:cubicBezTo>
                  <a:pt x="121397" y="22264"/>
                  <a:pt x="131360" y="32228"/>
                  <a:pt x="131360" y="44529"/>
                </a:cubicBezTo>
                <a:cubicBezTo>
                  <a:pt x="131360" y="48703"/>
                  <a:pt x="130219" y="52600"/>
                  <a:pt x="128243" y="55912"/>
                </a:cubicBezTo>
                <a:cubicBezTo>
                  <a:pt x="135396" y="59613"/>
                  <a:pt x="140266" y="67072"/>
                  <a:pt x="140266" y="75699"/>
                </a:cubicBezTo>
                <a:cubicBezTo>
                  <a:pt x="140266" y="82991"/>
                  <a:pt x="136759" y="89447"/>
                  <a:pt x="131360" y="93511"/>
                </a:cubicBezTo>
                <a:cubicBezTo>
                  <a:pt x="134143" y="97240"/>
                  <a:pt x="135813" y="101860"/>
                  <a:pt x="135813" y="106869"/>
                </a:cubicBezTo>
                <a:cubicBezTo>
                  <a:pt x="135813" y="119170"/>
                  <a:pt x="125850" y="129134"/>
                  <a:pt x="113549" y="129134"/>
                </a:cubicBezTo>
                <a:cubicBezTo>
                  <a:pt x="113354" y="129134"/>
                  <a:pt x="113187" y="129134"/>
                  <a:pt x="112992" y="129134"/>
                </a:cubicBezTo>
                <a:cubicBezTo>
                  <a:pt x="111016" y="136815"/>
                  <a:pt x="104031" y="142492"/>
                  <a:pt x="95737" y="142492"/>
                </a:cubicBezTo>
                <a:lnTo>
                  <a:pt x="86831" y="142492"/>
                </a:lnTo>
                <a:cubicBezTo>
                  <a:pt x="81905" y="142492"/>
                  <a:pt x="77925" y="138513"/>
                  <a:pt x="77925" y="133587"/>
                </a:cubicBezTo>
                <a:lnTo>
                  <a:pt x="77925" y="8906"/>
                </a:lnTo>
                <a:cubicBezTo>
                  <a:pt x="77925" y="3980"/>
                  <a:pt x="81905" y="0"/>
                  <a:pt x="86831" y="0"/>
                </a:cubicBezTo>
                <a:lnTo>
                  <a:pt x="93511" y="0"/>
                </a:lnTo>
                <a:cubicBezTo>
                  <a:pt x="102110" y="0"/>
                  <a:pt x="109096" y="6985"/>
                  <a:pt x="109096" y="15585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3" name="Text 51"/>
          <p:cNvSpPr/>
          <p:nvPr/>
        </p:nvSpPr>
        <p:spPr>
          <a:xfrm>
            <a:off x="7661189" y="3947039"/>
            <a:ext cx="2618297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Claude-Generated Copy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661189" y="4160778"/>
            <a:ext cx="2609391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Unique AI-generated content for every product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269335" y="4463574"/>
            <a:ext cx="284985" cy="284985"/>
          </a:xfrm>
          <a:prstGeom prst="roundRect">
            <a:avLst>
              <a:gd name="adj" fmla="val 25000"/>
            </a:avLst>
          </a:prstGeom>
          <a:solidFill>
            <a:srgbClr val="10B981">
              <a:alpha val="2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340581" y="4534820"/>
            <a:ext cx="142492" cy="142492"/>
          </a:xfrm>
          <a:custGeom>
            <a:avLst/>
            <a:gdLst/>
            <a:ahLst/>
            <a:cxnLst/>
            <a:rect l="l" t="t" r="r" b="b"/>
            <a:pathLst>
              <a:path w="142492" h="142492">
                <a:moveTo>
                  <a:pt x="17812" y="17812"/>
                </a:moveTo>
                <a:cubicBezTo>
                  <a:pt x="7987" y="17812"/>
                  <a:pt x="0" y="25799"/>
                  <a:pt x="0" y="35623"/>
                </a:cubicBezTo>
                <a:lnTo>
                  <a:pt x="0" y="37683"/>
                </a:lnTo>
                <a:cubicBezTo>
                  <a:pt x="0" y="39575"/>
                  <a:pt x="1225" y="41189"/>
                  <a:pt x="2811" y="42219"/>
                </a:cubicBezTo>
                <a:cubicBezTo>
                  <a:pt x="6485" y="44612"/>
                  <a:pt x="8906" y="48731"/>
                  <a:pt x="8906" y="53435"/>
                </a:cubicBezTo>
                <a:cubicBezTo>
                  <a:pt x="8906" y="58138"/>
                  <a:pt x="6485" y="62257"/>
                  <a:pt x="2811" y="64650"/>
                </a:cubicBezTo>
                <a:cubicBezTo>
                  <a:pt x="1225" y="65680"/>
                  <a:pt x="0" y="67294"/>
                  <a:pt x="0" y="69187"/>
                </a:cubicBezTo>
                <a:lnTo>
                  <a:pt x="0" y="84605"/>
                </a:lnTo>
                <a:lnTo>
                  <a:pt x="142492" y="84605"/>
                </a:lnTo>
                <a:lnTo>
                  <a:pt x="142492" y="69187"/>
                </a:lnTo>
                <a:cubicBezTo>
                  <a:pt x="142492" y="67294"/>
                  <a:pt x="141268" y="65680"/>
                  <a:pt x="139681" y="64650"/>
                </a:cubicBezTo>
                <a:cubicBezTo>
                  <a:pt x="136008" y="62257"/>
                  <a:pt x="133587" y="58138"/>
                  <a:pt x="133587" y="53435"/>
                </a:cubicBezTo>
                <a:cubicBezTo>
                  <a:pt x="133587" y="48731"/>
                  <a:pt x="136008" y="44612"/>
                  <a:pt x="139681" y="42219"/>
                </a:cubicBezTo>
                <a:cubicBezTo>
                  <a:pt x="141268" y="41189"/>
                  <a:pt x="142492" y="39575"/>
                  <a:pt x="142492" y="37683"/>
                </a:cubicBezTo>
                <a:lnTo>
                  <a:pt x="142492" y="35623"/>
                </a:lnTo>
                <a:cubicBezTo>
                  <a:pt x="142492" y="25799"/>
                  <a:pt x="134505" y="17812"/>
                  <a:pt x="124681" y="17812"/>
                </a:cubicBezTo>
                <a:lnTo>
                  <a:pt x="17812" y="17812"/>
                </a:lnTo>
                <a:close/>
                <a:moveTo>
                  <a:pt x="142492" y="115775"/>
                </a:moveTo>
                <a:lnTo>
                  <a:pt x="142492" y="97963"/>
                </a:lnTo>
                <a:lnTo>
                  <a:pt x="0" y="97963"/>
                </a:lnTo>
                <a:lnTo>
                  <a:pt x="0" y="115775"/>
                </a:lnTo>
                <a:cubicBezTo>
                  <a:pt x="0" y="120701"/>
                  <a:pt x="3980" y="124681"/>
                  <a:pt x="8906" y="124681"/>
                </a:cubicBezTo>
                <a:lnTo>
                  <a:pt x="26717" y="124681"/>
                </a:lnTo>
                <a:lnTo>
                  <a:pt x="26717" y="118001"/>
                </a:lnTo>
                <a:cubicBezTo>
                  <a:pt x="26717" y="114300"/>
                  <a:pt x="29695" y="111322"/>
                  <a:pt x="33397" y="111322"/>
                </a:cubicBezTo>
                <a:cubicBezTo>
                  <a:pt x="37098" y="111322"/>
                  <a:pt x="40076" y="114300"/>
                  <a:pt x="40076" y="118001"/>
                </a:cubicBezTo>
                <a:lnTo>
                  <a:pt x="40076" y="124681"/>
                </a:lnTo>
                <a:lnTo>
                  <a:pt x="64567" y="124681"/>
                </a:lnTo>
                <a:lnTo>
                  <a:pt x="64567" y="118001"/>
                </a:lnTo>
                <a:cubicBezTo>
                  <a:pt x="64567" y="114300"/>
                  <a:pt x="67545" y="111322"/>
                  <a:pt x="71246" y="111322"/>
                </a:cubicBezTo>
                <a:cubicBezTo>
                  <a:pt x="74948" y="111322"/>
                  <a:pt x="77925" y="114300"/>
                  <a:pt x="77925" y="118001"/>
                </a:cubicBezTo>
                <a:lnTo>
                  <a:pt x="77925" y="124681"/>
                </a:lnTo>
                <a:lnTo>
                  <a:pt x="102416" y="124681"/>
                </a:lnTo>
                <a:lnTo>
                  <a:pt x="102416" y="118001"/>
                </a:lnTo>
                <a:cubicBezTo>
                  <a:pt x="102416" y="114300"/>
                  <a:pt x="105394" y="111322"/>
                  <a:pt x="109096" y="111322"/>
                </a:cubicBezTo>
                <a:cubicBezTo>
                  <a:pt x="112797" y="111322"/>
                  <a:pt x="115775" y="114300"/>
                  <a:pt x="115775" y="118001"/>
                </a:cubicBezTo>
                <a:lnTo>
                  <a:pt x="115775" y="124681"/>
                </a:lnTo>
                <a:lnTo>
                  <a:pt x="133587" y="124681"/>
                </a:lnTo>
                <a:cubicBezTo>
                  <a:pt x="138513" y="124681"/>
                  <a:pt x="142492" y="120701"/>
                  <a:pt x="142492" y="115775"/>
                </a:cubicBezTo>
                <a:close/>
                <a:moveTo>
                  <a:pt x="44529" y="44529"/>
                </a:moveTo>
                <a:lnTo>
                  <a:pt x="44529" y="62340"/>
                </a:lnTo>
                <a:cubicBezTo>
                  <a:pt x="44529" y="67266"/>
                  <a:pt x="40549" y="71246"/>
                  <a:pt x="35623" y="71246"/>
                </a:cubicBezTo>
                <a:cubicBezTo>
                  <a:pt x="30697" y="71246"/>
                  <a:pt x="26717" y="67266"/>
                  <a:pt x="26717" y="62340"/>
                </a:cubicBezTo>
                <a:lnTo>
                  <a:pt x="26717" y="44529"/>
                </a:lnTo>
                <a:cubicBezTo>
                  <a:pt x="26717" y="39603"/>
                  <a:pt x="30697" y="35623"/>
                  <a:pt x="35623" y="35623"/>
                </a:cubicBezTo>
                <a:cubicBezTo>
                  <a:pt x="40549" y="35623"/>
                  <a:pt x="44529" y="39603"/>
                  <a:pt x="44529" y="44529"/>
                </a:cubicBezTo>
                <a:close/>
                <a:moveTo>
                  <a:pt x="80152" y="44529"/>
                </a:moveTo>
                <a:lnTo>
                  <a:pt x="80152" y="62340"/>
                </a:lnTo>
                <a:cubicBezTo>
                  <a:pt x="80152" y="67266"/>
                  <a:pt x="76172" y="71246"/>
                  <a:pt x="71246" y="71246"/>
                </a:cubicBezTo>
                <a:cubicBezTo>
                  <a:pt x="66320" y="71246"/>
                  <a:pt x="62340" y="67266"/>
                  <a:pt x="62340" y="62340"/>
                </a:cubicBezTo>
                <a:lnTo>
                  <a:pt x="62340" y="44529"/>
                </a:lnTo>
                <a:cubicBezTo>
                  <a:pt x="62340" y="39603"/>
                  <a:pt x="66320" y="35623"/>
                  <a:pt x="71246" y="35623"/>
                </a:cubicBezTo>
                <a:cubicBezTo>
                  <a:pt x="76172" y="35623"/>
                  <a:pt x="80152" y="39603"/>
                  <a:pt x="80152" y="44529"/>
                </a:cubicBezTo>
                <a:close/>
                <a:moveTo>
                  <a:pt x="115775" y="44529"/>
                </a:moveTo>
                <a:lnTo>
                  <a:pt x="115775" y="62340"/>
                </a:lnTo>
                <a:cubicBezTo>
                  <a:pt x="115775" y="67266"/>
                  <a:pt x="111795" y="71246"/>
                  <a:pt x="106869" y="71246"/>
                </a:cubicBezTo>
                <a:cubicBezTo>
                  <a:pt x="101943" y="71246"/>
                  <a:pt x="97963" y="67266"/>
                  <a:pt x="97963" y="62340"/>
                </a:cubicBezTo>
                <a:lnTo>
                  <a:pt x="97963" y="44529"/>
                </a:lnTo>
                <a:cubicBezTo>
                  <a:pt x="97963" y="39603"/>
                  <a:pt x="101943" y="35623"/>
                  <a:pt x="106869" y="35623"/>
                </a:cubicBezTo>
                <a:cubicBezTo>
                  <a:pt x="111795" y="35623"/>
                  <a:pt x="115775" y="39603"/>
                  <a:pt x="115775" y="44529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7" name="Text 55"/>
          <p:cNvSpPr/>
          <p:nvPr/>
        </p:nvSpPr>
        <p:spPr>
          <a:xfrm>
            <a:off x="7661189" y="4445762"/>
            <a:ext cx="2823129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Active Memory Learning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661189" y="4659501"/>
            <a:ext cx="2814224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mem0 stores and retrieves past successful variants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269335" y="4962297"/>
            <a:ext cx="284985" cy="284985"/>
          </a:xfrm>
          <a:prstGeom prst="roundRect">
            <a:avLst>
              <a:gd name="adj" fmla="val 25000"/>
            </a:avLst>
          </a:prstGeom>
          <a:solidFill>
            <a:srgbClr val="10B981">
              <a:alpha val="2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322770" y="5033543"/>
            <a:ext cx="178115" cy="142492"/>
          </a:xfrm>
          <a:custGeom>
            <a:avLst/>
            <a:gdLst/>
            <a:ahLst/>
            <a:cxnLst/>
            <a:rect l="l" t="t" r="r" b="b"/>
            <a:pathLst>
              <a:path w="178115" h="142492">
                <a:moveTo>
                  <a:pt x="115747" y="58583"/>
                </a:moveTo>
                <a:cubicBezTo>
                  <a:pt x="119143" y="57665"/>
                  <a:pt x="122705" y="59279"/>
                  <a:pt x="124236" y="62424"/>
                </a:cubicBezTo>
                <a:lnTo>
                  <a:pt x="129412" y="72888"/>
                </a:lnTo>
                <a:cubicBezTo>
                  <a:pt x="132279" y="73278"/>
                  <a:pt x="135089" y="74057"/>
                  <a:pt x="137733" y="75142"/>
                </a:cubicBezTo>
                <a:lnTo>
                  <a:pt x="147474" y="68658"/>
                </a:lnTo>
                <a:cubicBezTo>
                  <a:pt x="150396" y="66710"/>
                  <a:pt x="154265" y="67099"/>
                  <a:pt x="156742" y="69576"/>
                </a:cubicBezTo>
                <a:lnTo>
                  <a:pt x="162085" y="74920"/>
                </a:lnTo>
                <a:cubicBezTo>
                  <a:pt x="164562" y="77397"/>
                  <a:pt x="164952" y="81293"/>
                  <a:pt x="163003" y="84187"/>
                </a:cubicBezTo>
                <a:lnTo>
                  <a:pt x="156519" y="93900"/>
                </a:lnTo>
                <a:cubicBezTo>
                  <a:pt x="157048" y="95208"/>
                  <a:pt x="157521" y="96572"/>
                  <a:pt x="157910" y="97991"/>
                </a:cubicBezTo>
                <a:cubicBezTo>
                  <a:pt x="158300" y="99411"/>
                  <a:pt x="158551" y="100802"/>
                  <a:pt x="158745" y="102222"/>
                </a:cubicBezTo>
                <a:lnTo>
                  <a:pt x="169237" y="107398"/>
                </a:lnTo>
                <a:cubicBezTo>
                  <a:pt x="172382" y="108957"/>
                  <a:pt x="173996" y="112519"/>
                  <a:pt x="173078" y="115886"/>
                </a:cubicBezTo>
                <a:lnTo>
                  <a:pt x="171130" y="123178"/>
                </a:lnTo>
                <a:cubicBezTo>
                  <a:pt x="170212" y="126545"/>
                  <a:pt x="167067" y="128828"/>
                  <a:pt x="163560" y="128605"/>
                </a:cubicBezTo>
                <a:lnTo>
                  <a:pt x="151871" y="127853"/>
                </a:lnTo>
                <a:cubicBezTo>
                  <a:pt x="150118" y="130108"/>
                  <a:pt x="148086" y="132195"/>
                  <a:pt x="145776" y="133976"/>
                </a:cubicBezTo>
                <a:lnTo>
                  <a:pt x="146528" y="145637"/>
                </a:lnTo>
                <a:cubicBezTo>
                  <a:pt x="146750" y="149144"/>
                  <a:pt x="144468" y="152317"/>
                  <a:pt x="141101" y="153207"/>
                </a:cubicBezTo>
                <a:lnTo>
                  <a:pt x="133809" y="155155"/>
                </a:lnTo>
                <a:cubicBezTo>
                  <a:pt x="130414" y="156074"/>
                  <a:pt x="126879" y="154459"/>
                  <a:pt x="125321" y="151315"/>
                </a:cubicBezTo>
                <a:lnTo>
                  <a:pt x="120144" y="140850"/>
                </a:lnTo>
                <a:cubicBezTo>
                  <a:pt x="117278" y="140461"/>
                  <a:pt x="114467" y="139681"/>
                  <a:pt x="111823" y="138596"/>
                </a:cubicBezTo>
                <a:lnTo>
                  <a:pt x="102082" y="145081"/>
                </a:lnTo>
                <a:cubicBezTo>
                  <a:pt x="99160" y="147029"/>
                  <a:pt x="95292" y="146639"/>
                  <a:pt x="92815" y="144162"/>
                </a:cubicBezTo>
                <a:lnTo>
                  <a:pt x="87471" y="138819"/>
                </a:lnTo>
                <a:cubicBezTo>
                  <a:pt x="84994" y="136342"/>
                  <a:pt x="84605" y="132473"/>
                  <a:pt x="86553" y="129551"/>
                </a:cubicBezTo>
                <a:lnTo>
                  <a:pt x="93037" y="119810"/>
                </a:lnTo>
                <a:cubicBezTo>
                  <a:pt x="92509" y="118502"/>
                  <a:pt x="92036" y="117139"/>
                  <a:pt x="91646" y="115719"/>
                </a:cubicBezTo>
                <a:cubicBezTo>
                  <a:pt x="91256" y="114300"/>
                  <a:pt x="91006" y="112881"/>
                  <a:pt x="90811" y="111489"/>
                </a:cubicBezTo>
                <a:lnTo>
                  <a:pt x="80319" y="106313"/>
                </a:lnTo>
                <a:cubicBezTo>
                  <a:pt x="77174" y="104754"/>
                  <a:pt x="75588" y="101192"/>
                  <a:pt x="76478" y="97824"/>
                </a:cubicBezTo>
                <a:lnTo>
                  <a:pt x="78426" y="90533"/>
                </a:lnTo>
                <a:cubicBezTo>
                  <a:pt x="79345" y="87165"/>
                  <a:pt x="82490" y="84883"/>
                  <a:pt x="85996" y="85106"/>
                </a:cubicBezTo>
                <a:lnTo>
                  <a:pt x="97657" y="85857"/>
                </a:lnTo>
                <a:cubicBezTo>
                  <a:pt x="99411" y="83603"/>
                  <a:pt x="101442" y="81516"/>
                  <a:pt x="103752" y="79734"/>
                </a:cubicBezTo>
                <a:lnTo>
                  <a:pt x="103001" y="68101"/>
                </a:lnTo>
                <a:cubicBezTo>
                  <a:pt x="102778" y="64595"/>
                  <a:pt x="105060" y="61422"/>
                  <a:pt x="108428" y="60531"/>
                </a:cubicBezTo>
                <a:lnTo>
                  <a:pt x="115719" y="58583"/>
                </a:lnTo>
                <a:close/>
                <a:moveTo>
                  <a:pt x="124792" y="94624"/>
                </a:moveTo>
                <a:cubicBezTo>
                  <a:pt x="118034" y="94631"/>
                  <a:pt x="112553" y="100125"/>
                  <a:pt x="112561" y="106883"/>
                </a:cubicBezTo>
                <a:cubicBezTo>
                  <a:pt x="112568" y="113642"/>
                  <a:pt x="118062" y="119122"/>
                  <a:pt x="124820" y="119115"/>
                </a:cubicBezTo>
                <a:cubicBezTo>
                  <a:pt x="131578" y="119107"/>
                  <a:pt x="137059" y="113614"/>
                  <a:pt x="137051" y="106855"/>
                </a:cubicBezTo>
                <a:cubicBezTo>
                  <a:pt x="137044" y="100097"/>
                  <a:pt x="131551" y="94616"/>
                  <a:pt x="124792" y="94624"/>
                </a:cubicBezTo>
                <a:close/>
                <a:moveTo>
                  <a:pt x="62591" y="-12663"/>
                </a:moveTo>
                <a:lnTo>
                  <a:pt x="69882" y="-10715"/>
                </a:lnTo>
                <a:cubicBezTo>
                  <a:pt x="73250" y="-9796"/>
                  <a:pt x="75532" y="-6624"/>
                  <a:pt x="75309" y="-3145"/>
                </a:cubicBezTo>
                <a:lnTo>
                  <a:pt x="74558" y="8488"/>
                </a:lnTo>
                <a:cubicBezTo>
                  <a:pt x="76868" y="10269"/>
                  <a:pt x="78900" y="12329"/>
                  <a:pt x="80653" y="14611"/>
                </a:cubicBezTo>
                <a:lnTo>
                  <a:pt x="92342" y="13860"/>
                </a:lnTo>
                <a:cubicBezTo>
                  <a:pt x="95821" y="13637"/>
                  <a:pt x="98993" y="15919"/>
                  <a:pt x="99912" y="19287"/>
                </a:cubicBezTo>
                <a:lnTo>
                  <a:pt x="101860" y="26578"/>
                </a:lnTo>
                <a:cubicBezTo>
                  <a:pt x="102750" y="29946"/>
                  <a:pt x="101164" y="33508"/>
                  <a:pt x="98019" y="35066"/>
                </a:cubicBezTo>
                <a:lnTo>
                  <a:pt x="87527" y="40243"/>
                </a:lnTo>
                <a:cubicBezTo>
                  <a:pt x="87332" y="41662"/>
                  <a:pt x="87054" y="43082"/>
                  <a:pt x="86692" y="44473"/>
                </a:cubicBezTo>
                <a:cubicBezTo>
                  <a:pt x="86330" y="45865"/>
                  <a:pt x="85829" y="47256"/>
                  <a:pt x="85301" y="48564"/>
                </a:cubicBezTo>
                <a:lnTo>
                  <a:pt x="91785" y="58305"/>
                </a:lnTo>
                <a:cubicBezTo>
                  <a:pt x="93733" y="61227"/>
                  <a:pt x="93344" y="65096"/>
                  <a:pt x="90867" y="67573"/>
                </a:cubicBezTo>
                <a:lnTo>
                  <a:pt x="85523" y="72916"/>
                </a:lnTo>
                <a:cubicBezTo>
                  <a:pt x="83046" y="75393"/>
                  <a:pt x="79178" y="75783"/>
                  <a:pt x="76256" y="73834"/>
                </a:cubicBezTo>
                <a:lnTo>
                  <a:pt x="66515" y="67350"/>
                </a:lnTo>
                <a:cubicBezTo>
                  <a:pt x="63871" y="68435"/>
                  <a:pt x="61060" y="69215"/>
                  <a:pt x="58194" y="69604"/>
                </a:cubicBezTo>
                <a:lnTo>
                  <a:pt x="53017" y="80068"/>
                </a:lnTo>
                <a:cubicBezTo>
                  <a:pt x="51459" y="83213"/>
                  <a:pt x="47896" y="84800"/>
                  <a:pt x="44529" y="83909"/>
                </a:cubicBezTo>
                <a:lnTo>
                  <a:pt x="37237" y="81961"/>
                </a:lnTo>
                <a:cubicBezTo>
                  <a:pt x="33842" y="81043"/>
                  <a:pt x="31588" y="77870"/>
                  <a:pt x="31810" y="74391"/>
                </a:cubicBezTo>
                <a:lnTo>
                  <a:pt x="32562" y="62730"/>
                </a:lnTo>
                <a:cubicBezTo>
                  <a:pt x="30252" y="60949"/>
                  <a:pt x="28220" y="58889"/>
                  <a:pt x="26467" y="56607"/>
                </a:cubicBezTo>
                <a:lnTo>
                  <a:pt x="14778" y="57359"/>
                </a:lnTo>
                <a:cubicBezTo>
                  <a:pt x="11299" y="57581"/>
                  <a:pt x="8127" y="55299"/>
                  <a:pt x="7208" y="51932"/>
                </a:cubicBezTo>
                <a:lnTo>
                  <a:pt x="5260" y="44640"/>
                </a:lnTo>
                <a:cubicBezTo>
                  <a:pt x="4369" y="41273"/>
                  <a:pt x="5956" y="37710"/>
                  <a:pt x="9101" y="36152"/>
                </a:cubicBezTo>
                <a:lnTo>
                  <a:pt x="19593" y="30975"/>
                </a:lnTo>
                <a:cubicBezTo>
                  <a:pt x="19788" y="29556"/>
                  <a:pt x="20066" y="28164"/>
                  <a:pt x="20428" y="26745"/>
                </a:cubicBezTo>
                <a:cubicBezTo>
                  <a:pt x="20817" y="25326"/>
                  <a:pt x="21263" y="23962"/>
                  <a:pt x="21819" y="22654"/>
                </a:cubicBezTo>
                <a:lnTo>
                  <a:pt x="15335" y="12941"/>
                </a:lnTo>
                <a:cubicBezTo>
                  <a:pt x="13386" y="10019"/>
                  <a:pt x="13776" y="6151"/>
                  <a:pt x="16253" y="3674"/>
                </a:cubicBezTo>
                <a:lnTo>
                  <a:pt x="21596" y="-1670"/>
                </a:lnTo>
                <a:cubicBezTo>
                  <a:pt x="24073" y="-4147"/>
                  <a:pt x="27942" y="-4536"/>
                  <a:pt x="30864" y="-2588"/>
                </a:cubicBezTo>
                <a:lnTo>
                  <a:pt x="40605" y="3896"/>
                </a:lnTo>
                <a:cubicBezTo>
                  <a:pt x="43249" y="2811"/>
                  <a:pt x="46060" y="2032"/>
                  <a:pt x="48926" y="1642"/>
                </a:cubicBezTo>
                <a:lnTo>
                  <a:pt x="54103" y="-8822"/>
                </a:lnTo>
                <a:cubicBezTo>
                  <a:pt x="55661" y="-11967"/>
                  <a:pt x="59196" y="-13553"/>
                  <a:pt x="62591" y="-12663"/>
                </a:cubicBezTo>
                <a:close/>
                <a:moveTo>
                  <a:pt x="53546" y="23378"/>
                </a:moveTo>
                <a:cubicBezTo>
                  <a:pt x="46788" y="23378"/>
                  <a:pt x="41301" y="28865"/>
                  <a:pt x="41301" y="35623"/>
                </a:cubicBezTo>
                <a:cubicBezTo>
                  <a:pt x="41301" y="42382"/>
                  <a:pt x="46788" y="47869"/>
                  <a:pt x="53546" y="47869"/>
                </a:cubicBezTo>
                <a:cubicBezTo>
                  <a:pt x="60304" y="47869"/>
                  <a:pt x="65791" y="42382"/>
                  <a:pt x="65791" y="35623"/>
                </a:cubicBezTo>
                <a:cubicBezTo>
                  <a:pt x="65791" y="28865"/>
                  <a:pt x="60304" y="23378"/>
                  <a:pt x="53546" y="2337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1" name="Text 59"/>
          <p:cNvSpPr/>
          <p:nvPr/>
        </p:nvSpPr>
        <p:spPr>
          <a:xfrm>
            <a:off x="7661189" y="4944486"/>
            <a:ext cx="2823129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3-Stage Pipeline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661189" y="5158224"/>
            <a:ext cx="2814224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intelligence pipeline with all components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7269335" y="5461020"/>
            <a:ext cx="284985" cy="284985"/>
          </a:xfrm>
          <a:prstGeom prst="roundRect">
            <a:avLst>
              <a:gd name="adj" fmla="val 25000"/>
            </a:avLst>
          </a:prstGeom>
          <a:solidFill>
            <a:srgbClr val="10B981">
              <a:alpha val="20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7358393" y="5532266"/>
            <a:ext cx="106869" cy="142492"/>
          </a:xfrm>
          <a:custGeom>
            <a:avLst/>
            <a:gdLst/>
            <a:ahLst/>
            <a:cxnLst/>
            <a:rect l="l" t="t" r="r" b="b"/>
            <a:pathLst>
              <a:path w="106869" h="142492">
                <a:moveTo>
                  <a:pt x="69549" y="18591"/>
                </a:moveTo>
                <a:cubicBezTo>
                  <a:pt x="72443" y="14611"/>
                  <a:pt x="71552" y="9045"/>
                  <a:pt x="67573" y="6151"/>
                </a:cubicBezTo>
                <a:cubicBezTo>
                  <a:pt x="63593" y="3256"/>
                  <a:pt x="58027" y="4147"/>
                  <a:pt x="55132" y="8127"/>
                </a:cubicBezTo>
                <a:lnTo>
                  <a:pt x="25632" y="48676"/>
                </a:lnTo>
                <a:lnTo>
                  <a:pt x="15195" y="38239"/>
                </a:lnTo>
                <a:cubicBezTo>
                  <a:pt x="11717" y="34760"/>
                  <a:pt x="6067" y="34760"/>
                  <a:pt x="2588" y="38239"/>
                </a:cubicBezTo>
                <a:cubicBezTo>
                  <a:pt x="-891" y="41718"/>
                  <a:pt x="-891" y="47368"/>
                  <a:pt x="2588" y="50846"/>
                </a:cubicBezTo>
                <a:lnTo>
                  <a:pt x="20400" y="68658"/>
                </a:lnTo>
                <a:cubicBezTo>
                  <a:pt x="22237" y="70495"/>
                  <a:pt x="24797" y="71441"/>
                  <a:pt x="27385" y="71246"/>
                </a:cubicBezTo>
                <a:cubicBezTo>
                  <a:pt x="29973" y="71051"/>
                  <a:pt x="32367" y="69715"/>
                  <a:pt x="33898" y="67600"/>
                </a:cubicBezTo>
                <a:lnTo>
                  <a:pt x="69521" y="18619"/>
                </a:lnTo>
                <a:close/>
                <a:moveTo>
                  <a:pt x="105172" y="56440"/>
                </a:moveTo>
                <a:cubicBezTo>
                  <a:pt x="108066" y="52461"/>
                  <a:pt x="107175" y="46894"/>
                  <a:pt x="103196" y="44000"/>
                </a:cubicBezTo>
                <a:cubicBezTo>
                  <a:pt x="99216" y="41106"/>
                  <a:pt x="93650" y="41996"/>
                  <a:pt x="90755" y="45976"/>
                </a:cubicBezTo>
                <a:lnTo>
                  <a:pt x="43443" y="111016"/>
                </a:lnTo>
                <a:lnTo>
                  <a:pt x="24101" y="91674"/>
                </a:lnTo>
                <a:cubicBezTo>
                  <a:pt x="20622" y="88195"/>
                  <a:pt x="14973" y="88195"/>
                  <a:pt x="11494" y="91674"/>
                </a:cubicBezTo>
                <a:cubicBezTo>
                  <a:pt x="8015" y="95153"/>
                  <a:pt x="8015" y="100802"/>
                  <a:pt x="11494" y="104281"/>
                </a:cubicBezTo>
                <a:lnTo>
                  <a:pt x="38211" y="130998"/>
                </a:lnTo>
                <a:cubicBezTo>
                  <a:pt x="40048" y="132835"/>
                  <a:pt x="42609" y="133781"/>
                  <a:pt x="45197" y="133587"/>
                </a:cubicBezTo>
                <a:cubicBezTo>
                  <a:pt x="47785" y="133392"/>
                  <a:pt x="50178" y="132056"/>
                  <a:pt x="51709" y="129941"/>
                </a:cubicBezTo>
                <a:lnTo>
                  <a:pt x="105144" y="56468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5" name="Text 63"/>
          <p:cNvSpPr/>
          <p:nvPr/>
        </p:nvSpPr>
        <p:spPr>
          <a:xfrm>
            <a:off x="7661189" y="5443209"/>
            <a:ext cx="3090302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Production-Ready Output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7661189" y="5656947"/>
            <a:ext cx="3081397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Enterprise-grade copy ready for immediate deployment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7269335" y="5981117"/>
            <a:ext cx="4372733" cy="7125"/>
          </a:xfrm>
          <a:prstGeom prst="roundRect">
            <a:avLst>
              <a:gd name="adj" fmla="val 0"/>
            </a:avLst>
          </a:prstGeom>
          <a:solidFill>
            <a:srgbClr val="10B981">
              <a:alpha val="30196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443561" y="6144982"/>
            <a:ext cx="142492" cy="142492"/>
          </a:xfrm>
          <a:custGeom>
            <a:avLst/>
            <a:gdLst/>
            <a:ahLst/>
            <a:cxnLst/>
            <a:rect l="l" t="t" r="r" b="b"/>
            <a:pathLst>
              <a:path w="142492" h="142492">
                <a:moveTo>
                  <a:pt x="71246" y="142492"/>
                </a:moveTo>
                <a:cubicBezTo>
                  <a:pt x="110568" y="142492"/>
                  <a:pt x="142492" y="110568"/>
                  <a:pt x="142492" y="71246"/>
                </a:cubicBezTo>
                <a:cubicBezTo>
                  <a:pt x="142492" y="31924"/>
                  <a:pt x="110568" y="0"/>
                  <a:pt x="71246" y="0"/>
                </a:cubicBezTo>
                <a:cubicBezTo>
                  <a:pt x="31924" y="0"/>
                  <a:pt x="0" y="31924"/>
                  <a:pt x="0" y="71246"/>
                </a:cubicBezTo>
                <a:cubicBezTo>
                  <a:pt x="0" y="110568"/>
                  <a:pt x="31924" y="142492"/>
                  <a:pt x="71246" y="142492"/>
                </a:cubicBezTo>
                <a:close/>
                <a:moveTo>
                  <a:pt x="94735" y="59196"/>
                </a:moveTo>
                <a:lnTo>
                  <a:pt x="72471" y="94819"/>
                </a:lnTo>
                <a:cubicBezTo>
                  <a:pt x="71302" y="96683"/>
                  <a:pt x="69298" y="97852"/>
                  <a:pt x="67099" y="97963"/>
                </a:cubicBezTo>
                <a:cubicBezTo>
                  <a:pt x="64901" y="98075"/>
                  <a:pt x="62786" y="97073"/>
                  <a:pt x="61478" y="95292"/>
                </a:cubicBezTo>
                <a:lnTo>
                  <a:pt x="48119" y="77480"/>
                </a:lnTo>
                <a:cubicBezTo>
                  <a:pt x="45893" y="74530"/>
                  <a:pt x="46505" y="70356"/>
                  <a:pt x="49455" y="68129"/>
                </a:cubicBezTo>
                <a:cubicBezTo>
                  <a:pt x="52405" y="65903"/>
                  <a:pt x="56579" y="66515"/>
                  <a:pt x="58806" y="69465"/>
                </a:cubicBezTo>
                <a:lnTo>
                  <a:pt x="66320" y="79484"/>
                </a:lnTo>
                <a:lnTo>
                  <a:pt x="83408" y="52127"/>
                </a:lnTo>
                <a:cubicBezTo>
                  <a:pt x="85356" y="49010"/>
                  <a:pt x="89475" y="48036"/>
                  <a:pt x="92620" y="50011"/>
                </a:cubicBezTo>
                <a:cubicBezTo>
                  <a:pt x="95765" y="51987"/>
                  <a:pt x="96711" y="56079"/>
                  <a:pt x="94735" y="59223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9" name="Text 67"/>
          <p:cNvSpPr/>
          <p:nvPr/>
        </p:nvSpPr>
        <p:spPr>
          <a:xfrm>
            <a:off x="8675112" y="6127170"/>
            <a:ext cx="1870212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Ready for real-world deployment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3523680" y="6668644"/>
            <a:ext cx="142492" cy="142492"/>
          </a:xfrm>
          <a:custGeom>
            <a:avLst/>
            <a:gdLst/>
            <a:ahLst/>
            <a:cxnLst/>
            <a:rect l="l" t="t" r="r" b="b"/>
            <a:pathLst>
              <a:path w="142492" h="142492">
                <a:moveTo>
                  <a:pt x="71246" y="142492"/>
                </a:moveTo>
                <a:cubicBezTo>
                  <a:pt x="110568" y="142492"/>
                  <a:pt x="142492" y="110568"/>
                  <a:pt x="142492" y="71246"/>
                </a:cubicBezTo>
                <a:cubicBezTo>
                  <a:pt x="142492" y="31924"/>
                  <a:pt x="110568" y="0"/>
                  <a:pt x="71246" y="0"/>
                </a:cubicBezTo>
                <a:cubicBezTo>
                  <a:pt x="31924" y="0"/>
                  <a:pt x="0" y="31924"/>
                  <a:pt x="0" y="71246"/>
                </a:cubicBezTo>
                <a:cubicBezTo>
                  <a:pt x="0" y="110568"/>
                  <a:pt x="31924" y="142492"/>
                  <a:pt x="71246" y="142492"/>
                </a:cubicBezTo>
                <a:close/>
                <a:moveTo>
                  <a:pt x="62340" y="44529"/>
                </a:moveTo>
                <a:cubicBezTo>
                  <a:pt x="62340" y="39614"/>
                  <a:pt x="66331" y="35623"/>
                  <a:pt x="71246" y="35623"/>
                </a:cubicBezTo>
                <a:cubicBezTo>
                  <a:pt x="76161" y="35623"/>
                  <a:pt x="80152" y="39614"/>
                  <a:pt x="80152" y="44529"/>
                </a:cubicBezTo>
                <a:cubicBezTo>
                  <a:pt x="80152" y="49444"/>
                  <a:pt x="76161" y="53435"/>
                  <a:pt x="71246" y="53435"/>
                </a:cubicBezTo>
                <a:cubicBezTo>
                  <a:pt x="66331" y="53435"/>
                  <a:pt x="62340" y="49444"/>
                  <a:pt x="62340" y="44529"/>
                </a:cubicBezTo>
                <a:close/>
                <a:moveTo>
                  <a:pt x="60114" y="62340"/>
                </a:moveTo>
                <a:lnTo>
                  <a:pt x="73473" y="62340"/>
                </a:lnTo>
                <a:cubicBezTo>
                  <a:pt x="77174" y="62340"/>
                  <a:pt x="80152" y="65318"/>
                  <a:pt x="80152" y="69020"/>
                </a:cubicBezTo>
                <a:lnTo>
                  <a:pt x="80152" y="93511"/>
                </a:lnTo>
                <a:lnTo>
                  <a:pt x="82378" y="93511"/>
                </a:lnTo>
                <a:cubicBezTo>
                  <a:pt x="86080" y="93511"/>
                  <a:pt x="89058" y="96488"/>
                  <a:pt x="89058" y="100190"/>
                </a:cubicBezTo>
                <a:cubicBezTo>
                  <a:pt x="89058" y="103891"/>
                  <a:pt x="86080" y="106869"/>
                  <a:pt x="82378" y="106869"/>
                </a:cubicBezTo>
                <a:lnTo>
                  <a:pt x="60114" y="106869"/>
                </a:lnTo>
                <a:cubicBezTo>
                  <a:pt x="56412" y="106869"/>
                  <a:pt x="53435" y="103891"/>
                  <a:pt x="53435" y="100190"/>
                </a:cubicBezTo>
                <a:cubicBezTo>
                  <a:pt x="53435" y="96488"/>
                  <a:pt x="56412" y="93511"/>
                  <a:pt x="60114" y="93511"/>
                </a:cubicBezTo>
                <a:lnTo>
                  <a:pt x="66793" y="93511"/>
                </a:lnTo>
                <a:lnTo>
                  <a:pt x="66793" y="75699"/>
                </a:lnTo>
                <a:lnTo>
                  <a:pt x="60114" y="75699"/>
                </a:lnTo>
                <a:cubicBezTo>
                  <a:pt x="56412" y="75699"/>
                  <a:pt x="53435" y="72721"/>
                  <a:pt x="53435" y="69020"/>
                </a:cubicBezTo>
                <a:cubicBezTo>
                  <a:pt x="53435" y="65318"/>
                  <a:pt x="56412" y="62340"/>
                  <a:pt x="60114" y="6234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1" name="Text 69"/>
          <p:cNvSpPr/>
          <p:nvPr/>
        </p:nvSpPr>
        <p:spPr>
          <a:xfrm>
            <a:off x="548684" y="6640143"/>
            <a:ext cx="11322708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2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app detects available API keys at startup and </a:t>
            </a:r>
            <a:r>
              <a:rPr lang="en-US" sz="1122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switches modes automatically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38100" cy="381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6366F1"/>
              </a:gs>
              <a:gs pos="0">
                <a:srgbClr val="FFFFFF"/>
              </a:gs>
              <a:gs pos="100000">
                <a:srgbClr val="A855F7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33400" y="381000"/>
            <a:ext cx="624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Input to Optimized Copy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914400"/>
            <a:ext cx="11363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complete 8-step journey from product data to publish-ready content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337310"/>
            <a:ext cx="2760345" cy="2407920"/>
          </a:xfrm>
          <a:prstGeom prst="roundRect">
            <a:avLst>
              <a:gd name="adj" fmla="val 4747"/>
            </a:avLst>
          </a:prstGeom>
          <a:gradFill flip="none" rotWithShape="1">
            <a:gsLst>
              <a:gs pos="0">
                <a:srgbClr val="6366F1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1020" y="1493523"/>
            <a:ext cx="381000" cy="381000"/>
          </a:xfrm>
          <a:prstGeom prst="roundRect">
            <a:avLst>
              <a:gd name="adj" fmla="val 30000"/>
            </a:avLst>
          </a:prstGeom>
          <a:gradFill flip="none" rotWithShape="1">
            <a:gsLst>
              <a:gs pos="0">
                <a:srgbClr val="6366F1"/>
              </a:gs>
              <a:gs pos="100000">
                <a:srgbClr val="4F46E5"/>
              </a:gs>
            </a:gsLst>
            <a:lin ang="2700000" scaled="1"/>
          </a:gradFill>
          <a:ln/>
        </p:spPr>
      </p:sp>
      <p:sp>
        <p:nvSpPr>
          <p:cNvPr id="7" name="Text 5"/>
          <p:cNvSpPr/>
          <p:nvPr/>
        </p:nvSpPr>
        <p:spPr>
          <a:xfrm>
            <a:off x="693420" y="1550673"/>
            <a:ext cx="171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36320" y="1679260"/>
            <a:ext cx="1952625" cy="9525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6366F1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9" name="Text 7"/>
          <p:cNvSpPr/>
          <p:nvPr/>
        </p:nvSpPr>
        <p:spPr>
          <a:xfrm>
            <a:off x="541020" y="1988823"/>
            <a:ext cx="2533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Input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1020" y="2331723"/>
            <a:ext cx="251460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enters </a:t>
            </a:r>
            <a:r>
              <a:rPr lang="en-US" sz="1050" b="1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 name</a:t>
            </a:r>
            <a:r>
              <a:rPr lang="en-US" sz="105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r>
              <a:rPr lang="en-US" sz="1050" b="1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category</a:t>
            </a:r>
            <a:r>
              <a:rPr lang="en-US" sz="105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r>
              <a:rPr lang="en-US" sz="1050" b="1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keywords</a:t>
            </a:r>
            <a:r>
              <a:rPr lang="en-US" sz="105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</a:t>
            </a:r>
            <a:r>
              <a:rPr lang="en-US" sz="1050" b="1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competitor URLs</a:t>
            </a:r>
            <a:r>
              <a:rPr lang="en-US" sz="105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through the React frontend interface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1020" y="3316603"/>
            <a:ext cx="2447925" cy="7620"/>
          </a:xfrm>
          <a:prstGeom prst="roundRect">
            <a:avLst>
              <a:gd name="adj" fmla="val 0"/>
            </a:avLst>
          </a:prstGeom>
          <a:solidFill>
            <a:srgbClr val="6366F1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51736" y="344412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6669" y="16669"/>
                </a:moveTo>
                <a:cubicBezTo>
                  <a:pt x="7475" y="16669"/>
                  <a:pt x="0" y="24144"/>
                  <a:pt x="0" y="33337"/>
                </a:cubicBezTo>
                <a:lnTo>
                  <a:pt x="0" y="100013"/>
                </a:lnTo>
                <a:cubicBezTo>
                  <a:pt x="0" y="109206"/>
                  <a:pt x="7475" y="116681"/>
                  <a:pt x="16669" y="116681"/>
                </a:cubicBezTo>
                <a:lnTo>
                  <a:pt x="133350" y="116681"/>
                </a:lnTo>
                <a:cubicBezTo>
                  <a:pt x="142544" y="116681"/>
                  <a:pt x="150019" y="109206"/>
                  <a:pt x="150019" y="100013"/>
                </a:cubicBezTo>
                <a:lnTo>
                  <a:pt x="150019" y="33337"/>
                </a:lnTo>
                <a:cubicBezTo>
                  <a:pt x="150019" y="24144"/>
                  <a:pt x="142544" y="16669"/>
                  <a:pt x="133350" y="16669"/>
                </a:cubicBezTo>
                <a:lnTo>
                  <a:pt x="16669" y="16669"/>
                </a:lnTo>
                <a:close/>
                <a:moveTo>
                  <a:pt x="20836" y="33337"/>
                </a:moveTo>
                <a:lnTo>
                  <a:pt x="29170" y="33337"/>
                </a:lnTo>
                <a:cubicBezTo>
                  <a:pt x="31462" y="33337"/>
                  <a:pt x="33337" y="35213"/>
                  <a:pt x="33337" y="37505"/>
                </a:cubicBezTo>
                <a:lnTo>
                  <a:pt x="33337" y="45839"/>
                </a:lnTo>
                <a:cubicBezTo>
                  <a:pt x="33337" y="48131"/>
                  <a:pt x="31462" y="50006"/>
                  <a:pt x="29170" y="50006"/>
                </a:cubicBezTo>
                <a:lnTo>
                  <a:pt x="20836" y="50006"/>
                </a:lnTo>
                <a:cubicBezTo>
                  <a:pt x="18544" y="50006"/>
                  <a:pt x="16669" y="48131"/>
                  <a:pt x="16669" y="45839"/>
                </a:cubicBezTo>
                <a:lnTo>
                  <a:pt x="16669" y="37505"/>
                </a:lnTo>
                <a:cubicBezTo>
                  <a:pt x="16669" y="35213"/>
                  <a:pt x="18544" y="33337"/>
                  <a:pt x="20836" y="33337"/>
                </a:cubicBezTo>
                <a:close/>
                <a:moveTo>
                  <a:pt x="16669" y="62508"/>
                </a:moveTo>
                <a:cubicBezTo>
                  <a:pt x="16669" y="60216"/>
                  <a:pt x="18544" y="58341"/>
                  <a:pt x="20836" y="58341"/>
                </a:cubicBezTo>
                <a:lnTo>
                  <a:pt x="29170" y="58341"/>
                </a:lnTo>
                <a:cubicBezTo>
                  <a:pt x="31462" y="58341"/>
                  <a:pt x="33337" y="60216"/>
                  <a:pt x="33337" y="62508"/>
                </a:cubicBezTo>
                <a:lnTo>
                  <a:pt x="33337" y="70842"/>
                </a:lnTo>
                <a:cubicBezTo>
                  <a:pt x="33337" y="73134"/>
                  <a:pt x="31462" y="75009"/>
                  <a:pt x="29170" y="75009"/>
                </a:cubicBezTo>
                <a:lnTo>
                  <a:pt x="20836" y="75009"/>
                </a:lnTo>
                <a:cubicBezTo>
                  <a:pt x="18544" y="75009"/>
                  <a:pt x="16669" y="73134"/>
                  <a:pt x="16669" y="70842"/>
                </a:cubicBezTo>
                <a:lnTo>
                  <a:pt x="16669" y="62508"/>
                </a:lnTo>
                <a:close/>
                <a:moveTo>
                  <a:pt x="45839" y="33337"/>
                </a:moveTo>
                <a:lnTo>
                  <a:pt x="54173" y="33337"/>
                </a:lnTo>
                <a:cubicBezTo>
                  <a:pt x="56465" y="33337"/>
                  <a:pt x="58341" y="35213"/>
                  <a:pt x="58341" y="37505"/>
                </a:cubicBezTo>
                <a:lnTo>
                  <a:pt x="58341" y="45839"/>
                </a:lnTo>
                <a:cubicBezTo>
                  <a:pt x="58341" y="48131"/>
                  <a:pt x="56465" y="50006"/>
                  <a:pt x="54173" y="50006"/>
                </a:cubicBezTo>
                <a:lnTo>
                  <a:pt x="45839" y="50006"/>
                </a:lnTo>
                <a:cubicBezTo>
                  <a:pt x="43547" y="50006"/>
                  <a:pt x="41672" y="48131"/>
                  <a:pt x="41672" y="45839"/>
                </a:cubicBezTo>
                <a:lnTo>
                  <a:pt x="41672" y="37505"/>
                </a:lnTo>
                <a:cubicBezTo>
                  <a:pt x="41672" y="35213"/>
                  <a:pt x="43547" y="33337"/>
                  <a:pt x="45839" y="33337"/>
                </a:cubicBezTo>
                <a:close/>
                <a:moveTo>
                  <a:pt x="41672" y="62508"/>
                </a:moveTo>
                <a:cubicBezTo>
                  <a:pt x="41672" y="60216"/>
                  <a:pt x="43547" y="58341"/>
                  <a:pt x="45839" y="58341"/>
                </a:cubicBezTo>
                <a:lnTo>
                  <a:pt x="54173" y="58341"/>
                </a:lnTo>
                <a:cubicBezTo>
                  <a:pt x="56465" y="58341"/>
                  <a:pt x="58341" y="60216"/>
                  <a:pt x="58341" y="62508"/>
                </a:cubicBezTo>
                <a:lnTo>
                  <a:pt x="58341" y="70842"/>
                </a:lnTo>
                <a:cubicBezTo>
                  <a:pt x="58341" y="73134"/>
                  <a:pt x="56465" y="75009"/>
                  <a:pt x="54173" y="75009"/>
                </a:cubicBezTo>
                <a:lnTo>
                  <a:pt x="45839" y="75009"/>
                </a:lnTo>
                <a:cubicBezTo>
                  <a:pt x="43547" y="75009"/>
                  <a:pt x="41672" y="73134"/>
                  <a:pt x="41672" y="70842"/>
                </a:cubicBezTo>
                <a:lnTo>
                  <a:pt x="41672" y="62508"/>
                </a:lnTo>
                <a:close/>
                <a:moveTo>
                  <a:pt x="45839" y="83344"/>
                </a:moveTo>
                <a:lnTo>
                  <a:pt x="104180" y="83344"/>
                </a:lnTo>
                <a:cubicBezTo>
                  <a:pt x="106472" y="83344"/>
                  <a:pt x="108347" y="85219"/>
                  <a:pt x="108347" y="87511"/>
                </a:cubicBezTo>
                <a:lnTo>
                  <a:pt x="108347" y="95845"/>
                </a:lnTo>
                <a:cubicBezTo>
                  <a:pt x="108347" y="98137"/>
                  <a:pt x="106472" y="100013"/>
                  <a:pt x="104180" y="100013"/>
                </a:cubicBezTo>
                <a:lnTo>
                  <a:pt x="45839" y="100013"/>
                </a:lnTo>
                <a:cubicBezTo>
                  <a:pt x="43547" y="100013"/>
                  <a:pt x="41672" y="98137"/>
                  <a:pt x="41672" y="95845"/>
                </a:cubicBezTo>
                <a:lnTo>
                  <a:pt x="41672" y="87511"/>
                </a:lnTo>
                <a:cubicBezTo>
                  <a:pt x="41672" y="85219"/>
                  <a:pt x="43547" y="83344"/>
                  <a:pt x="45839" y="83344"/>
                </a:cubicBezTo>
                <a:close/>
                <a:moveTo>
                  <a:pt x="66675" y="37505"/>
                </a:moveTo>
                <a:cubicBezTo>
                  <a:pt x="66675" y="35213"/>
                  <a:pt x="68550" y="33337"/>
                  <a:pt x="70842" y="33337"/>
                </a:cubicBezTo>
                <a:lnTo>
                  <a:pt x="79177" y="33337"/>
                </a:lnTo>
                <a:cubicBezTo>
                  <a:pt x="81469" y="33337"/>
                  <a:pt x="83344" y="35213"/>
                  <a:pt x="83344" y="37505"/>
                </a:cubicBezTo>
                <a:lnTo>
                  <a:pt x="83344" y="45839"/>
                </a:lnTo>
                <a:cubicBezTo>
                  <a:pt x="83344" y="48131"/>
                  <a:pt x="81469" y="50006"/>
                  <a:pt x="79177" y="50006"/>
                </a:cubicBezTo>
                <a:lnTo>
                  <a:pt x="70842" y="50006"/>
                </a:lnTo>
                <a:cubicBezTo>
                  <a:pt x="68550" y="50006"/>
                  <a:pt x="66675" y="48131"/>
                  <a:pt x="66675" y="45839"/>
                </a:cubicBezTo>
                <a:lnTo>
                  <a:pt x="66675" y="37505"/>
                </a:lnTo>
                <a:close/>
                <a:moveTo>
                  <a:pt x="70842" y="58341"/>
                </a:moveTo>
                <a:lnTo>
                  <a:pt x="79177" y="58341"/>
                </a:lnTo>
                <a:cubicBezTo>
                  <a:pt x="81469" y="58341"/>
                  <a:pt x="83344" y="60216"/>
                  <a:pt x="83344" y="62508"/>
                </a:cubicBezTo>
                <a:lnTo>
                  <a:pt x="83344" y="70842"/>
                </a:lnTo>
                <a:cubicBezTo>
                  <a:pt x="83344" y="73134"/>
                  <a:pt x="81469" y="75009"/>
                  <a:pt x="79177" y="75009"/>
                </a:cubicBezTo>
                <a:lnTo>
                  <a:pt x="70842" y="75009"/>
                </a:lnTo>
                <a:cubicBezTo>
                  <a:pt x="68550" y="75009"/>
                  <a:pt x="66675" y="73134"/>
                  <a:pt x="66675" y="70842"/>
                </a:cubicBezTo>
                <a:lnTo>
                  <a:pt x="66675" y="62508"/>
                </a:lnTo>
                <a:cubicBezTo>
                  <a:pt x="66675" y="60216"/>
                  <a:pt x="68550" y="58341"/>
                  <a:pt x="70842" y="58341"/>
                </a:cubicBezTo>
                <a:close/>
                <a:moveTo>
                  <a:pt x="91678" y="37505"/>
                </a:moveTo>
                <a:cubicBezTo>
                  <a:pt x="91678" y="35213"/>
                  <a:pt x="93553" y="33337"/>
                  <a:pt x="95845" y="33337"/>
                </a:cubicBezTo>
                <a:lnTo>
                  <a:pt x="104180" y="33337"/>
                </a:lnTo>
                <a:cubicBezTo>
                  <a:pt x="106472" y="33337"/>
                  <a:pt x="108347" y="35213"/>
                  <a:pt x="108347" y="37505"/>
                </a:cubicBezTo>
                <a:lnTo>
                  <a:pt x="108347" y="45839"/>
                </a:lnTo>
                <a:cubicBezTo>
                  <a:pt x="108347" y="48131"/>
                  <a:pt x="106472" y="50006"/>
                  <a:pt x="104180" y="50006"/>
                </a:cubicBezTo>
                <a:lnTo>
                  <a:pt x="95845" y="50006"/>
                </a:lnTo>
                <a:cubicBezTo>
                  <a:pt x="93553" y="50006"/>
                  <a:pt x="91678" y="48131"/>
                  <a:pt x="91678" y="45839"/>
                </a:cubicBezTo>
                <a:lnTo>
                  <a:pt x="91678" y="37505"/>
                </a:lnTo>
                <a:close/>
                <a:moveTo>
                  <a:pt x="95845" y="58341"/>
                </a:moveTo>
                <a:lnTo>
                  <a:pt x="104180" y="58341"/>
                </a:lnTo>
                <a:cubicBezTo>
                  <a:pt x="106472" y="58341"/>
                  <a:pt x="108347" y="60216"/>
                  <a:pt x="108347" y="62508"/>
                </a:cubicBezTo>
                <a:lnTo>
                  <a:pt x="108347" y="70842"/>
                </a:lnTo>
                <a:cubicBezTo>
                  <a:pt x="108347" y="73134"/>
                  <a:pt x="106472" y="75009"/>
                  <a:pt x="104180" y="75009"/>
                </a:cubicBezTo>
                <a:lnTo>
                  <a:pt x="95845" y="75009"/>
                </a:lnTo>
                <a:cubicBezTo>
                  <a:pt x="93553" y="75009"/>
                  <a:pt x="91678" y="73134"/>
                  <a:pt x="91678" y="70842"/>
                </a:cubicBezTo>
                <a:lnTo>
                  <a:pt x="91678" y="62508"/>
                </a:lnTo>
                <a:cubicBezTo>
                  <a:pt x="91678" y="60216"/>
                  <a:pt x="93553" y="58341"/>
                  <a:pt x="95845" y="58341"/>
                </a:cubicBezTo>
                <a:close/>
                <a:moveTo>
                  <a:pt x="116681" y="37505"/>
                </a:moveTo>
                <a:cubicBezTo>
                  <a:pt x="116681" y="35213"/>
                  <a:pt x="118556" y="33337"/>
                  <a:pt x="120848" y="33337"/>
                </a:cubicBezTo>
                <a:lnTo>
                  <a:pt x="129183" y="33337"/>
                </a:lnTo>
                <a:cubicBezTo>
                  <a:pt x="131475" y="33337"/>
                  <a:pt x="133350" y="35213"/>
                  <a:pt x="133350" y="37505"/>
                </a:cubicBezTo>
                <a:lnTo>
                  <a:pt x="133350" y="45839"/>
                </a:lnTo>
                <a:cubicBezTo>
                  <a:pt x="133350" y="48131"/>
                  <a:pt x="131475" y="50006"/>
                  <a:pt x="129183" y="50006"/>
                </a:cubicBezTo>
                <a:lnTo>
                  <a:pt x="120848" y="50006"/>
                </a:lnTo>
                <a:cubicBezTo>
                  <a:pt x="118556" y="50006"/>
                  <a:pt x="116681" y="48131"/>
                  <a:pt x="116681" y="45839"/>
                </a:cubicBezTo>
                <a:lnTo>
                  <a:pt x="116681" y="37505"/>
                </a:lnTo>
                <a:close/>
                <a:moveTo>
                  <a:pt x="120848" y="58341"/>
                </a:moveTo>
                <a:lnTo>
                  <a:pt x="129183" y="58341"/>
                </a:lnTo>
                <a:cubicBezTo>
                  <a:pt x="131475" y="58341"/>
                  <a:pt x="133350" y="60216"/>
                  <a:pt x="133350" y="62508"/>
                </a:cubicBezTo>
                <a:lnTo>
                  <a:pt x="133350" y="70842"/>
                </a:lnTo>
                <a:cubicBezTo>
                  <a:pt x="133350" y="73134"/>
                  <a:pt x="131475" y="75009"/>
                  <a:pt x="129183" y="75009"/>
                </a:cubicBezTo>
                <a:lnTo>
                  <a:pt x="120848" y="75009"/>
                </a:lnTo>
                <a:cubicBezTo>
                  <a:pt x="118556" y="75009"/>
                  <a:pt x="116681" y="73134"/>
                  <a:pt x="116681" y="70842"/>
                </a:cubicBezTo>
                <a:lnTo>
                  <a:pt x="116681" y="62508"/>
                </a:lnTo>
                <a:cubicBezTo>
                  <a:pt x="116681" y="60216"/>
                  <a:pt x="118556" y="58341"/>
                  <a:pt x="120848" y="5834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783908" y="3434721"/>
            <a:ext cx="1114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collection phase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70885" y="1337310"/>
            <a:ext cx="2760345" cy="2407920"/>
          </a:xfrm>
          <a:prstGeom prst="roundRect">
            <a:avLst>
              <a:gd name="adj" fmla="val 4747"/>
            </a:avLst>
          </a:prstGeom>
          <a:gradFill flip="none" rotWithShape="1">
            <a:gsLst>
              <a:gs pos="0">
                <a:srgbClr val="A855F7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 w="10160">
            <a:solidFill>
              <a:srgbClr val="A855F7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27095" y="1493523"/>
            <a:ext cx="381000" cy="381000"/>
          </a:xfrm>
          <a:prstGeom prst="roundRect">
            <a:avLst>
              <a:gd name="adj" fmla="val 30000"/>
            </a:avLst>
          </a:prstGeom>
          <a:gradFill flip="none" rotWithShape="1">
            <a:gsLst>
              <a:gs pos="0">
                <a:srgbClr val="A855F7"/>
              </a:gs>
              <a:gs pos="100000">
                <a:srgbClr val="9333EA"/>
              </a:gs>
            </a:gsLst>
            <a:lin ang="2700000" scaled="1"/>
          </a:gradFill>
          <a:ln/>
        </p:spPr>
      </p:sp>
      <p:sp>
        <p:nvSpPr>
          <p:cNvPr id="16" name="Text 14"/>
          <p:cNvSpPr/>
          <p:nvPr/>
        </p:nvSpPr>
        <p:spPr>
          <a:xfrm>
            <a:off x="3562231" y="1550673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22395" y="1679260"/>
            <a:ext cx="1952625" cy="9525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A855F7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8" name="Text 16"/>
          <p:cNvSpPr/>
          <p:nvPr/>
        </p:nvSpPr>
        <p:spPr>
          <a:xfrm>
            <a:off x="3427095" y="1988823"/>
            <a:ext cx="2533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Competitor Scraping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27095" y="2331723"/>
            <a:ext cx="251460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A85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CompetitorScraper</a:t>
            </a:r>
            <a:r>
              <a:rPr lang="en-US" sz="105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visits each URL via Firecrawl and returns structured product data including descriptions, features, and pricing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427095" y="3316603"/>
            <a:ext cx="2447925" cy="7620"/>
          </a:xfrm>
          <a:prstGeom prst="roundRect">
            <a:avLst>
              <a:gd name="adj" fmla="val 0"/>
            </a:avLst>
          </a:prstGeom>
          <a:solidFill>
            <a:srgbClr val="A855F7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446145" y="34441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96184" y="-8074"/>
                </a:moveTo>
                <a:cubicBezTo>
                  <a:pt x="99283" y="-8985"/>
                  <a:pt x="102539" y="-7371"/>
                  <a:pt x="103737" y="-4454"/>
                </a:cubicBezTo>
                <a:lnTo>
                  <a:pt x="103945" y="-3855"/>
                </a:lnTo>
                <a:lnTo>
                  <a:pt x="114363" y="31566"/>
                </a:lnTo>
                <a:cubicBezTo>
                  <a:pt x="115014" y="33754"/>
                  <a:pt x="114389" y="36124"/>
                  <a:pt x="112775" y="37739"/>
                </a:cubicBezTo>
                <a:lnTo>
                  <a:pt x="96080" y="54434"/>
                </a:lnTo>
                <a:lnTo>
                  <a:pt x="115978" y="49017"/>
                </a:lnTo>
                <a:lnTo>
                  <a:pt x="121161" y="33442"/>
                </a:lnTo>
                <a:lnTo>
                  <a:pt x="121395" y="32843"/>
                </a:lnTo>
                <a:cubicBezTo>
                  <a:pt x="122698" y="29952"/>
                  <a:pt x="126005" y="28467"/>
                  <a:pt x="129079" y="29483"/>
                </a:cubicBezTo>
                <a:cubicBezTo>
                  <a:pt x="132152" y="30499"/>
                  <a:pt x="133897" y="33676"/>
                  <a:pt x="133194" y="36775"/>
                </a:cubicBezTo>
                <a:lnTo>
                  <a:pt x="133011" y="37401"/>
                </a:lnTo>
                <a:lnTo>
                  <a:pt x="126761" y="56153"/>
                </a:lnTo>
                <a:cubicBezTo>
                  <a:pt x="126110" y="58132"/>
                  <a:pt x="124495" y="59643"/>
                  <a:pt x="122463" y="60216"/>
                </a:cubicBezTo>
                <a:lnTo>
                  <a:pt x="98736" y="66675"/>
                </a:lnTo>
                <a:lnTo>
                  <a:pt x="122463" y="73134"/>
                </a:lnTo>
                <a:cubicBezTo>
                  <a:pt x="124469" y="73681"/>
                  <a:pt x="126083" y="75218"/>
                  <a:pt x="126761" y="77197"/>
                </a:cubicBezTo>
                <a:lnTo>
                  <a:pt x="133011" y="95949"/>
                </a:lnTo>
                <a:lnTo>
                  <a:pt x="133194" y="96575"/>
                </a:lnTo>
                <a:cubicBezTo>
                  <a:pt x="133897" y="99674"/>
                  <a:pt x="132126" y="102851"/>
                  <a:pt x="129079" y="103867"/>
                </a:cubicBezTo>
                <a:cubicBezTo>
                  <a:pt x="126005" y="104883"/>
                  <a:pt x="122698" y="103398"/>
                  <a:pt x="121395" y="100507"/>
                </a:cubicBezTo>
                <a:lnTo>
                  <a:pt x="121161" y="99908"/>
                </a:lnTo>
                <a:lnTo>
                  <a:pt x="115978" y="84333"/>
                </a:lnTo>
                <a:lnTo>
                  <a:pt x="96080" y="78916"/>
                </a:lnTo>
                <a:lnTo>
                  <a:pt x="112775" y="95611"/>
                </a:lnTo>
                <a:cubicBezTo>
                  <a:pt x="114363" y="97200"/>
                  <a:pt x="114988" y="99544"/>
                  <a:pt x="114389" y="101705"/>
                </a:cubicBezTo>
                <a:lnTo>
                  <a:pt x="103971" y="139210"/>
                </a:lnTo>
                <a:lnTo>
                  <a:pt x="103763" y="139809"/>
                </a:lnTo>
                <a:cubicBezTo>
                  <a:pt x="102617" y="142752"/>
                  <a:pt x="99387" y="144419"/>
                  <a:pt x="96262" y="143560"/>
                </a:cubicBezTo>
                <a:cubicBezTo>
                  <a:pt x="93137" y="142700"/>
                  <a:pt x="91235" y="139601"/>
                  <a:pt x="91782" y="136475"/>
                </a:cubicBezTo>
                <a:lnTo>
                  <a:pt x="91913" y="135850"/>
                </a:lnTo>
                <a:lnTo>
                  <a:pt x="101341" y="101862"/>
                </a:lnTo>
                <a:lnTo>
                  <a:pt x="91652" y="92173"/>
                </a:lnTo>
                <a:cubicBezTo>
                  <a:pt x="91418" y="105742"/>
                  <a:pt x="80323" y="116681"/>
                  <a:pt x="66675" y="116681"/>
                </a:cubicBezTo>
                <a:cubicBezTo>
                  <a:pt x="53027" y="116681"/>
                  <a:pt x="41932" y="105742"/>
                  <a:pt x="41672" y="92173"/>
                </a:cubicBezTo>
                <a:lnTo>
                  <a:pt x="32035" y="101810"/>
                </a:lnTo>
                <a:lnTo>
                  <a:pt x="41411" y="133663"/>
                </a:lnTo>
                <a:lnTo>
                  <a:pt x="41568" y="134288"/>
                </a:lnTo>
                <a:cubicBezTo>
                  <a:pt x="42141" y="137387"/>
                  <a:pt x="40291" y="140512"/>
                  <a:pt x="37192" y="141424"/>
                </a:cubicBezTo>
                <a:cubicBezTo>
                  <a:pt x="34093" y="142335"/>
                  <a:pt x="30837" y="140721"/>
                  <a:pt x="29639" y="137804"/>
                </a:cubicBezTo>
                <a:lnTo>
                  <a:pt x="29431" y="137205"/>
                </a:lnTo>
                <a:lnTo>
                  <a:pt x="19013" y="101784"/>
                </a:lnTo>
                <a:cubicBezTo>
                  <a:pt x="18362" y="99596"/>
                  <a:pt x="18987" y="97226"/>
                  <a:pt x="20602" y="95585"/>
                </a:cubicBezTo>
                <a:lnTo>
                  <a:pt x="37296" y="78890"/>
                </a:lnTo>
                <a:lnTo>
                  <a:pt x="17398" y="84307"/>
                </a:lnTo>
                <a:lnTo>
                  <a:pt x="12215" y="99882"/>
                </a:lnTo>
                <a:lnTo>
                  <a:pt x="11981" y="100481"/>
                </a:lnTo>
                <a:cubicBezTo>
                  <a:pt x="10678" y="103372"/>
                  <a:pt x="7371" y="104857"/>
                  <a:pt x="4297" y="103841"/>
                </a:cubicBezTo>
                <a:cubicBezTo>
                  <a:pt x="1224" y="102825"/>
                  <a:pt x="-521" y="99648"/>
                  <a:pt x="182" y="96549"/>
                </a:cubicBezTo>
                <a:lnTo>
                  <a:pt x="365" y="95923"/>
                </a:lnTo>
                <a:lnTo>
                  <a:pt x="6615" y="77171"/>
                </a:lnTo>
                <a:cubicBezTo>
                  <a:pt x="7267" y="75192"/>
                  <a:pt x="8881" y="73681"/>
                  <a:pt x="10913" y="73108"/>
                </a:cubicBezTo>
                <a:lnTo>
                  <a:pt x="34640" y="66649"/>
                </a:lnTo>
                <a:lnTo>
                  <a:pt x="10913" y="60190"/>
                </a:lnTo>
                <a:cubicBezTo>
                  <a:pt x="8907" y="59643"/>
                  <a:pt x="7293" y="58106"/>
                  <a:pt x="6615" y="56127"/>
                </a:cubicBezTo>
                <a:lnTo>
                  <a:pt x="365" y="37374"/>
                </a:lnTo>
                <a:lnTo>
                  <a:pt x="182" y="36749"/>
                </a:lnTo>
                <a:cubicBezTo>
                  <a:pt x="-521" y="33650"/>
                  <a:pt x="1250" y="30473"/>
                  <a:pt x="4297" y="29457"/>
                </a:cubicBezTo>
                <a:cubicBezTo>
                  <a:pt x="7345" y="28441"/>
                  <a:pt x="10678" y="29926"/>
                  <a:pt x="11981" y="32817"/>
                </a:cubicBezTo>
                <a:lnTo>
                  <a:pt x="12215" y="33416"/>
                </a:lnTo>
                <a:lnTo>
                  <a:pt x="17398" y="48990"/>
                </a:lnTo>
                <a:lnTo>
                  <a:pt x="37296" y="54408"/>
                </a:lnTo>
                <a:lnTo>
                  <a:pt x="20602" y="37713"/>
                </a:lnTo>
                <a:cubicBezTo>
                  <a:pt x="18987" y="36098"/>
                  <a:pt x="18388" y="33728"/>
                  <a:pt x="19013" y="31540"/>
                </a:cubicBezTo>
                <a:lnTo>
                  <a:pt x="29431" y="-3881"/>
                </a:lnTo>
                <a:lnTo>
                  <a:pt x="29639" y="-4480"/>
                </a:lnTo>
                <a:cubicBezTo>
                  <a:pt x="30837" y="-7423"/>
                  <a:pt x="34093" y="-9012"/>
                  <a:pt x="37192" y="-8100"/>
                </a:cubicBezTo>
                <a:cubicBezTo>
                  <a:pt x="40291" y="-7188"/>
                  <a:pt x="42141" y="-4063"/>
                  <a:pt x="41568" y="-964"/>
                </a:cubicBezTo>
                <a:lnTo>
                  <a:pt x="41411" y="-339"/>
                </a:lnTo>
                <a:lnTo>
                  <a:pt x="32035" y="31514"/>
                </a:lnTo>
                <a:lnTo>
                  <a:pt x="45839" y="45318"/>
                </a:lnTo>
                <a:cubicBezTo>
                  <a:pt x="46100" y="34041"/>
                  <a:pt x="55319" y="24977"/>
                  <a:pt x="66649" y="24977"/>
                </a:cubicBezTo>
                <a:cubicBezTo>
                  <a:pt x="77978" y="24977"/>
                  <a:pt x="87198" y="34041"/>
                  <a:pt x="87459" y="45344"/>
                </a:cubicBezTo>
                <a:lnTo>
                  <a:pt x="101289" y="31514"/>
                </a:lnTo>
                <a:lnTo>
                  <a:pt x="91913" y="-339"/>
                </a:lnTo>
                <a:lnTo>
                  <a:pt x="91756" y="-964"/>
                </a:lnTo>
                <a:cubicBezTo>
                  <a:pt x="91183" y="-4089"/>
                  <a:pt x="93032" y="-7188"/>
                  <a:pt x="96132" y="-8100"/>
                </a:cubicBezTo>
                <a:close/>
              </a:path>
            </a:pathLst>
          </a:custGeom>
          <a:solidFill>
            <a:srgbClr val="A855F7"/>
          </a:solidFill>
          <a:ln/>
        </p:spPr>
      </p:sp>
      <p:sp>
        <p:nvSpPr>
          <p:cNvPr id="22" name="Text 20"/>
          <p:cNvSpPr/>
          <p:nvPr/>
        </p:nvSpPr>
        <p:spPr>
          <a:xfrm>
            <a:off x="3669983" y="3434721"/>
            <a:ext cx="1085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A85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 to 5 URLs per run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56960" y="1337310"/>
            <a:ext cx="2760345" cy="2407920"/>
          </a:xfrm>
          <a:prstGeom prst="roundRect">
            <a:avLst>
              <a:gd name="adj" fmla="val 4747"/>
            </a:avLst>
          </a:prstGeom>
          <a:gradFill flip="none" rotWithShape="1">
            <a:gsLst>
              <a:gs pos="0">
                <a:srgbClr val="22D3E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 w="10160">
            <a:solidFill>
              <a:srgbClr val="22D3EE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13170" y="1493523"/>
            <a:ext cx="381000" cy="381000"/>
          </a:xfrm>
          <a:prstGeom prst="roundRect">
            <a:avLst>
              <a:gd name="adj" fmla="val 30000"/>
            </a:avLst>
          </a:prstGeom>
          <a:gradFill flip="none" rotWithShape="1">
            <a:gsLst>
              <a:gs pos="0">
                <a:srgbClr val="22D3EE"/>
              </a:gs>
              <a:gs pos="100000">
                <a:srgbClr val="06B6D4"/>
              </a:gs>
            </a:gsLst>
            <a:lin ang="2700000" scaled="1"/>
          </a:gradFill>
          <a:ln/>
        </p:spPr>
      </p:sp>
      <p:sp>
        <p:nvSpPr>
          <p:cNvPr id="25" name="Text 23"/>
          <p:cNvSpPr/>
          <p:nvPr/>
        </p:nvSpPr>
        <p:spPr>
          <a:xfrm>
            <a:off x="6447473" y="1550673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808470" y="1679260"/>
            <a:ext cx="1952625" cy="9525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22D3EE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7" name="Text 25"/>
          <p:cNvSpPr/>
          <p:nvPr/>
        </p:nvSpPr>
        <p:spPr>
          <a:xfrm>
            <a:off x="6313170" y="1988823"/>
            <a:ext cx="2533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Claude Analysis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13170" y="2331723"/>
            <a:ext cx="251460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Claude analyzes all competitor data and extracts </a:t>
            </a:r>
            <a:r>
              <a:rPr lang="en-US" sz="1050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tone</a:t>
            </a:r>
            <a:r>
              <a:rPr lang="en-US" sz="105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r>
              <a:rPr lang="en-US" sz="1050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USPs</a:t>
            </a:r>
            <a:r>
              <a:rPr lang="en-US" sz="105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r>
              <a:rPr lang="en-US" sz="1050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keyword patterns</a:t>
            </a:r>
            <a:r>
              <a:rPr lang="en-US" sz="105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</a:t>
            </a:r>
            <a:r>
              <a:rPr lang="en-US" sz="1050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gaps</a:t>
            </a:r>
            <a:r>
              <a:rPr lang="en-US" sz="105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strategic insights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13170" y="3316603"/>
            <a:ext cx="2447925" cy="7620"/>
          </a:xfrm>
          <a:prstGeom prst="roundRect">
            <a:avLst>
              <a:gd name="adj" fmla="val 0"/>
            </a:avLst>
          </a:prstGeom>
          <a:solidFill>
            <a:srgbClr val="22D3EE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332220" y="34441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1254" y="14585"/>
                </a:moveTo>
                <a:cubicBezTo>
                  <a:pt x="31254" y="6537"/>
                  <a:pt x="37791" y="0"/>
                  <a:pt x="45839" y="0"/>
                </a:cubicBezTo>
                <a:lnTo>
                  <a:pt x="52090" y="0"/>
                </a:lnTo>
                <a:cubicBezTo>
                  <a:pt x="56700" y="0"/>
                  <a:pt x="60424" y="3724"/>
                  <a:pt x="60424" y="8334"/>
                </a:cubicBezTo>
                <a:lnTo>
                  <a:pt x="60424" y="125016"/>
                </a:lnTo>
                <a:cubicBezTo>
                  <a:pt x="60424" y="129626"/>
                  <a:pt x="56700" y="133350"/>
                  <a:pt x="52090" y="133350"/>
                </a:cubicBezTo>
                <a:lnTo>
                  <a:pt x="43755" y="133350"/>
                </a:lnTo>
                <a:cubicBezTo>
                  <a:pt x="35994" y="133350"/>
                  <a:pt x="29457" y="128037"/>
                  <a:pt x="27608" y="120848"/>
                </a:cubicBezTo>
                <a:cubicBezTo>
                  <a:pt x="27425" y="120848"/>
                  <a:pt x="27269" y="120848"/>
                  <a:pt x="27087" y="120848"/>
                </a:cubicBezTo>
                <a:cubicBezTo>
                  <a:pt x="15575" y="120848"/>
                  <a:pt x="6251" y="111524"/>
                  <a:pt x="6251" y="100013"/>
                </a:cubicBezTo>
                <a:cubicBezTo>
                  <a:pt x="6251" y="95324"/>
                  <a:pt x="7813" y="91001"/>
                  <a:pt x="10418" y="87511"/>
                </a:cubicBezTo>
                <a:cubicBezTo>
                  <a:pt x="5365" y="83708"/>
                  <a:pt x="2084" y="77666"/>
                  <a:pt x="2084" y="70842"/>
                </a:cubicBezTo>
                <a:cubicBezTo>
                  <a:pt x="2084" y="62794"/>
                  <a:pt x="6668" y="55788"/>
                  <a:pt x="13335" y="52324"/>
                </a:cubicBezTo>
                <a:cubicBezTo>
                  <a:pt x="11486" y="49199"/>
                  <a:pt x="10418" y="45553"/>
                  <a:pt x="10418" y="41672"/>
                </a:cubicBezTo>
                <a:cubicBezTo>
                  <a:pt x="10418" y="30160"/>
                  <a:pt x="19742" y="20836"/>
                  <a:pt x="31254" y="20836"/>
                </a:cubicBezTo>
                <a:lnTo>
                  <a:pt x="31254" y="14585"/>
                </a:lnTo>
                <a:close/>
                <a:moveTo>
                  <a:pt x="102096" y="14585"/>
                </a:moveTo>
                <a:lnTo>
                  <a:pt x="102096" y="20836"/>
                </a:lnTo>
                <a:cubicBezTo>
                  <a:pt x="113608" y="20836"/>
                  <a:pt x="122932" y="30160"/>
                  <a:pt x="122932" y="41672"/>
                </a:cubicBezTo>
                <a:cubicBezTo>
                  <a:pt x="122932" y="45579"/>
                  <a:pt x="121864" y="49225"/>
                  <a:pt x="120015" y="52324"/>
                </a:cubicBezTo>
                <a:cubicBezTo>
                  <a:pt x="126709" y="55788"/>
                  <a:pt x="131266" y="62768"/>
                  <a:pt x="131266" y="70842"/>
                </a:cubicBezTo>
                <a:cubicBezTo>
                  <a:pt x="131266" y="77666"/>
                  <a:pt x="127985" y="83708"/>
                  <a:pt x="122932" y="87511"/>
                </a:cubicBezTo>
                <a:cubicBezTo>
                  <a:pt x="125537" y="91001"/>
                  <a:pt x="127099" y="95324"/>
                  <a:pt x="127099" y="100013"/>
                </a:cubicBezTo>
                <a:cubicBezTo>
                  <a:pt x="127099" y="111524"/>
                  <a:pt x="117775" y="120848"/>
                  <a:pt x="106263" y="120848"/>
                </a:cubicBezTo>
                <a:cubicBezTo>
                  <a:pt x="106081" y="120848"/>
                  <a:pt x="105925" y="120848"/>
                  <a:pt x="105742" y="120848"/>
                </a:cubicBezTo>
                <a:cubicBezTo>
                  <a:pt x="103893" y="128037"/>
                  <a:pt x="97356" y="133350"/>
                  <a:pt x="89595" y="133350"/>
                </a:cubicBezTo>
                <a:lnTo>
                  <a:pt x="81260" y="133350"/>
                </a:lnTo>
                <a:cubicBezTo>
                  <a:pt x="76650" y="133350"/>
                  <a:pt x="72926" y="129626"/>
                  <a:pt x="72926" y="125016"/>
                </a:cubicBezTo>
                <a:lnTo>
                  <a:pt x="72926" y="8334"/>
                </a:lnTo>
                <a:cubicBezTo>
                  <a:pt x="72926" y="3724"/>
                  <a:pt x="76650" y="0"/>
                  <a:pt x="81260" y="0"/>
                </a:cubicBezTo>
                <a:lnTo>
                  <a:pt x="87511" y="0"/>
                </a:lnTo>
                <a:cubicBezTo>
                  <a:pt x="95559" y="0"/>
                  <a:pt x="102096" y="6537"/>
                  <a:pt x="102096" y="14585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31" name="Text 29"/>
          <p:cNvSpPr/>
          <p:nvPr/>
        </p:nvSpPr>
        <p:spPr>
          <a:xfrm>
            <a:off x="6556057" y="3434721"/>
            <a:ext cx="1257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intelligence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043035" y="1337310"/>
            <a:ext cx="2760345" cy="2407920"/>
          </a:xfrm>
          <a:prstGeom prst="roundRect">
            <a:avLst>
              <a:gd name="adj" fmla="val 4747"/>
            </a:avLst>
          </a:prstGeom>
          <a:gradFill flip="none" rotWithShape="1">
            <a:gsLst>
              <a:gs pos="0">
                <a:srgbClr val="F97316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 w="10160">
            <a:solidFill>
              <a:srgbClr val="F97316">
                <a:alpha val="3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99245" y="1493523"/>
            <a:ext cx="381000" cy="381000"/>
          </a:xfrm>
          <a:prstGeom prst="roundRect">
            <a:avLst>
              <a:gd name="adj" fmla="val 30000"/>
            </a:avLst>
          </a:prstGeom>
          <a:gradFill flip="none" rotWithShape="1">
            <a:gsLst>
              <a:gs pos="0">
                <a:srgbClr val="F97316"/>
              </a:gs>
              <a:gs pos="100000">
                <a:srgbClr val="EA580C"/>
              </a:gs>
            </a:gsLst>
            <a:lin ang="2700000" scaled="1"/>
          </a:gradFill>
          <a:ln/>
        </p:spPr>
      </p:sp>
      <p:sp>
        <p:nvSpPr>
          <p:cNvPr id="34" name="Text 32"/>
          <p:cNvSpPr/>
          <p:nvPr/>
        </p:nvSpPr>
        <p:spPr>
          <a:xfrm>
            <a:off x="9333548" y="1550673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694545" y="1679260"/>
            <a:ext cx="1952625" cy="9525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F97316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6" name="Text 34"/>
          <p:cNvSpPr/>
          <p:nvPr/>
        </p:nvSpPr>
        <p:spPr>
          <a:xfrm>
            <a:off x="9199245" y="1988823"/>
            <a:ext cx="2533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Memory Retrieval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199245" y="2331723"/>
            <a:ext cx="251460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MemoryManager</a:t>
            </a:r>
            <a:r>
              <a:rPr lang="en-US" sz="105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queries mem0 for relevant past successful descriptions matching current product category and keywords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199245" y="3316603"/>
            <a:ext cx="2447925" cy="7620"/>
          </a:xfrm>
          <a:prstGeom prst="roundRect">
            <a:avLst>
              <a:gd name="adj" fmla="val 0"/>
            </a:avLst>
          </a:prstGeom>
          <a:solidFill>
            <a:srgbClr val="F97316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9218295" y="34441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6669" y="16669"/>
                </a:moveTo>
                <a:cubicBezTo>
                  <a:pt x="7475" y="16669"/>
                  <a:pt x="0" y="24144"/>
                  <a:pt x="0" y="33337"/>
                </a:cubicBezTo>
                <a:lnTo>
                  <a:pt x="0" y="35265"/>
                </a:lnTo>
                <a:cubicBezTo>
                  <a:pt x="0" y="37036"/>
                  <a:pt x="1146" y="38546"/>
                  <a:pt x="2631" y="39510"/>
                </a:cubicBezTo>
                <a:cubicBezTo>
                  <a:pt x="6068" y="41750"/>
                  <a:pt x="8334" y="45605"/>
                  <a:pt x="8334" y="50006"/>
                </a:cubicBezTo>
                <a:cubicBezTo>
                  <a:pt x="8334" y="54408"/>
                  <a:pt x="6068" y="58262"/>
                  <a:pt x="2631" y="60502"/>
                </a:cubicBezTo>
                <a:cubicBezTo>
                  <a:pt x="1146" y="61466"/>
                  <a:pt x="0" y="62977"/>
                  <a:pt x="0" y="64748"/>
                </a:cubicBezTo>
                <a:lnTo>
                  <a:pt x="0" y="79177"/>
                </a:lnTo>
                <a:lnTo>
                  <a:pt x="133350" y="79177"/>
                </a:lnTo>
                <a:lnTo>
                  <a:pt x="133350" y="64748"/>
                </a:lnTo>
                <a:cubicBezTo>
                  <a:pt x="133350" y="62977"/>
                  <a:pt x="132204" y="61466"/>
                  <a:pt x="130719" y="60502"/>
                </a:cubicBezTo>
                <a:cubicBezTo>
                  <a:pt x="127282" y="58262"/>
                  <a:pt x="125016" y="54408"/>
                  <a:pt x="125016" y="50006"/>
                </a:cubicBezTo>
                <a:cubicBezTo>
                  <a:pt x="125016" y="45605"/>
                  <a:pt x="127282" y="41750"/>
                  <a:pt x="130719" y="39510"/>
                </a:cubicBezTo>
                <a:cubicBezTo>
                  <a:pt x="132204" y="38546"/>
                  <a:pt x="133350" y="37036"/>
                  <a:pt x="133350" y="35265"/>
                </a:cubicBezTo>
                <a:lnTo>
                  <a:pt x="133350" y="33337"/>
                </a:lnTo>
                <a:cubicBezTo>
                  <a:pt x="133350" y="24144"/>
                  <a:pt x="125875" y="16669"/>
                  <a:pt x="116681" y="16669"/>
                </a:cubicBezTo>
                <a:lnTo>
                  <a:pt x="16669" y="16669"/>
                </a:lnTo>
                <a:close/>
                <a:moveTo>
                  <a:pt x="133350" y="108347"/>
                </a:moveTo>
                <a:lnTo>
                  <a:pt x="133350" y="91678"/>
                </a:lnTo>
                <a:lnTo>
                  <a:pt x="0" y="91678"/>
                </a:lnTo>
                <a:lnTo>
                  <a:pt x="0" y="108347"/>
                </a:lnTo>
                <a:cubicBezTo>
                  <a:pt x="0" y="112957"/>
                  <a:pt x="3724" y="116681"/>
                  <a:pt x="8334" y="116681"/>
                </a:cubicBezTo>
                <a:lnTo>
                  <a:pt x="25003" y="116681"/>
                </a:lnTo>
                <a:lnTo>
                  <a:pt x="25003" y="110430"/>
                </a:lnTo>
                <a:cubicBezTo>
                  <a:pt x="25003" y="106966"/>
                  <a:pt x="27790" y="104180"/>
                  <a:pt x="31254" y="104180"/>
                </a:cubicBezTo>
                <a:cubicBezTo>
                  <a:pt x="34718" y="104180"/>
                  <a:pt x="37505" y="106966"/>
                  <a:pt x="37505" y="110430"/>
                </a:cubicBezTo>
                <a:lnTo>
                  <a:pt x="37505" y="116681"/>
                </a:lnTo>
                <a:lnTo>
                  <a:pt x="60424" y="116681"/>
                </a:lnTo>
                <a:lnTo>
                  <a:pt x="60424" y="110430"/>
                </a:lnTo>
                <a:cubicBezTo>
                  <a:pt x="60424" y="106966"/>
                  <a:pt x="63211" y="104180"/>
                  <a:pt x="66675" y="104180"/>
                </a:cubicBezTo>
                <a:cubicBezTo>
                  <a:pt x="70139" y="104180"/>
                  <a:pt x="72926" y="106966"/>
                  <a:pt x="72926" y="110430"/>
                </a:cubicBezTo>
                <a:lnTo>
                  <a:pt x="72926" y="116681"/>
                </a:lnTo>
                <a:lnTo>
                  <a:pt x="95845" y="116681"/>
                </a:lnTo>
                <a:lnTo>
                  <a:pt x="95845" y="110430"/>
                </a:lnTo>
                <a:cubicBezTo>
                  <a:pt x="95845" y="106966"/>
                  <a:pt x="98632" y="104180"/>
                  <a:pt x="102096" y="104180"/>
                </a:cubicBezTo>
                <a:cubicBezTo>
                  <a:pt x="105560" y="104180"/>
                  <a:pt x="108347" y="106966"/>
                  <a:pt x="108347" y="110430"/>
                </a:cubicBezTo>
                <a:lnTo>
                  <a:pt x="108347" y="116681"/>
                </a:lnTo>
                <a:lnTo>
                  <a:pt x="125016" y="116681"/>
                </a:lnTo>
                <a:cubicBezTo>
                  <a:pt x="129626" y="116681"/>
                  <a:pt x="133350" y="112957"/>
                  <a:pt x="133350" y="108347"/>
                </a:cubicBezTo>
                <a:close/>
                <a:moveTo>
                  <a:pt x="41672" y="41672"/>
                </a:moveTo>
                <a:lnTo>
                  <a:pt x="41672" y="58341"/>
                </a:lnTo>
                <a:cubicBezTo>
                  <a:pt x="41672" y="62951"/>
                  <a:pt x="37947" y="66675"/>
                  <a:pt x="33337" y="66675"/>
                </a:cubicBezTo>
                <a:cubicBezTo>
                  <a:pt x="28728" y="66675"/>
                  <a:pt x="25003" y="62951"/>
                  <a:pt x="25003" y="58341"/>
                </a:cubicBezTo>
                <a:lnTo>
                  <a:pt x="25003" y="41672"/>
                </a:lnTo>
                <a:cubicBezTo>
                  <a:pt x="25003" y="37062"/>
                  <a:pt x="28728" y="33337"/>
                  <a:pt x="33337" y="33337"/>
                </a:cubicBezTo>
                <a:cubicBezTo>
                  <a:pt x="37947" y="33337"/>
                  <a:pt x="41672" y="37062"/>
                  <a:pt x="41672" y="41672"/>
                </a:cubicBezTo>
                <a:close/>
                <a:moveTo>
                  <a:pt x="75009" y="41672"/>
                </a:moveTo>
                <a:lnTo>
                  <a:pt x="75009" y="58341"/>
                </a:lnTo>
                <a:cubicBezTo>
                  <a:pt x="75009" y="62951"/>
                  <a:pt x="71285" y="66675"/>
                  <a:pt x="66675" y="66675"/>
                </a:cubicBezTo>
                <a:cubicBezTo>
                  <a:pt x="62065" y="66675"/>
                  <a:pt x="58341" y="62951"/>
                  <a:pt x="58341" y="58341"/>
                </a:cubicBezTo>
                <a:lnTo>
                  <a:pt x="58341" y="41672"/>
                </a:lnTo>
                <a:cubicBezTo>
                  <a:pt x="58341" y="37062"/>
                  <a:pt x="62065" y="33337"/>
                  <a:pt x="66675" y="33337"/>
                </a:cubicBezTo>
                <a:cubicBezTo>
                  <a:pt x="71285" y="33337"/>
                  <a:pt x="75009" y="37062"/>
                  <a:pt x="75009" y="41672"/>
                </a:cubicBezTo>
                <a:close/>
                <a:moveTo>
                  <a:pt x="108347" y="41672"/>
                </a:moveTo>
                <a:lnTo>
                  <a:pt x="108347" y="58341"/>
                </a:lnTo>
                <a:cubicBezTo>
                  <a:pt x="108347" y="62951"/>
                  <a:pt x="104622" y="66675"/>
                  <a:pt x="100013" y="66675"/>
                </a:cubicBezTo>
                <a:cubicBezTo>
                  <a:pt x="95403" y="66675"/>
                  <a:pt x="91678" y="62951"/>
                  <a:pt x="91678" y="58341"/>
                </a:cubicBezTo>
                <a:lnTo>
                  <a:pt x="91678" y="41672"/>
                </a:lnTo>
                <a:cubicBezTo>
                  <a:pt x="91678" y="37062"/>
                  <a:pt x="95403" y="33337"/>
                  <a:pt x="100013" y="33337"/>
                </a:cubicBezTo>
                <a:cubicBezTo>
                  <a:pt x="104622" y="33337"/>
                  <a:pt x="108347" y="37062"/>
                  <a:pt x="108347" y="41672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40" name="Text 38"/>
          <p:cNvSpPr/>
          <p:nvPr/>
        </p:nvSpPr>
        <p:spPr>
          <a:xfrm>
            <a:off x="9442132" y="3434721"/>
            <a:ext cx="1009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Contextual learning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84810" y="3865128"/>
            <a:ext cx="2760345" cy="2407920"/>
          </a:xfrm>
          <a:prstGeom prst="roundRect">
            <a:avLst>
              <a:gd name="adj" fmla="val 4747"/>
            </a:avLst>
          </a:prstGeom>
          <a:gradFill flip="none" rotWithShape="1">
            <a:gsLst>
              <a:gs pos="0">
                <a:srgbClr val="6366F1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1020" y="4021336"/>
            <a:ext cx="381000" cy="381000"/>
          </a:xfrm>
          <a:prstGeom prst="roundRect">
            <a:avLst>
              <a:gd name="adj" fmla="val 30000"/>
            </a:avLst>
          </a:prstGeom>
          <a:gradFill flip="none" rotWithShape="1">
            <a:gsLst>
              <a:gs pos="0">
                <a:srgbClr val="6366F1"/>
              </a:gs>
              <a:gs pos="100000">
                <a:srgbClr val="4F46E5"/>
              </a:gs>
            </a:gsLst>
            <a:lin ang="2700000" scaled="1"/>
          </a:gradFill>
          <a:ln/>
        </p:spPr>
      </p:sp>
      <p:sp>
        <p:nvSpPr>
          <p:cNvPr id="43" name="Text 41"/>
          <p:cNvSpPr/>
          <p:nvPr/>
        </p:nvSpPr>
        <p:spPr>
          <a:xfrm>
            <a:off x="676632" y="4078486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036320" y="4207073"/>
            <a:ext cx="1952625" cy="9525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6366F1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5" name="Text 43"/>
          <p:cNvSpPr/>
          <p:nvPr/>
        </p:nvSpPr>
        <p:spPr>
          <a:xfrm>
            <a:off x="541020" y="4516636"/>
            <a:ext cx="2533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Variant Generation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41020" y="4859536"/>
            <a:ext cx="251460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Claude generates </a:t>
            </a:r>
            <a:r>
              <a:rPr lang="en-US" sz="1050" b="1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unique variants</a:t>
            </a:r>
            <a:r>
              <a:rPr lang="en-US" sz="105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strict JSON format using all context — competitor insights, memory, and user inputs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41020" y="5844421"/>
            <a:ext cx="2447925" cy="7620"/>
          </a:xfrm>
          <a:prstGeom prst="roundRect">
            <a:avLst>
              <a:gd name="adj" fmla="val 0"/>
            </a:avLst>
          </a:prstGeom>
          <a:solidFill>
            <a:srgbClr val="6366F1">
              <a:alpha val="2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60070" y="597194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03789" y="3177"/>
                </a:moveTo>
                <a:lnTo>
                  <a:pt x="80817" y="26149"/>
                </a:lnTo>
                <a:lnTo>
                  <a:pt x="107201" y="52533"/>
                </a:lnTo>
                <a:lnTo>
                  <a:pt x="130173" y="29561"/>
                </a:lnTo>
                <a:cubicBezTo>
                  <a:pt x="132204" y="27503"/>
                  <a:pt x="133350" y="24743"/>
                  <a:pt x="133350" y="21878"/>
                </a:cubicBezTo>
                <a:cubicBezTo>
                  <a:pt x="133350" y="19013"/>
                  <a:pt x="132204" y="16252"/>
                  <a:pt x="130173" y="14194"/>
                </a:cubicBezTo>
                <a:lnTo>
                  <a:pt x="119156" y="3177"/>
                </a:lnTo>
                <a:cubicBezTo>
                  <a:pt x="117098" y="1146"/>
                  <a:pt x="114337" y="0"/>
                  <a:pt x="111472" y="0"/>
                </a:cubicBezTo>
                <a:cubicBezTo>
                  <a:pt x="108607" y="0"/>
                  <a:pt x="105847" y="1146"/>
                  <a:pt x="103789" y="3177"/>
                </a:cubicBezTo>
                <a:close/>
                <a:moveTo>
                  <a:pt x="71988" y="34978"/>
                </a:moveTo>
                <a:lnTo>
                  <a:pt x="3177" y="103789"/>
                </a:lnTo>
                <a:cubicBezTo>
                  <a:pt x="1146" y="105847"/>
                  <a:pt x="0" y="108607"/>
                  <a:pt x="0" y="111472"/>
                </a:cubicBezTo>
                <a:cubicBezTo>
                  <a:pt x="0" y="114337"/>
                  <a:pt x="1146" y="117098"/>
                  <a:pt x="3177" y="119156"/>
                </a:cubicBezTo>
                <a:lnTo>
                  <a:pt x="14194" y="130173"/>
                </a:lnTo>
                <a:cubicBezTo>
                  <a:pt x="16252" y="132204"/>
                  <a:pt x="19013" y="133350"/>
                  <a:pt x="21878" y="133350"/>
                </a:cubicBezTo>
                <a:cubicBezTo>
                  <a:pt x="24743" y="133350"/>
                  <a:pt x="27503" y="132204"/>
                  <a:pt x="29561" y="130173"/>
                </a:cubicBezTo>
                <a:lnTo>
                  <a:pt x="98372" y="61362"/>
                </a:lnTo>
                <a:lnTo>
                  <a:pt x="71988" y="34978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9" name="Text 47"/>
          <p:cNvSpPr/>
          <p:nvPr/>
        </p:nvSpPr>
        <p:spPr>
          <a:xfrm>
            <a:off x="783908" y="5962529"/>
            <a:ext cx="1114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Multi-strategy output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270885" y="3865128"/>
            <a:ext cx="2760345" cy="2407920"/>
          </a:xfrm>
          <a:prstGeom prst="roundRect">
            <a:avLst>
              <a:gd name="adj" fmla="val 4747"/>
            </a:avLst>
          </a:prstGeom>
          <a:gradFill flip="none" rotWithShape="1">
            <a:gsLst>
              <a:gs pos="0">
                <a:srgbClr val="A855F7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 w="10160">
            <a:solidFill>
              <a:srgbClr val="A855F7">
                <a:alpha val="30196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27095" y="4021336"/>
            <a:ext cx="381000" cy="381000"/>
          </a:xfrm>
          <a:prstGeom prst="roundRect">
            <a:avLst>
              <a:gd name="adj" fmla="val 30000"/>
            </a:avLst>
          </a:prstGeom>
          <a:gradFill flip="none" rotWithShape="1">
            <a:gsLst>
              <a:gs pos="0">
                <a:srgbClr val="A855F7"/>
              </a:gs>
              <a:gs pos="100000">
                <a:srgbClr val="9333EA"/>
              </a:gs>
            </a:gsLst>
            <a:lin ang="2700000" scaled="1"/>
          </a:gradFill>
          <a:ln/>
        </p:spPr>
      </p:sp>
      <p:sp>
        <p:nvSpPr>
          <p:cNvPr id="52" name="Text 50"/>
          <p:cNvSpPr/>
          <p:nvPr/>
        </p:nvSpPr>
        <p:spPr>
          <a:xfrm>
            <a:off x="3560564" y="4078486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922395" y="4207073"/>
            <a:ext cx="1952625" cy="9525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A855F7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4" name="Text 52"/>
          <p:cNvSpPr/>
          <p:nvPr/>
        </p:nvSpPr>
        <p:spPr>
          <a:xfrm>
            <a:off x="3427095" y="4516636"/>
            <a:ext cx="2533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SEO Scoring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3427095" y="4859536"/>
            <a:ext cx="251460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SEO scoring engine calculates </a:t>
            </a:r>
            <a:r>
              <a:rPr lang="en-US" sz="1050" b="1" dirty="0">
                <a:solidFill>
                  <a:srgbClr val="A85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0-100 score</a:t>
            </a:r>
            <a:r>
              <a:rPr lang="en-US" sz="105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each variant using 4 weighted components: keywords, length, readability, power words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3427095" y="5844421"/>
            <a:ext cx="2447925" cy="7620"/>
          </a:xfrm>
          <a:prstGeom prst="roundRect">
            <a:avLst>
              <a:gd name="adj" fmla="val 0"/>
            </a:avLst>
          </a:prstGeom>
          <a:solidFill>
            <a:srgbClr val="A855F7">
              <a:alpha val="2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3446145" y="597194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8334" y="8334"/>
                </a:moveTo>
                <a:cubicBezTo>
                  <a:pt x="12944" y="8334"/>
                  <a:pt x="16669" y="12059"/>
                  <a:pt x="16669" y="16669"/>
                </a:cubicBezTo>
                <a:lnTo>
                  <a:pt x="16669" y="104180"/>
                </a:lnTo>
                <a:cubicBezTo>
                  <a:pt x="16669" y="106472"/>
                  <a:pt x="18544" y="108347"/>
                  <a:pt x="20836" y="108347"/>
                </a:cubicBezTo>
                <a:lnTo>
                  <a:pt x="125016" y="108347"/>
                </a:lnTo>
                <a:cubicBezTo>
                  <a:pt x="129626" y="108347"/>
                  <a:pt x="133350" y="112071"/>
                  <a:pt x="133350" y="116681"/>
                </a:cubicBezTo>
                <a:cubicBezTo>
                  <a:pt x="133350" y="121291"/>
                  <a:pt x="129626" y="125016"/>
                  <a:pt x="125016" y="125016"/>
                </a:cubicBezTo>
                <a:lnTo>
                  <a:pt x="20836" y="125016"/>
                </a:lnTo>
                <a:cubicBezTo>
                  <a:pt x="9324" y="125016"/>
                  <a:pt x="0" y="115692"/>
                  <a:pt x="0" y="104180"/>
                </a:cubicBezTo>
                <a:lnTo>
                  <a:pt x="0" y="16669"/>
                </a:lnTo>
                <a:cubicBezTo>
                  <a:pt x="0" y="12059"/>
                  <a:pt x="3724" y="8334"/>
                  <a:pt x="8334" y="8334"/>
                </a:cubicBezTo>
                <a:close/>
                <a:moveTo>
                  <a:pt x="33337" y="25003"/>
                </a:moveTo>
                <a:cubicBezTo>
                  <a:pt x="33337" y="20393"/>
                  <a:pt x="37062" y="16669"/>
                  <a:pt x="41672" y="16669"/>
                </a:cubicBezTo>
                <a:lnTo>
                  <a:pt x="91678" y="16669"/>
                </a:lnTo>
                <a:cubicBezTo>
                  <a:pt x="96288" y="16669"/>
                  <a:pt x="100013" y="20393"/>
                  <a:pt x="100013" y="25003"/>
                </a:cubicBezTo>
                <a:cubicBezTo>
                  <a:pt x="100013" y="29613"/>
                  <a:pt x="96288" y="33337"/>
                  <a:pt x="91678" y="33337"/>
                </a:cubicBezTo>
                <a:lnTo>
                  <a:pt x="41672" y="33337"/>
                </a:lnTo>
                <a:cubicBezTo>
                  <a:pt x="37062" y="33337"/>
                  <a:pt x="33337" y="29613"/>
                  <a:pt x="33337" y="25003"/>
                </a:cubicBezTo>
                <a:close/>
                <a:moveTo>
                  <a:pt x="41672" y="45839"/>
                </a:moveTo>
                <a:lnTo>
                  <a:pt x="75009" y="45839"/>
                </a:lnTo>
                <a:cubicBezTo>
                  <a:pt x="79619" y="45839"/>
                  <a:pt x="83344" y="49563"/>
                  <a:pt x="83344" y="54173"/>
                </a:cubicBezTo>
                <a:cubicBezTo>
                  <a:pt x="83344" y="58783"/>
                  <a:pt x="79619" y="62508"/>
                  <a:pt x="75009" y="62508"/>
                </a:cubicBezTo>
                <a:lnTo>
                  <a:pt x="41672" y="62508"/>
                </a:lnTo>
                <a:cubicBezTo>
                  <a:pt x="37062" y="62508"/>
                  <a:pt x="33337" y="58783"/>
                  <a:pt x="33337" y="54173"/>
                </a:cubicBezTo>
                <a:cubicBezTo>
                  <a:pt x="33337" y="49563"/>
                  <a:pt x="37062" y="45839"/>
                  <a:pt x="41672" y="45839"/>
                </a:cubicBezTo>
                <a:close/>
                <a:moveTo>
                  <a:pt x="41672" y="75009"/>
                </a:moveTo>
                <a:lnTo>
                  <a:pt x="108347" y="75009"/>
                </a:lnTo>
                <a:cubicBezTo>
                  <a:pt x="112957" y="75009"/>
                  <a:pt x="116681" y="78734"/>
                  <a:pt x="116681" y="83344"/>
                </a:cubicBezTo>
                <a:cubicBezTo>
                  <a:pt x="116681" y="87954"/>
                  <a:pt x="112957" y="91678"/>
                  <a:pt x="108347" y="91678"/>
                </a:cubicBezTo>
                <a:lnTo>
                  <a:pt x="41672" y="91678"/>
                </a:lnTo>
                <a:cubicBezTo>
                  <a:pt x="37062" y="91678"/>
                  <a:pt x="33337" y="87954"/>
                  <a:pt x="33337" y="83344"/>
                </a:cubicBezTo>
                <a:cubicBezTo>
                  <a:pt x="33337" y="78734"/>
                  <a:pt x="37062" y="75009"/>
                  <a:pt x="41672" y="75009"/>
                </a:cubicBezTo>
                <a:close/>
              </a:path>
            </a:pathLst>
          </a:custGeom>
          <a:solidFill>
            <a:srgbClr val="A855F7"/>
          </a:solidFill>
          <a:ln/>
        </p:spPr>
      </p:sp>
      <p:sp>
        <p:nvSpPr>
          <p:cNvPr id="58" name="Text 56"/>
          <p:cNvSpPr/>
          <p:nvPr/>
        </p:nvSpPr>
        <p:spPr>
          <a:xfrm>
            <a:off x="3669983" y="5962529"/>
            <a:ext cx="1285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A85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Objective quality metrics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156960" y="3865128"/>
            <a:ext cx="2760345" cy="2407920"/>
          </a:xfrm>
          <a:prstGeom prst="roundRect">
            <a:avLst>
              <a:gd name="adj" fmla="val 4747"/>
            </a:avLst>
          </a:prstGeom>
          <a:gradFill flip="none" rotWithShape="1">
            <a:gsLst>
              <a:gs pos="0">
                <a:srgbClr val="22D3E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 w="10160">
            <a:solidFill>
              <a:srgbClr val="22D3EE">
                <a:alpha val="30196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13170" y="4021336"/>
            <a:ext cx="381000" cy="381000"/>
          </a:xfrm>
          <a:prstGeom prst="roundRect">
            <a:avLst>
              <a:gd name="adj" fmla="val 30000"/>
            </a:avLst>
          </a:prstGeom>
          <a:gradFill flip="none" rotWithShape="1">
            <a:gsLst>
              <a:gs pos="0">
                <a:srgbClr val="22D3EE"/>
              </a:gs>
              <a:gs pos="100000">
                <a:srgbClr val="06B6D4"/>
              </a:gs>
            </a:gsLst>
            <a:lin ang="2700000" scaled="1"/>
          </a:gradFill>
          <a:ln/>
        </p:spPr>
      </p:sp>
      <p:sp>
        <p:nvSpPr>
          <p:cNvPr id="61" name="Text 59"/>
          <p:cNvSpPr/>
          <p:nvPr/>
        </p:nvSpPr>
        <p:spPr>
          <a:xfrm>
            <a:off x="6454854" y="4078486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808470" y="4207073"/>
            <a:ext cx="1952625" cy="9525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22D3EE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63" name="Text 61"/>
          <p:cNvSpPr/>
          <p:nvPr/>
        </p:nvSpPr>
        <p:spPr>
          <a:xfrm>
            <a:off x="6313170" y="4516636"/>
            <a:ext cx="2533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Review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313170" y="4859536"/>
            <a:ext cx="251460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reviews all </a:t>
            </a:r>
            <a:r>
              <a:rPr lang="en-US" sz="1050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variants</a:t>
            </a:r>
            <a:r>
              <a:rPr lang="en-US" sz="105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compares </a:t>
            </a:r>
            <a:r>
              <a:rPr lang="en-US" sz="1050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SEO scores</a:t>
            </a:r>
            <a:r>
              <a:rPr lang="en-US" sz="105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selects the best match for their brand voice and goals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313170" y="5844421"/>
            <a:ext cx="2447925" cy="7620"/>
          </a:xfrm>
          <a:prstGeom prst="roundRect">
            <a:avLst>
              <a:gd name="adj" fmla="val 0"/>
            </a:avLst>
          </a:prstGeom>
          <a:solidFill>
            <a:srgbClr val="22D3EE">
              <a:alpha val="20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6340554" y="5971942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33337" y="10418"/>
                </a:moveTo>
                <a:cubicBezTo>
                  <a:pt x="33337" y="4662"/>
                  <a:pt x="38000" y="0"/>
                  <a:pt x="43755" y="0"/>
                </a:cubicBezTo>
                <a:cubicBezTo>
                  <a:pt x="49511" y="0"/>
                  <a:pt x="54173" y="4662"/>
                  <a:pt x="54173" y="10418"/>
                </a:cubicBezTo>
                <a:lnTo>
                  <a:pt x="54173" y="49017"/>
                </a:lnTo>
                <a:cubicBezTo>
                  <a:pt x="56387" y="47037"/>
                  <a:pt x="59304" y="45839"/>
                  <a:pt x="62508" y="45839"/>
                </a:cubicBezTo>
                <a:cubicBezTo>
                  <a:pt x="67873" y="45839"/>
                  <a:pt x="72457" y="49225"/>
                  <a:pt x="74228" y="53965"/>
                </a:cubicBezTo>
                <a:cubicBezTo>
                  <a:pt x="76520" y="51543"/>
                  <a:pt x="79750" y="50006"/>
                  <a:pt x="83344" y="50006"/>
                </a:cubicBezTo>
                <a:cubicBezTo>
                  <a:pt x="89933" y="50006"/>
                  <a:pt x="95324" y="55085"/>
                  <a:pt x="95819" y="61544"/>
                </a:cubicBezTo>
                <a:cubicBezTo>
                  <a:pt x="98033" y="59539"/>
                  <a:pt x="100976" y="58341"/>
                  <a:pt x="104180" y="58341"/>
                </a:cubicBezTo>
                <a:cubicBezTo>
                  <a:pt x="111082" y="58341"/>
                  <a:pt x="116681" y="63940"/>
                  <a:pt x="116681" y="70842"/>
                </a:cubicBezTo>
                <a:lnTo>
                  <a:pt x="116681" y="100013"/>
                </a:lnTo>
                <a:cubicBezTo>
                  <a:pt x="116681" y="118426"/>
                  <a:pt x="101758" y="133350"/>
                  <a:pt x="83344" y="133350"/>
                </a:cubicBezTo>
                <a:lnTo>
                  <a:pt x="61127" y="133350"/>
                </a:lnTo>
                <a:cubicBezTo>
                  <a:pt x="59825" y="133350"/>
                  <a:pt x="58549" y="133272"/>
                  <a:pt x="57299" y="133090"/>
                </a:cubicBezTo>
                <a:cubicBezTo>
                  <a:pt x="42896" y="131631"/>
                  <a:pt x="29639" y="124234"/>
                  <a:pt x="20836" y="112514"/>
                </a:cubicBezTo>
                <a:lnTo>
                  <a:pt x="2084" y="87511"/>
                </a:lnTo>
                <a:cubicBezTo>
                  <a:pt x="-1380" y="82901"/>
                  <a:pt x="-443" y="76390"/>
                  <a:pt x="4167" y="72926"/>
                </a:cubicBezTo>
                <a:cubicBezTo>
                  <a:pt x="8777" y="69462"/>
                  <a:pt x="15288" y="70399"/>
                  <a:pt x="18752" y="75009"/>
                </a:cubicBezTo>
                <a:lnTo>
                  <a:pt x="33337" y="94465"/>
                </a:lnTo>
                <a:lnTo>
                  <a:pt x="33337" y="10418"/>
                </a:lnTo>
                <a:close/>
                <a:moveTo>
                  <a:pt x="62508" y="79177"/>
                </a:moveTo>
                <a:cubicBezTo>
                  <a:pt x="62508" y="76885"/>
                  <a:pt x="60633" y="75009"/>
                  <a:pt x="58341" y="75009"/>
                </a:cubicBezTo>
                <a:cubicBezTo>
                  <a:pt x="56049" y="75009"/>
                  <a:pt x="54173" y="76885"/>
                  <a:pt x="54173" y="79177"/>
                </a:cubicBezTo>
                <a:lnTo>
                  <a:pt x="54173" y="104180"/>
                </a:lnTo>
                <a:cubicBezTo>
                  <a:pt x="54173" y="106472"/>
                  <a:pt x="56049" y="108347"/>
                  <a:pt x="58341" y="108347"/>
                </a:cubicBezTo>
                <a:cubicBezTo>
                  <a:pt x="60633" y="108347"/>
                  <a:pt x="62508" y="106472"/>
                  <a:pt x="62508" y="104180"/>
                </a:cubicBezTo>
                <a:lnTo>
                  <a:pt x="62508" y="79177"/>
                </a:lnTo>
                <a:close/>
                <a:moveTo>
                  <a:pt x="75009" y="75009"/>
                </a:moveTo>
                <a:cubicBezTo>
                  <a:pt x="72717" y="75009"/>
                  <a:pt x="70842" y="76885"/>
                  <a:pt x="70842" y="79177"/>
                </a:cubicBezTo>
                <a:lnTo>
                  <a:pt x="70842" y="104180"/>
                </a:lnTo>
                <a:cubicBezTo>
                  <a:pt x="70842" y="106472"/>
                  <a:pt x="72717" y="108347"/>
                  <a:pt x="75009" y="108347"/>
                </a:cubicBezTo>
                <a:cubicBezTo>
                  <a:pt x="77301" y="108347"/>
                  <a:pt x="79177" y="106472"/>
                  <a:pt x="79177" y="104180"/>
                </a:cubicBezTo>
                <a:lnTo>
                  <a:pt x="79177" y="79177"/>
                </a:lnTo>
                <a:cubicBezTo>
                  <a:pt x="79177" y="76885"/>
                  <a:pt x="77301" y="75009"/>
                  <a:pt x="75009" y="75009"/>
                </a:cubicBezTo>
                <a:close/>
                <a:moveTo>
                  <a:pt x="95845" y="79177"/>
                </a:moveTo>
                <a:cubicBezTo>
                  <a:pt x="95845" y="76885"/>
                  <a:pt x="93970" y="75009"/>
                  <a:pt x="91678" y="75009"/>
                </a:cubicBezTo>
                <a:cubicBezTo>
                  <a:pt x="89386" y="75009"/>
                  <a:pt x="87511" y="76885"/>
                  <a:pt x="87511" y="79177"/>
                </a:cubicBezTo>
                <a:lnTo>
                  <a:pt x="87511" y="104180"/>
                </a:lnTo>
                <a:cubicBezTo>
                  <a:pt x="87511" y="106472"/>
                  <a:pt x="89386" y="108347"/>
                  <a:pt x="91678" y="108347"/>
                </a:cubicBezTo>
                <a:cubicBezTo>
                  <a:pt x="93970" y="108347"/>
                  <a:pt x="95845" y="106472"/>
                  <a:pt x="95845" y="104180"/>
                </a:cubicBezTo>
                <a:lnTo>
                  <a:pt x="95845" y="79177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67" name="Text 65"/>
          <p:cNvSpPr/>
          <p:nvPr/>
        </p:nvSpPr>
        <p:spPr>
          <a:xfrm>
            <a:off x="6556057" y="5962529"/>
            <a:ext cx="1047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Human-in-the-loop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9043035" y="3865128"/>
            <a:ext cx="2760345" cy="2407920"/>
          </a:xfrm>
          <a:prstGeom prst="roundRect">
            <a:avLst>
              <a:gd name="adj" fmla="val 4747"/>
            </a:avLst>
          </a:prstGeom>
          <a:gradFill flip="none" rotWithShape="1">
            <a:gsLst>
              <a:gs pos="0">
                <a:srgbClr val="10B981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199245" y="4021336"/>
            <a:ext cx="381000" cy="381000"/>
          </a:xfrm>
          <a:prstGeom prst="roundRect">
            <a:avLst>
              <a:gd name="adj" fmla="val 30000"/>
            </a:avLst>
          </a:prstGeom>
          <a:gradFill flip="none" rotWithShape="1">
            <a:gsLst>
              <a:gs pos="0">
                <a:srgbClr val="10B981"/>
              </a:gs>
              <a:gs pos="100000">
                <a:srgbClr val="059669"/>
              </a:gs>
            </a:gsLst>
            <a:lin ang="2700000" scaled="1"/>
          </a:gradFill>
          <a:ln/>
        </p:spPr>
      </p:sp>
      <p:sp>
        <p:nvSpPr>
          <p:cNvPr id="70" name="Text 68"/>
          <p:cNvSpPr/>
          <p:nvPr/>
        </p:nvSpPr>
        <p:spPr>
          <a:xfrm>
            <a:off x="9331166" y="4078486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9694545" y="4207073"/>
            <a:ext cx="1952625" cy="9525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10B981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72" name="Text 70"/>
          <p:cNvSpPr/>
          <p:nvPr/>
        </p:nvSpPr>
        <p:spPr>
          <a:xfrm>
            <a:off x="9199245" y="4516636"/>
            <a:ext cx="2533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Storage &amp; Learning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9199245" y="4859536"/>
            <a:ext cx="251460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Saved variant stored in </a:t>
            </a:r>
            <a:r>
              <a:rPr lang="en-US" sz="105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SQLite</a:t>
            </a:r>
            <a:r>
              <a:rPr lang="en-US" sz="105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pushed to </a:t>
            </a:r>
            <a:r>
              <a:rPr lang="en-US" sz="105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mem0</a:t>
            </a:r>
            <a:r>
              <a:rPr lang="en-US" sz="105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future learning. System improves with every optimization.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9199245" y="5844421"/>
            <a:ext cx="2447925" cy="7620"/>
          </a:xfrm>
          <a:prstGeom prst="roundRect">
            <a:avLst>
              <a:gd name="adj" fmla="val 0"/>
            </a:avLst>
          </a:prstGeom>
          <a:solidFill>
            <a:srgbClr val="10B981">
              <a:alpha val="20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9218295" y="597194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25042" y="50006"/>
                </a:moveTo>
                <a:lnTo>
                  <a:pt x="127099" y="50006"/>
                </a:lnTo>
                <a:cubicBezTo>
                  <a:pt x="130563" y="50006"/>
                  <a:pt x="133350" y="47219"/>
                  <a:pt x="133350" y="43755"/>
                </a:cubicBezTo>
                <a:lnTo>
                  <a:pt x="133350" y="6251"/>
                </a:lnTo>
                <a:cubicBezTo>
                  <a:pt x="133350" y="3724"/>
                  <a:pt x="131839" y="1432"/>
                  <a:pt x="129495" y="469"/>
                </a:cubicBezTo>
                <a:cubicBezTo>
                  <a:pt x="127151" y="-495"/>
                  <a:pt x="124469" y="52"/>
                  <a:pt x="122672" y="1823"/>
                </a:cubicBezTo>
                <a:lnTo>
                  <a:pt x="109206" y="15314"/>
                </a:lnTo>
                <a:cubicBezTo>
                  <a:pt x="97668" y="5756"/>
                  <a:pt x="82823" y="0"/>
                  <a:pt x="66675" y="0"/>
                </a:cubicBezTo>
                <a:cubicBezTo>
                  <a:pt x="33077" y="0"/>
                  <a:pt x="5287" y="24847"/>
                  <a:pt x="677" y="57169"/>
                </a:cubicBezTo>
                <a:cubicBezTo>
                  <a:pt x="26" y="61726"/>
                  <a:pt x="3177" y="65946"/>
                  <a:pt x="7735" y="66597"/>
                </a:cubicBezTo>
                <a:cubicBezTo>
                  <a:pt x="12293" y="67248"/>
                  <a:pt x="16512" y="64071"/>
                  <a:pt x="17164" y="59539"/>
                </a:cubicBezTo>
                <a:cubicBezTo>
                  <a:pt x="20628" y="35291"/>
                  <a:pt x="41490" y="16669"/>
                  <a:pt x="66675" y="16669"/>
                </a:cubicBezTo>
                <a:cubicBezTo>
                  <a:pt x="78239" y="16669"/>
                  <a:pt x="88865" y="20575"/>
                  <a:pt x="97330" y="27165"/>
                </a:cubicBezTo>
                <a:lnTo>
                  <a:pt x="85167" y="39328"/>
                </a:lnTo>
                <a:cubicBezTo>
                  <a:pt x="83370" y="41125"/>
                  <a:pt x="82849" y="43808"/>
                  <a:pt x="83813" y="46152"/>
                </a:cubicBezTo>
                <a:cubicBezTo>
                  <a:pt x="84776" y="48496"/>
                  <a:pt x="87068" y="50006"/>
                  <a:pt x="89595" y="50006"/>
                </a:cubicBezTo>
                <a:lnTo>
                  <a:pt x="125042" y="50006"/>
                </a:lnTo>
                <a:close/>
                <a:moveTo>
                  <a:pt x="132699" y="76181"/>
                </a:moveTo>
                <a:cubicBezTo>
                  <a:pt x="133350" y="71624"/>
                  <a:pt x="130173" y="67404"/>
                  <a:pt x="125641" y="66753"/>
                </a:cubicBezTo>
                <a:cubicBezTo>
                  <a:pt x="121109" y="66102"/>
                  <a:pt x="116864" y="69279"/>
                  <a:pt x="116212" y="73811"/>
                </a:cubicBezTo>
                <a:cubicBezTo>
                  <a:pt x="112748" y="98033"/>
                  <a:pt x="91886" y="116655"/>
                  <a:pt x="66701" y="116655"/>
                </a:cubicBezTo>
                <a:cubicBezTo>
                  <a:pt x="55137" y="116655"/>
                  <a:pt x="44511" y="112748"/>
                  <a:pt x="36046" y="106159"/>
                </a:cubicBezTo>
                <a:lnTo>
                  <a:pt x="48183" y="94022"/>
                </a:lnTo>
                <a:cubicBezTo>
                  <a:pt x="49980" y="92225"/>
                  <a:pt x="50501" y="89542"/>
                  <a:pt x="49537" y="87198"/>
                </a:cubicBezTo>
                <a:cubicBezTo>
                  <a:pt x="48574" y="84854"/>
                  <a:pt x="46282" y="83344"/>
                  <a:pt x="43755" y="83344"/>
                </a:cubicBezTo>
                <a:lnTo>
                  <a:pt x="6251" y="83344"/>
                </a:lnTo>
                <a:cubicBezTo>
                  <a:pt x="2787" y="83344"/>
                  <a:pt x="0" y="86131"/>
                  <a:pt x="0" y="89595"/>
                </a:cubicBezTo>
                <a:lnTo>
                  <a:pt x="0" y="127099"/>
                </a:lnTo>
                <a:cubicBezTo>
                  <a:pt x="0" y="129626"/>
                  <a:pt x="1511" y="131918"/>
                  <a:pt x="3855" y="132881"/>
                </a:cubicBezTo>
                <a:cubicBezTo>
                  <a:pt x="6199" y="133845"/>
                  <a:pt x="8881" y="133298"/>
                  <a:pt x="10678" y="131527"/>
                </a:cubicBezTo>
                <a:lnTo>
                  <a:pt x="24170" y="118036"/>
                </a:lnTo>
                <a:cubicBezTo>
                  <a:pt x="35682" y="127594"/>
                  <a:pt x="50527" y="133350"/>
                  <a:pt x="66675" y="133350"/>
                </a:cubicBezTo>
                <a:cubicBezTo>
                  <a:pt x="100273" y="133350"/>
                  <a:pt x="128063" y="108503"/>
                  <a:pt x="132673" y="7618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76" name="Text 74"/>
          <p:cNvSpPr/>
          <p:nvPr/>
        </p:nvSpPr>
        <p:spPr>
          <a:xfrm>
            <a:off x="9442132" y="5962529"/>
            <a:ext cx="1314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improvement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3948708" y="6465336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78" name="Text 76"/>
          <p:cNvSpPr/>
          <p:nvPr/>
        </p:nvSpPr>
        <p:spPr>
          <a:xfrm>
            <a:off x="4139208" y="6427236"/>
            <a:ext cx="1162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&amp; Generation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5384125" y="6465336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/>
        </p:spPr>
      </p:sp>
      <p:sp>
        <p:nvSpPr>
          <p:cNvPr id="80" name="Text 78"/>
          <p:cNvSpPr/>
          <p:nvPr/>
        </p:nvSpPr>
        <p:spPr>
          <a:xfrm>
            <a:off x="5574625" y="6427236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Analysis &amp; Scoring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6792396" y="6465336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82" name="Text 80"/>
          <p:cNvSpPr/>
          <p:nvPr/>
        </p:nvSpPr>
        <p:spPr>
          <a:xfrm>
            <a:off x="6982896" y="6427236"/>
            <a:ext cx="495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Review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7561779" y="6465336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84" name="Text 82"/>
          <p:cNvSpPr/>
          <p:nvPr/>
        </p:nvSpPr>
        <p:spPr>
          <a:xfrm>
            <a:off x="7752279" y="6427236"/>
            <a:ext cx="561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stockcake.com/public/4/9/3/49396f7e-e895-4072-904c-78ac1f4b6c73_large/futuristic-circuit-board-stockcake.jpg"/>
          <p:cNvPicPr>
            <a:picLocks noChangeAspect="1"/>
          </p:cNvPicPr>
          <p:nvPr/>
        </p:nvPicPr>
        <p:blipFill>
          <a:blip r:embed="rId3">
            <a:alphaModFix amt="10000"/>
          </a:blip>
          <a:srcRect t="21882" b="21882"/>
          <a:stretch/>
        </p:blipFill>
        <p:spPr>
          <a:xfrm>
            <a:off x="0" y="0"/>
            <a:ext cx="12192000" cy="6856333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6333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B0F19">
                  <a:alpha val="95000"/>
                </a:srgbClr>
              </a:gs>
              <a:gs pos="100000">
                <a:srgbClr val="0B0F19">
                  <a:alpha val="9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136581" y="359268"/>
            <a:ext cx="1919062" cy="291683"/>
          </a:xfrm>
          <a:prstGeom prst="roundRect">
            <a:avLst>
              <a:gd name="adj" fmla="val 50000"/>
            </a:avLst>
          </a:prstGeom>
          <a:solidFill>
            <a:srgbClr val="22D3EE">
              <a:alpha val="10196"/>
            </a:srgbClr>
          </a:solidFill>
          <a:ln w="10160">
            <a:solidFill>
              <a:srgbClr val="22D3EE">
                <a:alpha val="30196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300208" y="433966"/>
            <a:ext cx="142284" cy="142284"/>
          </a:xfrm>
          <a:custGeom>
            <a:avLst/>
            <a:gdLst/>
            <a:ahLst/>
            <a:cxnLst/>
            <a:rect l="l" t="t" r="r" b="b"/>
            <a:pathLst>
              <a:path w="142284" h="142284">
                <a:moveTo>
                  <a:pt x="40101" y="0"/>
                </a:moveTo>
                <a:lnTo>
                  <a:pt x="102350" y="0"/>
                </a:lnTo>
                <a:cubicBezTo>
                  <a:pt x="109715" y="0"/>
                  <a:pt x="115717" y="6058"/>
                  <a:pt x="115439" y="13395"/>
                </a:cubicBezTo>
                <a:cubicBezTo>
                  <a:pt x="115384" y="14868"/>
                  <a:pt x="115328" y="16340"/>
                  <a:pt x="115245" y="17786"/>
                </a:cubicBezTo>
                <a:lnTo>
                  <a:pt x="129029" y="17786"/>
                </a:lnTo>
                <a:cubicBezTo>
                  <a:pt x="136282" y="17786"/>
                  <a:pt x="142674" y="23788"/>
                  <a:pt x="142118" y="31625"/>
                </a:cubicBezTo>
                <a:cubicBezTo>
                  <a:pt x="140033" y="60443"/>
                  <a:pt x="125305" y="76283"/>
                  <a:pt x="109326" y="84565"/>
                </a:cubicBezTo>
                <a:cubicBezTo>
                  <a:pt x="104935" y="86844"/>
                  <a:pt x="100461" y="88539"/>
                  <a:pt x="96209" y="89789"/>
                </a:cubicBezTo>
                <a:cubicBezTo>
                  <a:pt x="90595" y="97737"/>
                  <a:pt x="84759" y="101933"/>
                  <a:pt x="80118" y="104184"/>
                </a:cubicBezTo>
                <a:lnTo>
                  <a:pt x="80118" y="124499"/>
                </a:lnTo>
                <a:lnTo>
                  <a:pt x="97904" y="124499"/>
                </a:lnTo>
                <a:cubicBezTo>
                  <a:pt x="102823" y="124499"/>
                  <a:pt x="106797" y="128473"/>
                  <a:pt x="106797" y="133392"/>
                </a:cubicBezTo>
                <a:cubicBezTo>
                  <a:pt x="106797" y="138311"/>
                  <a:pt x="102823" y="142284"/>
                  <a:pt x="97904" y="142284"/>
                </a:cubicBezTo>
                <a:lnTo>
                  <a:pt x="44547" y="142284"/>
                </a:lnTo>
                <a:cubicBezTo>
                  <a:pt x="39628" y="142284"/>
                  <a:pt x="35654" y="138311"/>
                  <a:pt x="35654" y="133392"/>
                </a:cubicBezTo>
                <a:cubicBezTo>
                  <a:pt x="35654" y="128473"/>
                  <a:pt x="39628" y="124499"/>
                  <a:pt x="44547" y="124499"/>
                </a:cubicBezTo>
                <a:lnTo>
                  <a:pt x="62333" y="124499"/>
                </a:lnTo>
                <a:lnTo>
                  <a:pt x="62333" y="104184"/>
                </a:lnTo>
                <a:cubicBezTo>
                  <a:pt x="57886" y="102045"/>
                  <a:pt x="52356" y="98071"/>
                  <a:pt x="46965" y="90762"/>
                </a:cubicBezTo>
                <a:cubicBezTo>
                  <a:pt x="41852" y="89428"/>
                  <a:pt x="36294" y="87399"/>
                  <a:pt x="30875" y="84342"/>
                </a:cubicBezTo>
                <a:cubicBezTo>
                  <a:pt x="15840" y="75922"/>
                  <a:pt x="2279" y="60054"/>
                  <a:pt x="333" y="31569"/>
                </a:cubicBezTo>
                <a:cubicBezTo>
                  <a:pt x="-195" y="23760"/>
                  <a:pt x="6169" y="17758"/>
                  <a:pt x="13423" y="17758"/>
                </a:cubicBezTo>
                <a:lnTo>
                  <a:pt x="27206" y="17758"/>
                </a:lnTo>
                <a:cubicBezTo>
                  <a:pt x="27123" y="16313"/>
                  <a:pt x="27067" y="14868"/>
                  <a:pt x="27012" y="13367"/>
                </a:cubicBezTo>
                <a:cubicBezTo>
                  <a:pt x="26734" y="6003"/>
                  <a:pt x="32737" y="-28"/>
                  <a:pt x="40101" y="-28"/>
                </a:cubicBezTo>
                <a:close/>
                <a:moveTo>
                  <a:pt x="28207" y="31125"/>
                </a:moveTo>
                <a:lnTo>
                  <a:pt x="13645" y="31125"/>
                </a:lnTo>
                <a:cubicBezTo>
                  <a:pt x="15368" y="54663"/>
                  <a:pt x="26178" y="66446"/>
                  <a:pt x="37322" y="72698"/>
                </a:cubicBezTo>
                <a:cubicBezTo>
                  <a:pt x="33320" y="62333"/>
                  <a:pt x="30013" y="48799"/>
                  <a:pt x="28207" y="31125"/>
                </a:cubicBezTo>
                <a:close/>
                <a:moveTo>
                  <a:pt x="105602" y="71365"/>
                </a:moveTo>
                <a:cubicBezTo>
                  <a:pt x="116857" y="64751"/>
                  <a:pt x="127028" y="52995"/>
                  <a:pt x="128751" y="31125"/>
                </a:cubicBezTo>
                <a:lnTo>
                  <a:pt x="114217" y="31125"/>
                </a:lnTo>
                <a:cubicBezTo>
                  <a:pt x="112494" y="48049"/>
                  <a:pt x="109381" y="61193"/>
                  <a:pt x="105602" y="71365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6" name="Text 3"/>
          <p:cNvSpPr/>
          <p:nvPr/>
        </p:nvSpPr>
        <p:spPr>
          <a:xfrm>
            <a:off x="5500295" y="416180"/>
            <a:ext cx="1440630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0" b="1" kern="0" spc="49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Differentiators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48998" y="761227"/>
            <a:ext cx="11694004" cy="426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36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Makes ContentBoost AI Stand Out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15694" y="1259223"/>
            <a:ext cx="11560613" cy="248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Six capabilities that separate us from generic copywriting tools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59268" y="1689633"/>
            <a:ext cx="3724296" cy="2292558"/>
          </a:xfrm>
          <a:prstGeom prst="roundRect">
            <a:avLst>
              <a:gd name="adj" fmla="val 4655"/>
            </a:avLst>
          </a:prstGeom>
          <a:gradFill flip="none" rotWithShape="1">
            <a:gsLst>
              <a:gs pos="0">
                <a:srgbClr val="6366F1">
                  <a:alpha val="20000"/>
                </a:srgbClr>
              </a:gs>
              <a:gs pos="100000">
                <a:srgbClr val="6366F1">
                  <a:alpha val="5000"/>
                </a:srgbClr>
              </a:gs>
            </a:gsLst>
            <a:lin ang="2700000" scaled="1"/>
          </a:gradFill>
          <a:ln w="1016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0681" y="1871044"/>
            <a:ext cx="497996" cy="497996"/>
          </a:xfrm>
          <a:prstGeom prst="roundRect">
            <a:avLst>
              <a:gd name="adj" fmla="val 21429"/>
            </a:avLst>
          </a:prstGeom>
          <a:gradFill flip="none" rotWithShape="1">
            <a:gsLst>
              <a:gs pos="0">
                <a:srgbClr val="6366F1"/>
              </a:gs>
              <a:gs pos="100000">
                <a:srgbClr val="4F46E5"/>
              </a:gs>
            </a:gsLst>
            <a:lin ang="2700000" scaled="1"/>
          </a:gra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10978" y="1959972"/>
            <a:ext cx="293462" cy="3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0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80961" y="1995543"/>
            <a:ext cx="2516656" cy="248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Unique AI Variants Per Request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0681" y="2475753"/>
            <a:ext cx="3432613" cy="924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optimization generates </a:t>
            </a:r>
            <a:r>
              <a:rPr lang="en-US" sz="1120" b="1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strategically different variants</a:t>
            </a:r>
            <a:r>
              <a:rPr lang="en-US" sz="112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SEO-focused, conversion-focused, and brand-differentiated — giving users strategic choice, not just one option.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0681" y="3510873"/>
            <a:ext cx="3361470" cy="7114"/>
          </a:xfrm>
          <a:prstGeom prst="roundRect">
            <a:avLst>
              <a:gd name="adj" fmla="val 0"/>
            </a:avLst>
          </a:prstGeom>
          <a:solidFill>
            <a:srgbClr val="6366F1">
              <a:alpha val="2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558467" y="3638927"/>
            <a:ext cx="142284" cy="142284"/>
          </a:xfrm>
          <a:custGeom>
            <a:avLst/>
            <a:gdLst/>
            <a:ahLst/>
            <a:cxnLst/>
            <a:rect l="l" t="t" r="r" b="b"/>
            <a:pathLst>
              <a:path w="142284" h="142284">
                <a:moveTo>
                  <a:pt x="71142" y="142284"/>
                </a:moveTo>
                <a:cubicBezTo>
                  <a:pt x="110407" y="142284"/>
                  <a:pt x="142284" y="110407"/>
                  <a:pt x="142284" y="71142"/>
                </a:cubicBezTo>
                <a:cubicBezTo>
                  <a:pt x="142284" y="31878"/>
                  <a:pt x="110407" y="0"/>
                  <a:pt x="71142" y="0"/>
                </a:cubicBezTo>
                <a:cubicBezTo>
                  <a:pt x="31878" y="0"/>
                  <a:pt x="0" y="31878"/>
                  <a:pt x="0" y="71142"/>
                </a:cubicBezTo>
                <a:cubicBezTo>
                  <a:pt x="0" y="110407"/>
                  <a:pt x="31878" y="142284"/>
                  <a:pt x="71142" y="142284"/>
                </a:cubicBezTo>
                <a:close/>
                <a:moveTo>
                  <a:pt x="94597" y="59109"/>
                </a:moveTo>
                <a:lnTo>
                  <a:pt x="72365" y="94680"/>
                </a:lnTo>
                <a:cubicBezTo>
                  <a:pt x="71198" y="96542"/>
                  <a:pt x="69197" y="97709"/>
                  <a:pt x="67002" y="97821"/>
                </a:cubicBezTo>
                <a:cubicBezTo>
                  <a:pt x="64806" y="97932"/>
                  <a:pt x="62694" y="96931"/>
                  <a:pt x="61388" y="95153"/>
                </a:cubicBezTo>
                <a:lnTo>
                  <a:pt x="48049" y="77367"/>
                </a:lnTo>
                <a:cubicBezTo>
                  <a:pt x="45826" y="74421"/>
                  <a:pt x="46437" y="70253"/>
                  <a:pt x="49383" y="68030"/>
                </a:cubicBezTo>
                <a:cubicBezTo>
                  <a:pt x="52328" y="65807"/>
                  <a:pt x="56497" y="66418"/>
                  <a:pt x="58720" y="69364"/>
                </a:cubicBezTo>
                <a:lnTo>
                  <a:pt x="66223" y="79368"/>
                </a:lnTo>
                <a:lnTo>
                  <a:pt x="83286" y="52051"/>
                </a:lnTo>
                <a:cubicBezTo>
                  <a:pt x="85232" y="48938"/>
                  <a:pt x="89345" y="47965"/>
                  <a:pt x="92485" y="49939"/>
                </a:cubicBezTo>
                <a:cubicBezTo>
                  <a:pt x="95625" y="51912"/>
                  <a:pt x="96570" y="55997"/>
                  <a:pt x="94597" y="5913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6" name="Text 13"/>
          <p:cNvSpPr/>
          <p:nvPr/>
        </p:nvSpPr>
        <p:spPr>
          <a:xfrm>
            <a:off x="789679" y="3621141"/>
            <a:ext cx="1574022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diversity by design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232518" y="1689633"/>
            <a:ext cx="3724296" cy="2292558"/>
          </a:xfrm>
          <a:prstGeom prst="roundRect">
            <a:avLst>
              <a:gd name="adj" fmla="val 4655"/>
            </a:avLst>
          </a:prstGeom>
          <a:gradFill flip="none" rotWithShape="1">
            <a:gsLst>
              <a:gs pos="0">
                <a:srgbClr val="A855F7">
                  <a:alpha val="20000"/>
                </a:srgbClr>
              </a:gs>
              <a:gs pos="100000">
                <a:srgbClr val="A855F7">
                  <a:alpha val="5000"/>
                </a:srgbClr>
              </a:gs>
            </a:gsLst>
            <a:lin ang="2700000" scaled="1"/>
          </a:gradFill>
          <a:ln w="1016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13931" y="1871044"/>
            <a:ext cx="497996" cy="497996"/>
          </a:xfrm>
          <a:prstGeom prst="roundRect">
            <a:avLst>
              <a:gd name="adj" fmla="val 21429"/>
            </a:avLst>
          </a:prstGeom>
          <a:gradFill flip="none" rotWithShape="1">
            <a:gsLst>
              <a:gs pos="0">
                <a:srgbClr val="A855F7"/>
              </a:gs>
              <a:gs pos="100000">
                <a:srgbClr val="9333EA"/>
              </a:gs>
            </a:gsLst>
            <a:lin ang="2700000" scaled="1"/>
          </a:gra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584339" y="1959972"/>
            <a:ext cx="293462" cy="3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0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054211" y="1871044"/>
            <a:ext cx="2810118" cy="497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 Weighted SEO Scoring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413931" y="2475753"/>
            <a:ext cx="3432613" cy="924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Objective </a:t>
            </a:r>
            <a:r>
              <a:rPr lang="en-US" sz="1120" b="1" dirty="0">
                <a:solidFill>
                  <a:srgbClr val="A85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0-100 scoring system</a:t>
            </a:r>
            <a:r>
              <a:rPr lang="en-US" sz="112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four weighted components eliminates subjective quality debates and provides clear optimization targets.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413931" y="3510873"/>
            <a:ext cx="3361470" cy="7114"/>
          </a:xfrm>
          <a:prstGeom prst="roundRect">
            <a:avLst>
              <a:gd name="adj" fmla="val 0"/>
            </a:avLst>
          </a:prstGeom>
          <a:solidFill>
            <a:srgbClr val="A855F7">
              <a:alpha val="20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4431716" y="3638927"/>
            <a:ext cx="142284" cy="142284"/>
          </a:xfrm>
          <a:custGeom>
            <a:avLst/>
            <a:gdLst/>
            <a:ahLst/>
            <a:cxnLst/>
            <a:rect l="l" t="t" r="r" b="b"/>
            <a:pathLst>
              <a:path w="142284" h="142284">
                <a:moveTo>
                  <a:pt x="71142" y="142284"/>
                </a:moveTo>
                <a:cubicBezTo>
                  <a:pt x="110407" y="142284"/>
                  <a:pt x="142284" y="110407"/>
                  <a:pt x="142284" y="71142"/>
                </a:cubicBezTo>
                <a:cubicBezTo>
                  <a:pt x="142284" y="31878"/>
                  <a:pt x="110407" y="0"/>
                  <a:pt x="71142" y="0"/>
                </a:cubicBezTo>
                <a:cubicBezTo>
                  <a:pt x="31878" y="0"/>
                  <a:pt x="0" y="31878"/>
                  <a:pt x="0" y="71142"/>
                </a:cubicBezTo>
                <a:cubicBezTo>
                  <a:pt x="0" y="110407"/>
                  <a:pt x="31878" y="142284"/>
                  <a:pt x="71142" y="142284"/>
                </a:cubicBezTo>
                <a:close/>
                <a:moveTo>
                  <a:pt x="94597" y="59109"/>
                </a:moveTo>
                <a:lnTo>
                  <a:pt x="72365" y="94680"/>
                </a:lnTo>
                <a:cubicBezTo>
                  <a:pt x="71198" y="96542"/>
                  <a:pt x="69197" y="97709"/>
                  <a:pt x="67002" y="97821"/>
                </a:cubicBezTo>
                <a:cubicBezTo>
                  <a:pt x="64806" y="97932"/>
                  <a:pt x="62694" y="96931"/>
                  <a:pt x="61388" y="95153"/>
                </a:cubicBezTo>
                <a:lnTo>
                  <a:pt x="48049" y="77367"/>
                </a:lnTo>
                <a:cubicBezTo>
                  <a:pt x="45826" y="74421"/>
                  <a:pt x="46437" y="70253"/>
                  <a:pt x="49383" y="68030"/>
                </a:cubicBezTo>
                <a:cubicBezTo>
                  <a:pt x="52328" y="65807"/>
                  <a:pt x="56497" y="66418"/>
                  <a:pt x="58720" y="69364"/>
                </a:cubicBezTo>
                <a:lnTo>
                  <a:pt x="66223" y="79368"/>
                </a:lnTo>
                <a:lnTo>
                  <a:pt x="83286" y="52051"/>
                </a:lnTo>
                <a:cubicBezTo>
                  <a:pt x="85232" y="48938"/>
                  <a:pt x="89345" y="47965"/>
                  <a:pt x="92485" y="49939"/>
                </a:cubicBezTo>
                <a:cubicBezTo>
                  <a:pt x="95625" y="51912"/>
                  <a:pt x="96570" y="55997"/>
                  <a:pt x="94597" y="59137"/>
                </a:cubicBezTo>
                <a:close/>
              </a:path>
            </a:pathLst>
          </a:custGeom>
          <a:solidFill>
            <a:srgbClr val="A855F7"/>
          </a:solidFill>
          <a:ln/>
        </p:spPr>
      </p:sp>
      <p:sp>
        <p:nvSpPr>
          <p:cNvPr id="24" name="Text 21"/>
          <p:cNvSpPr/>
          <p:nvPr/>
        </p:nvSpPr>
        <p:spPr>
          <a:xfrm>
            <a:off x="4662929" y="3621141"/>
            <a:ext cx="1680735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A85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Data-driven quality assurance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105768" y="1689633"/>
            <a:ext cx="3724296" cy="2292558"/>
          </a:xfrm>
          <a:prstGeom prst="roundRect">
            <a:avLst>
              <a:gd name="adj" fmla="val 4655"/>
            </a:avLst>
          </a:prstGeom>
          <a:gradFill flip="none" rotWithShape="1">
            <a:gsLst>
              <a:gs pos="0">
                <a:srgbClr val="22D3EE">
                  <a:alpha val="20000"/>
                </a:srgbClr>
              </a:gs>
              <a:gs pos="100000">
                <a:srgbClr val="22D3EE">
                  <a:alpha val="5000"/>
                </a:srgbClr>
              </a:gs>
            </a:gsLst>
            <a:lin ang="2700000" scaled="1"/>
          </a:gradFill>
          <a:ln w="10160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287181" y="1871044"/>
            <a:ext cx="497996" cy="497996"/>
          </a:xfrm>
          <a:prstGeom prst="roundRect">
            <a:avLst>
              <a:gd name="adj" fmla="val 21429"/>
            </a:avLst>
          </a:prstGeom>
          <a:gradFill flip="none" rotWithShape="1">
            <a:gsLst>
              <a:gs pos="0">
                <a:srgbClr val="22D3EE"/>
              </a:gs>
              <a:gs pos="100000">
                <a:srgbClr val="06B6D4"/>
              </a:gs>
            </a:gsLst>
            <a:lin ang="2700000" scaled="1"/>
          </a:gra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8459256" y="1959972"/>
            <a:ext cx="284569" cy="3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0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927461" y="1871044"/>
            <a:ext cx="2810118" cy="497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Competitor Pages Scraped Per Run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287181" y="2475753"/>
            <a:ext cx="3432613" cy="924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Analyzes up to </a:t>
            </a:r>
            <a:r>
              <a:rPr lang="en-US" sz="1120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competitor pages simultaneously</a:t>
            </a:r>
            <a:r>
              <a:rPr lang="en-US" sz="112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comprehensive market intelligence, extracting USPs, tone patterns, and keyword gaps in a single operation.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8287181" y="3510873"/>
            <a:ext cx="3361470" cy="7114"/>
          </a:xfrm>
          <a:prstGeom prst="roundRect">
            <a:avLst>
              <a:gd name="adj" fmla="val 0"/>
            </a:avLst>
          </a:prstGeom>
          <a:solidFill>
            <a:srgbClr val="22D3EE">
              <a:alpha val="20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8304967" y="3638927"/>
            <a:ext cx="142284" cy="142284"/>
          </a:xfrm>
          <a:custGeom>
            <a:avLst/>
            <a:gdLst/>
            <a:ahLst/>
            <a:cxnLst/>
            <a:rect l="l" t="t" r="r" b="b"/>
            <a:pathLst>
              <a:path w="142284" h="142284">
                <a:moveTo>
                  <a:pt x="71142" y="142284"/>
                </a:moveTo>
                <a:cubicBezTo>
                  <a:pt x="110407" y="142284"/>
                  <a:pt x="142284" y="110407"/>
                  <a:pt x="142284" y="71142"/>
                </a:cubicBezTo>
                <a:cubicBezTo>
                  <a:pt x="142284" y="31878"/>
                  <a:pt x="110407" y="0"/>
                  <a:pt x="71142" y="0"/>
                </a:cubicBezTo>
                <a:cubicBezTo>
                  <a:pt x="31878" y="0"/>
                  <a:pt x="0" y="31878"/>
                  <a:pt x="0" y="71142"/>
                </a:cubicBezTo>
                <a:cubicBezTo>
                  <a:pt x="0" y="110407"/>
                  <a:pt x="31878" y="142284"/>
                  <a:pt x="71142" y="142284"/>
                </a:cubicBezTo>
                <a:close/>
                <a:moveTo>
                  <a:pt x="94597" y="59109"/>
                </a:moveTo>
                <a:lnTo>
                  <a:pt x="72365" y="94680"/>
                </a:lnTo>
                <a:cubicBezTo>
                  <a:pt x="71198" y="96542"/>
                  <a:pt x="69197" y="97709"/>
                  <a:pt x="67002" y="97821"/>
                </a:cubicBezTo>
                <a:cubicBezTo>
                  <a:pt x="64806" y="97932"/>
                  <a:pt x="62694" y="96931"/>
                  <a:pt x="61388" y="95153"/>
                </a:cubicBezTo>
                <a:lnTo>
                  <a:pt x="48049" y="77367"/>
                </a:lnTo>
                <a:cubicBezTo>
                  <a:pt x="45826" y="74421"/>
                  <a:pt x="46437" y="70253"/>
                  <a:pt x="49383" y="68030"/>
                </a:cubicBezTo>
                <a:cubicBezTo>
                  <a:pt x="52328" y="65807"/>
                  <a:pt x="56497" y="66418"/>
                  <a:pt x="58720" y="69364"/>
                </a:cubicBezTo>
                <a:lnTo>
                  <a:pt x="66223" y="79368"/>
                </a:lnTo>
                <a:lnTo>
                  <a:pt x="83286" y="52051"/>
                </a:lnTo>
                <a:cubicBezTo>
                  <a:pt x="85232" y="48938"/>
                  <a:pt x="89345" y="47965"/>
                  <a:pt x="92485" y="49939"/>
                </a:cubicBezTo>
                <a:cubicBezTo>
                  <a:pt x="95625" y="51912"/>
                  <a:pt x="96570" y="55997"/>
                  <a:pt x="94597" y="59137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32" name="Text 29"/>
          <p:cNvSpPr/>
          <p:nvPr/>
        </p:nvSpPr>
        <p:spPr>
          <a:xfrm>
            <a:off x="8536179" y="3621141"/>
            <a:ext cx="2036446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competitive analysis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359268" y="4129807"/>
            <a:ext cx="3724296" cy="2292558"/>
          </a:xfrm>
          <a:prstGeom prst="roundRect">
            <a:avLst>
              <a:gd name="adj" fmla="val 4655"/>
            </a:avLst>
          </a:prstGeom>
          <a:gradFill flip="none" rotWithShape="1">
            <a:gsLst>
              <a:gs pos="0">
                <a:srgbClr val="F97316">
                  <a:alpha val="20000"/>
                </a:srgbClr>
              </a:gs>
              <a:gs pos="100000">
                <a:srgbClr val="F97316">
                  <a:alpha val="5000"/>
                </a:srgbClr>
              </a:gs>
            </a:gsLst>
            <a:lin ang="2700000" scaled="1"/>
          </a:gradFill>
          <a:ln w="1016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40681" y="4311218"/>
            <a:ext cx="497996" cy="497996"/>
          </a:xfrm>
          <a:prstGeom prst="roundRect">
            <a:avLst>
              <a:gd name="adj" fmla="val 21429"/>
            </a:avLst>
          </a:prstGeom>
          <a:gradFill flip="none" rotWithShape="1">
            <a:gsLst>
              <a:gs pos="0">
                <a:srgbClr val="F97316"/>
              </a:gs>
              <a:gs pos="100000">
                <a:srgbClr val="EA580C"/>
              </a:gs>
            </a:gsLst>
            <a:lin ang="2700000" scaled="1"/>
          </a:gra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82965" y="4453502"/>
            <a:ext cx="213427" cy="213427"/>
          </a:xfrm>
          <a:custGeom>
            <a:avLst/>
            <a:gdLst/>
            <a:ahLst/>
            <a:cxnLst/>
            <a:rect l="l" t="t" r="r" b="b"/>
            <a:pathLst>
              <a:path w="213427" h="213427">
                <a:moveTo>
                  <a:pt x="50022" y="23344"/>
                </a:moveTo>
                <a:cubicBezTo>
                  <a:pt x="50022" y="10463"/>
                  <a:pt x="60485" y="0"/>
                  <a:pt x="73365" y="0"/>
                </a:cubicBezTo>
                <a:lnTo>
                  <a:pt x="83370" y="0"/>
                </a:lnTo>
                <a:cubicBezTo>
                  <a:pt x="90748" y="0"/>
                  <a:pt x="96709" y="5961"/>
                  <a:pt x="96709" y="13339"/>
                </a:cubicBezTo>
                <a:lnTo>
                  <a:pt x="96709" y="200088"/>
                </a:lnTo>
                <a:cubicBezTo>
                  <a:pt x="96709" y="207466"/>
                  <a:pt x="90748" y="213427"/>
                  <a:pt x="83370" y="213427"/>
                </a:cubicBezTo>
                <a:lnTo>
                  <a:pt x="70031" y="213427"/>
                </a:lnTo>
                <a:cubicBezTo>
                  <a:pt x="57609" y="213427"/>
                  <a:pt x="47146" y="204923"/>
                  <a:pt x="44186" y="193418"/>
                </a:cubicBezTo>
                <a:cubicBezTo>
                  <a:pt x="43894" y="193418"/>
                  <a:pt x="43644" y="193418"/>
                  <a:pt x="43352" y="193418"/>
                </a:cubicBezTo>
                <a:cubicBezTo>
                  <a:pt x="24928" y="193418"/>
                  <a:pt x="10004" y="178495"/>
                  <a:pt x="10004" y="160070"/>
                </a:cubicBezTo>
                <a:cubicBezTo>
                  <a:pt x="10004" y="152567"/>
                  <a:pt x="12505" y="145647"/>
                  <a:pt x="16674" y="140061"/>
                </a:cubicBezTo>
                <a:cubicBezTo>
                  <a:pt x="8587" y="133975"/>
                  <a:pt x="3335" y="124304"/>
                  <a:pt x="3335" y="113383"/>
                </a:cubicBezTo>
                <a:cubicBezTo>
                  <a:pt x="3335" y="100502"/>
                  <a:pt x="10671" y="89289"/>
                  <a:pt x="21343" y="83745"/>
                </a:cubicBezTo>
                <a:cubicBezTo>
                  <a:pt x="18383" y="78743"/>
                  <a:pt x="16674" y="72907"/>
                  <a:pt x="16674" y="66696"/>
                </a:cubicBezTo>
                <a:cubicBezTo>
                  <a:pt x="16674" y="48271"/>
                  <a:pt x="31597" y="33348"/>
                  <a:pt x="50022" y="33348"/>
                </a:cubicBezTo>
                <a:lnTo>
                  <a:pt x="50022" y="23344"/>
                </a:lnTo>
                <a:close/>
                <a:moveTo>
                  <a:pt x="163405" y="23344"/>
                </a:moveTo>
                <a:lnTo>
                  <a:pt x="163405" y="33348"/>
                </a:lnTo>
                <a:cubicBezTo>
                  <a:pt x="181830" y="33348"/>
                  <a:pt x="196753" y="48271"/>
                  <a:pt x="196753" y="66696"/>
                </a:cubicBezTo>
                <a:cubicBezTo>
                  <a:pt x="196753" y="72949"/>
                  <a:pt x="195044" y="78784"/>
                  <a:pt x="192084" y="83745"/>
                </a:cubicBezTo>
                <a:cubicBezTo>
                  <a:pt x="202797" y="89289"/>
                  <a:pt x="210092" y="100461"/>
                  <a:pt x="210092" y="113383"/>
                </a:cubicBezTo>
                <a:cubicBezTo>
                  <a:pt x="210092" y="124304"/>
                  <a:pt x="204840" y="133975"/>
                  <a:pt x="196753" y="140061"/>
                </a:cubicBezTo>
                <a:cubicBezTo>
                  <a:pt x="200921" y="145647"/>
                  <a:pt x="203422" y="152567"/>
                  <a:pt x="203422" y="160070"/>
                </a:cubicBezTo>
                <a:cubicBezTo>
                  <a:pt x="203422" y="178495"/>
                  <a:pt x="188499" y="193418"/>
                  <a:pt x="170074" y="193418"/>
                </a:cubicBezTo>
                <a:cubicBezTo>
                  <a:pt x="169783" y="193418"/>
                  <a:pt x="169532" y="193418"/>
                  <a:pt x="169241" y="193418"/>
                </a:cubicBezTo>
                <a:cubicBezTo>
                  <a:pt x="166281" y="204923"/>
                  <a:pt x="155818" y="213427"/>
                  <a:pt x="143396" y="213427"/>
                </a:cubicBezTo>
                <a:lnTo>
                  <a:pt x="130057" y="213427"/>
                </a:lnTo>
                <a:cubicBezTo>
                  <a:pt x="122679" y="213427"/>
                  <a:pt x="116718" y="207466"/>
                  <a:pt x="116718" y="200088"/>
                </a:cubicBezTo>
                <a:lnTo>
                  <a:pt x="116718" y="13339"/>
                </a:lnTo>
                <a:cubicBezTo>
                  <a:pt x="116718" y="5961"/>
                  <a:pt x="122679" y="0"/>
                  <a:pt x="130057" y="0"/>
                </a:cubicBezTo>
                <a:lnTo>
                  <a:pt x="140061" y="0"/>
                </a:lnTo>
                <a:cubicBezTo>
                  <a:pt x="152942" y="0"/>
                  <a:pt x="163405" y="10463"/>
                  <a:pt x="163405" y="2334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Text 33"/>
          <p:cNvSpPr/>
          <p:nvPr/>
        </p:nvSpPr>
        <p:spPr>
          <a:xfrm>
            <a:off x="1180961" y="4435716"/>
            <a:ext cx="2409943" cy="248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Persistent Learning via mem0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540681" y="4915926"/>
            <a:ext cx="3432613" cy="924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Vector memory system </a:t>
            </a:r>
            <a:r>
              <a:rPr lang="en-US" sz="1120" b="1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learns from every saved result</a:t>
            </a:r>
            <a:r>
              <a:rPr lang="en-US" sz="112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continuously improving output quality and brand alignment without manual retraining.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540681" y="5951046"/>
            <a:ext cx="3361470" cy="7114"/>
          </a:xfrm>
          <a:prstGeom prst="roundRect">
            <a:avLst>
              <a:gd name="adj" fmla="val 0"/>
            </a:avLst>
          </a:prstGeom>
          <a:solidFill>
            <a:srgbClr val="F97316">
              <a:alpha val="20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558467" y="6079109"/>
            <a:ext cx="142284" cy="142284"/>
          </a:xfrm>
          <a:custGeom>
            <a:avLst/>
            <a:gdLst/>
            <a:ahLst/>
            <a:cxnLst/>
            <a:rect l="l" t="t" r="r" b="b"/>
            <a:pathLst>
              <a:path w="142284" h="142284">
                <a:moveTo>
                  <a:pt x="71142" y="142284"/>
                </a:moveTo>
                <a:cubicBezTo>
                  <a:pt x="110407" y="142284"/>
                  <a:pt x="142284" y="110407"/>
                  <a:pt x="142284" y="71142"/>
                </a:cubicBezTo>
                <a:cubicBezTo>
                  <a:pt x="142284" y="31878"/>
                  <a:pt x="110407" y="0"/>
                  <a:pt x="71142" y="0"/>
                </a:cubicBezTo>
                <a:cubicBezTo>
                  <a:pt x="31878" y="0"/>
                  <a:pt x="0" y="31878"/>
                  <a:pt x="0" y="71142"/>
                </a:cubicBezTo>
                <a:cubicBezTo>
                  <a:pt x="0" y="110407"/>
                  <a:pt x="31878" y="142284"/>
                  <a:pt x="71142" y="142284"/>
                </a:cubicBezTo>
                <a:close/>
                <a:moveTo>
                  <a:pt x="94597" y="59109"/>
                </a:moveTo>
                <a:lnTo>
                  <a:pt x="72365" y="94680"/>
                </a:lnTo>
                <a:cubicBezTo>
                  <a:pt x="71198" y="96542"/>
                  <a:pt x="69197" y="97709"/>
                  <a:pt x="67002" y="97821"/>
                </a:cubicBezTo>
                <a:cubicBezTo>
                  <a:pt x="64806" y="97932"/>
                  <a:pt x="62694" y="96931"/>
                  <a:pt x="61388" y="95153"/>
                </a:cubicBezTo>
                <a:lnTo>
                  <a:pt x="48049" y="77367"/>
                </a:lnTo>
                <a:cubicBezTo>
                  <a:pt x="45826" y="74421"/>
                  <a:pt x="46437" y="70253"/>
                  <a:pt x="49383" y="68030"/>
                </a:cubicBezTo>
                <a:cubicBezTo>
                  <a:pt x="52328" y="65807"/>
                  <a:pt x="56497" y="66418"/>
                  <a:pt x="58720" y="69364"/>
                </a:cubicBezTo>
                <a:lnTo>
                  <a:pt x="66223" y="79368"/>
                </a:lnTo>
                <a:lnTo>
                  <a:pt x="83286" y="52051"/>
                </a:lnTo>
                <a:cubicBezTo>
                  <a:pt x="85232" y="48938"/>
                  <a:pt x="89345" y="47965"/>
                  <a:pt x="92485" y="49939"/>
                </a:cubicBezTo>
                <a:cubicBezTo>
                  <a:pt x="95625" y="51912"/>
                  <a:pt x="96570" y="55997"/>
                  <a:pt x="94597" y="59137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40" name="Text 37"/>
          <p:cNvSpPr/>
          <p:nvPr/>
        </p:nvSpPr>
        <p:spPr>
          <a:xfrm>
            <a:off x="789679" y="6061323"/>
            <a:ext cx="1422845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Self-improving AI system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4232518" y="4129807"/>
            <a:ext cx="3724296" cy="2292558"/>
          </a:xfrm>
          <a:prstGeom prst="roundRect">
            <a:avLst>
              <a:gd name="adj" fmla="val 4655"/>
            </a:avLst>
          </a:prstGeom>
          <a:gradFill flip="none" rotWithShape="1">
            <a:gsLst>
              <a:gs pos="0">
                <a:srgbClr val="10B981">
                  <a:alpha val="20000"/>
                </a:srgbClr>
              </a:gs>
              <a:gs pos="100000">
                <a:srgbClr val="10B981">
                  <a:alpha val="5000"/>
                </a:srgbClr>
              </a:gs>
            </a:gsLst>
            <a:lin ang="2700000" scaled="1"/>
          </a:gradFill>
          <a:ln w="1016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413931" y="4311218"/>
            <a:ext cx="497996" cy="497996"/>
          </a:xfrm>
          <a:prstGeom prst="roundRect">
            <a:avLst>
              <a:gd name="adj" fmla="val 21429"/>
            </a:avLst>
          </a:prstGeom>
          <a:gradFill flip="none" rotWithShape="1">
            <a:gsLst>
              <a:gs pos="0">
                <a:srgbClr val="10B981"/>
              </a:gs>
              <a:gs pos="100000">
                <a:srgbClr val="059669"/>
              </a:gs>
            </a:gsLst>
            <a:lin ang="2700000" scaled="1"/>
          </a:gra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4569555" y="4453502"/>
            <a:ext cx="186748" cy="213427"/>
          </a:xfrm>
          <a:custGeom>
            <a:avLst/>
            <a:gdLst/>
            <a:ahLst/>
            <a:cxnLst/>
            <a:rect l="l" t="t" r="r" b="b"/>
            <a:pathLst>
              <a:path w="186748" h="213427">
                <a:moveTo>
                  <a:pt x="120053" y="0"/>
                </a:moveTo>
                <a:lnTo>
                  <a:pt x="53357" y="0"/>
                </a:lnTo>
                <a:cubicBezTo>
                  <a:pt x="45978" y="0"/>
                  <a:pt x="40018" y="5961"/>
                  <a:pt x="40018" y="13339"/>
                </a:cubicBezTo>
                <a:cubicBezTo>
                  <a:pt x="40018" y="20717"/>
                  <a:pt x="45978" y="26678"/>
                  <a:pt x="53357" y="26678"/>
                </a:cubicBezTo>
                <a:lnTo>
                  <a:pt x="53357" y="89831"/>
                </a:lnTo>
                <a:lnTo>
                  <a:pt x="3126" y="177703"/>
                </a:lnTo>
                <a:cubicBezTo>
                  <a:pt x="1084" y="181329"/>
                  <a:pt x="0" y="185373"/>
                  <a:pt x="0" y="189541"/>
                </a:cubicBezTo>
                <a:cubicBezTo>
                  <a:pt x="0" y="202755"/>
                  <a:pt x="10671" y="213427"/>
                  <a:pt x="23885" y="213427"/>
                </a:cubicBezTo>
                <a:lnTo>
                  <a:pt x="162863" y="213427"/>
                </a:lnTo>
                <a:cubicBezTo>
                  <a:pt x="176035" y="213427"/>
                  <a:pt x="186748" y="202755"/>
                  <a:pt x="186748" y="189541"/>
                </a:cubicBezTo>
                <a:cubicBezTo>
                  <a:pt x="186748" y="185373"/>
                  <a:pt x="185665" y="181288"/>
                  <a:pt x="183622" y="177703"/>
                </a:cubicBezTo>
                <a:lnTo>
                  <a:pt x="133392" y="89831"/>
                </a:lnTo>
                <a:lnTo>
                  <a:pt x="133392" y="26678"/>
                </a:lnTo>
                <a:cubicBezTo>
                  <a:pt x="140770" y="26678"/>
                  <a:pt x="146731" y="20717"/>
                  <a:pt x="146731" y="13339"/>
                </a:cubicBezTo>
                <a:cubicBezTo>
                  <a:pt x="146731" y="5961"/>
                  <a:pt x="140770" y="0"/>
                  <a:pt x="133392" y="0"/>
                </a:cubicBezTo>
                <a:lnTo>
                  <a:pt x="120053" y="0"/>
                </a:lnTo>
                <a:close/>
                <a:moveTo>
                  <a:pt x="80035" y="89831"/>
                </a:moveTo>
                <a:lnTo>
                  <a:pt x="80035" y="26678"/>
                </a:lnTo>
                <a:lnTo>
                  <a:pt x="106713" y="26678"/>
                </a:lnTo>
                <a:lnTo>
                  <a:pt x="106713" y="89831"/>
                </a:lnTo>
                <a:cubicBezTo>
                  <a:pt x="106713" y="94458"/>
                  <a:pt x="107922" y="99043"/>
                  <a:pt x="110215" y="103087"/>
                </a:cubicBezTo>
                <a:lnTo>
                  <a:pt x="127556" y="133392"/>
                </a:lnTo>
                <a:lnTo>
                  <a:pt x="59193" y="133392"/>
                </a:lnTo>
                <a:lnTo>
                  <a:pt x="76533" y="103087"/>
                </a:lnTo>
                <a:cubicBezTo>
                  <a:pt x="78826" y="99043"/>
                  <a:pt x="80035" y="94500"/>
                  <a:pt x="80035" y="8983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4" name="Text 41"/>
          <p:cNvSpPr/>
          <p:nvPr/>
        </p:nvSpPr>
        <p:spPr>
          <a:xfrm>
            <a:off x="5054211" y="4435716"/>
            <a:ext cx="2676726" cy="248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 Demo Mode — Zero API Keys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4413931" y="4915926"/>
            <a:ext cx="3432613" cy="924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</a:t>
            </a:r>
            <a:r>
              <a:rPr lang="en-US" sz="112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 mode with fixture data</a:t>
            </a:r>
            <a:r>
              <a:rPr lang="en-US" sz="112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enables testing, development, and presentations without any API costs or external dependencies.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4413931" y="5951046"/>
            <a:ext cx="3361470" cy="7114"/>
          </a:xfrm>
          <a:prstGeom prst="roundRect">
            <a:avLst>
              <a:gd name="adj" fmla="val 0"/>
            </a:avLst>
          </a:prstGeom>
          <a:solidFill>
            <a:srgbClr val="10B981">
              <a:alpha val="20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4431716" y="6079109"/>
            <a:ext cx="142284" cy="142284"/>
          </a:xfrm>
          <a:custGeom>
            <a:avLst/>
            <a:gdLst/>
            <a:ahLst/>
            <a:cxnLst/>
            <a:rect l="l" t="t" r="r" b="b"/>
            <a:pathLst>
              <a:path w="142284" h="142284">
                <a:moveTo>
                  <a:pt x="71142" y="142284"/>
                </a:moveTo>
                <a:cubicBezTo>
                  <a:pt x="110407" y="142284"/>
                  <a:pt x="142284" y="110407"/>
                  <a:pt x="142284" y="71142"/>
                </a:cubicBezTo>
                <a:cubicBezTo>
                  <a:pt x="142284" y="31878"/>
                  <a:pt x="110407" y="0"/>
                  <a:pt x="71142" y="0"/>
                </a:cubicBezTo>
                <a:cubicBezTo>
                  <a:pt x="31878" y="0"/>
                  <a:pt x="0" y="31878"/>
                  <a:pt x="0" y="71142"/>
                </a:cubicBezTo>
                <a:cubicBezTo>
                  <a:pt x="0" y="110407"/>
                  <a:pt x="31878" y="142284"/>
                  <a:pt x="71142" y="142284"/>
                </a:cubicBezTo>
                <a:close/>
                <a:moveTo>
                  <a:pt x="94597" y="59109"/>
                </a:moveTo>
                <a:lnTo>
                  <a:pt x="72365" y="94680"/>
                </a:lnTo>
                <a:cubicBezTo>
                  <a:pt x="71198" y="96542"/>
                  <a:pt x="69197" y="97709"/>
                  <a:pt x="67002" y="97821"/>
                </a:cubicBezTo>
                <a:cubicBezTo>
                  <a:pt x="64806" y="97932"/>
                  <a:pt x="62694" y="96931"/>
                  <a:pt x="61388" y="95153"/>
                </a:cubicBezTo>
                <a:lnTo>
                  <a:pt x="48049" y="77367"/>
                </a:lnTo>
                <a:cubicBezTo>
                  <a:pt x="45826" y="74421"/>
                  <a:pt x="46437" y="70253"/>
                  <a:pt x="49383" y="68030"/>
                </a:cubicBezTo>
                <a:cubicBezTo>
                  <a:pt x="52328" y="65807"/>
                  <a:pt x="56497" y="66418"/>
                  <a:pt x="58720" y="69364"/>
                </a:cubicBezTo>
                <a:lnTo>
                  <a:pt x="66223" y="79368"/>
                </a:lnTo>
                <a:lnTo>
                  <a:pt x="83286" y="52051"/>
                </a:lnTo>
                <a:cubicBezTo>
                  <a:pt x="85232" y="48938"/>
                  <a:pt x="89345" y="47965"/>
                  <a:pt x="92485" y="49939"/>
                </a:cubicBezTo>
                <a:cubicBezTo>
                  <a:pt x="95625" y="51912"/>
                  <a:pt x="96570" y="55997"/>
                  <a:pt x="94597" y="5913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8" name="Text 45"/>
          <p:cNvSpPr/>
          <p:nvPr/>
        </p:nvSpPr>
        <p:spPr>
          <a:xfrm>
            <a:off x="4662929" y="6061323"/>
            <a:ext cx="1138276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Risk-free evaluation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8105768" y="4129807"/>
            <a:ext cx="3724296" cy="2292558"/>
          </a:xfrm>
          <a:prstGeom prst="roundRect">
            <a:avLst>
              <a:gd name="adj" fmla="val 4655"/>
            </a:avLst>
          </a:prstGeom>
          <a:gradFill flip="none" rotWithShape="1">
            <a:gsLst>
              <a:gs pos="0">
                <a:srgbClr val="6366F1">
                  <a:alpha val="20000"/>
                </a:srgbClr>
              </a:gs>
              <a:gs pos="100000">
                <a:srgbClr val="A855F7">
                  <a:alpha val="10000"/>
                </a:srgbClr>
              </a:gs>
            </a:gsLst>
            <a:lin ang="2700000" scaled="1"/>
          </a:gradFill>
          <a:ln w="1016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8287181" y="4311218"/>
            <a:ext cx="497996" cy="497996"/>
          </a:xfrm>
          <a:prstGeom prst="roundRect">
            <a:avLst>
              <a:gd name="adj" fmla="val 21429"/>
            </a:avLst>
          </a:prstGeom>
          <a:gradFill flip="none" rotWithShape="1">
            <a:gsLst>
              <a:gs pos="0">
                <a:srgbClr val="6366F1"/>
              </a:gs>
              <a:gs pos="100000">
                <a:srgbClr val="A855F7"/>
              </a:gs>
            </a:gsLst>
            <a:lin ang="2700000" scaled="1"/>
          </a:gra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8442805" y="4453502"/>
            <a:ext cx="186748" cy="213427"/>
          </a:xfrm>
          <a:custGeom>
            <a:avLst/>
            <a:gdLst/>
            <a:ahLst/>
            <a:cxnLst/>
            <a:rect l="l" t="t" r="r" b="b"/>
            <a:pathLst>
              <a:path w="186748" h="213427">
                <a:moveTo>
                  <a:pt x="186748" y="85788"/>
                </a:moveTo>
                <a:cubicBezTo>
                  <a:pt x="180579" y="89873"/>
                  <a:pt x="173493" y="93166"/>
                  <a:pt x="166114" y="95792"/>
                </a:cubicBezTo>
                <a:cubicBezTo>
                  <a:pt x="146522" y="102795"/>
                  <a:pt x="120803" y="106713"/>
                  <a:pt x="93374" y="106713"/>
                </a:cubicBezTo>
                <a:cubicBezTo>
                  <a:pt x="65946" y="106713"/>
                  <a:pt x="40184" y="102753"/>
                  <a:pt x="20634" y="95792"/>
                </a:cubicBezTo>
                <a:cubicBezTo>
                  <a:pt x="13297" y="93166"/>
                  <a:pt x="6169" y="89873"/>
                  <a:pt x="0" y="85788"/>
                </a:cubicBezTo>
                <a:lnTo>
                  <a:pt x="0" y="120053"/>
                </a:lnTo>
                <a:cubicBezTo>
                  <a:pt x="0" y="138477"/>
                  <a:pt x="41810" y="153400"/>
                  <a:pt x="93374" y="153400"/>
                </a:cubicBezTo>
                <a:cubicBezTo>
                  <a:pt x="144938" y="153400"/>
                  <a:pt x="186748" y="138477"/>
                  <a:pt x="186748" y="120053"/>
                </a:cubicBezTo>
                <a:lnTo>
                  <a:pt x="186748" y="85788"/>
                </a:lnTo>
                <a:close/>
                <a:moveTo>
                  <a:pt x="186748" y="53357"/>
                </a:moveTo>
                <a:lnTo>
                  <a:pt x="186748" y="33348"/>
                </a:lnTo>
                <a:cubicBezTo>
                  <a:pt x="186748" y="14923"/>
                  <a:pt x="144938" y="0"/>
                  <a:pt x="93374" y="0"/>
                </a:cubicBezTo>
                <a:cubicBezTo>
                  <a:pt x="41810" y="0"/>
                  <a:pt x="0" y="14923"/>
                  <a:pt x="0" y="33348"/>
                </a:cubicBezTo>
                <a:lnTo>
                  <a:pt x="0" y="53357"/>
                </a:lnTo>
                <a:cubicBezTo>
                  <a:pt x="0" y="71781"/>
                  <a:pt x="41810" y="86705"/>
                  <a:pt x="93374" y="86705"/>
                </a:cubicBezTo>
                <a:cubicBezTo>
                  <a:pt x="144938" y="86705"/>
                  <a:pt x="186748" y="71781"/>
                  <a:pt x="186748" y="53357"/>
                </a:cubicBezTo>
                <a:close/>
                <a:moveTo>
                  <a:pt x="166114" y="162488"/>
                </a:moveTo>
                <a:cubicBezTo>
                  <a:pt x="146564" y="169449"/>
                  <a:pt x="120845" y="173409"/>
                  <a:pt x="93374" y="173409"/>
                </a:cubicBezTo>
                <a:cubicBezTo>
                  <a:pt x="65904" y="173409"/>
                  <a:pt x="40184" y="169449"/>
                  <a:pt x="20634" y="162488"/>
                </a:cubicBezTo>
                <a:cubicBezTo>
                  <a:pt x="13297" y="159862"/>
                  <a:pt x="6169" y="156568"/>
                  <a:pt x="0" y="152483"/>
                </a:cubicBezTo>
                <a:lnTo>
                  <a:pt x="0" y="180079"/>
                </a:lnTo>
                <a:cubicBezTo>
                  <a:pt x="0" y="198504"/>
                  <a:pt x="41810" y="213427"/>
                  <a:pt x="93374" y="213427"/>
                </a:cubicBezTo>
                <a:cubicBezTo>
                  <a:pt x="144938" y="213427"/>
                  <a:pt x="186748" y="198504"/>
                  <a:pt x="186748" y="180079"/>
                </a:cubicBezTo>
                <a:lnTo>
                  <a:pt x="186748" y="152483"/>
                </a:lnTo>
                <a:cubicBezTo>
                  <a:pt x="180579" y="156568"/>
                  <a:pt x="173493" y="159862"/>
                  <a:pt x="166114" y="16248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2" name="Text 49"/>
          <p:cNvSpPr/>
          <p:nvPr/>
        </p:nvSpPr>
        <p:spPr>
          <a:xfrm>
            <a:off x="8927461" y="4435716"/>
            <a:ext cx="2694512" cy="248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Local SQLite — No Cloud Needed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8287181" y="4915926"/>
            <a:ext cx="3432613" cy="924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data stored in </a:t>
            </a:r>
            <a:r>
              <a:rPr lang="en-US" sz="1120" b="1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SQLite database</a:t>
            </a:r>
            <a:r>
              <a:rPr lang="en-US" sz="112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no cloud infrastructure required, ensuring privacy, control, and zero ongoing hosting costs.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8287181" y="5951046"/>
            <a:ext cx="3361470" cy="7114"/>
          </a:xfrm>
          <a:prstGeom prst="roundRect">
            <a:avLst>
              <a:gd name="adj" fmla="val 0"/>
            </a:avLst>
          </a:prstGeom>
          <a:solidFill>
            <a:srgbClr val="6366F1">
              <a:alpha val="20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8304967" y="6079109"/>
            <a:ext cx="142284" cy="142284"/>
          </a:xfrm>
          <a:custGeom>
            <a:avLst/>
            <a:gdLst/>
            <a:ahLst/>
            <a:cxnLst/>
            <a:rect l="l" t="t" r="r" b="b"/>
            <a:pathLst>
              <a:path w="142284" h="142284">
                <a:moveTo>
                  <a:pt x="71142" y="142284"/>
                </a:moveTo>
                <a:cubicBezTo>
                  <a:pt x="110407" y="142284"/>
                  <a:pt x="142284" y="110407"/>
                  <a:pt x="142284" y="71142"/>
                </a:cubicBezTo>
                <a:cubicBezTo>
                  <a:pt x="142284" y="31878"/>
                  <a:pt x="110407" y="0"/>
                  <a:pt x="71142" y="0"/>
                </a:cubicBezTo>
                <a:cubicBezTo>
                  <a:pt x="31878" y="0"/>
                  <a:pt x="0" y="31878"/>
                  <a:pt x="0" y="71142"/>
                </a:cubicBezTo>
                <a:cubicBezTo>
                  <a:pt x="0" y="110407"/>
                  <a:pt x="31878" y="142284"/>
                  <a:pt x="71142" y="142284"/>
                </a:cubicBezTo>
                <a:close/>
                <a:moveTo>
                  <a:pt x="94597" y="59109"/>
                </a:moveTo>
                <a:lnTo>
                  <a:pt x="72365" y="94680"/>
                </a:lnTo>
                <a:cubicBezTo>
                  <a:pt x="71198" y="96542"/>
                  <a:pt x="69197" y="97709"/>
                  <a:pt x="67002" y="97821"/>
                </a:cubicBezTo>
                <a:cubicBezTo>
                  <a:pt x="64806" y="97932"/>
                  <a:pt x="62694" y="96931"/>
                  <a:pt x="61388" y="95153"/>
                </a:cubicBezTo>
                <a:lnTo>
                  <a:pt x="48049" y="77367"/>
                </a:lnTo>
                <a:cubicBezTo>
                  <a:pt x="45826" y="74421"/>
                  <a:pt x="46437" y="70253"/>
                  <a:pt x="49383" y="68030"/>
                </a:cubicBezTo>
                <a:cubicBezTo>
                  <a:pt x="52328" y="65807"/>
                  <a:pt x="56497" y="66418"/>
                  <a:pt x="58720" y="69364"/>
                </a:cubicBezTo>
                <a:lnTo>
                  <a:pt x="66223" y="79368"/>
                </a:lnTo>
                <a:lnTo>
                  <a:pt x="83286" y="52051"/>
                </a:lnTo>
                <a:cubicBezTo>
                  <a:pt x="85232" y="48938"/>
                  <a:pt x="89345" y="47965"/>
                  <a:pt x="92485" y="49939"/>
                </a:cubicBezTo>
                <a:cubicBezTo>
                  <a:pt x="95625" y="51912"/>
                  <a:pt x="96570" y="55997"/>
                  <a:pt x="94597" y="5913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6" name="Text 53"/>
          <p:cNvSpPr/>
          <p:nvPr/>
        </p:nvSpPr>
        <p:spPr>
          <a:xfrm>
            <a:off x="8536179" y="6061323"/>
            <a:ext cx="1396166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Privacy-first architecture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302354" y="6566431"/>
            <a:ext cx="11587291" cy="28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8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Built for </a:t>
            </a:r>
            <a:r>
              <a:rPr lang="en-US" sz="1681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scale</a:t>
            </a:r>
            <a:r>
              <a:rPr lang="en-US" sz="168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Designed for </a:t>
            </a:r>
            <a:r>
              <a:rPr lang="en-US" sz="1681" b="1" dirty="0">
                <a:solidFill>
                  <a:srgbClr val="A855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simplicity</a:t>
            </a:r>
            <a:r>
              <a:rPr lang="en-US" sz="168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Powered by </a:t>
            </a:r>
            <a:r>
              <a:rPr lang="en-US" sz="1681" b="1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intelligence</a:t>
            </a:r>
            <a:r>
              <a:rPr lang="en-US" sz="168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humbs.dreamstime.com/b/dark-blue-background-features-complex-interconnected-network-bright-glowing-nodes-linked-thin-lines-creating-sense-digital-392633617.jpg"/>
          <p:cNvPicPr>
            <a:picLocks noChangeAspect="1"/>
          </p:cNvPicPr>
          <p:nvPr/>
        </p:nvPicPr>
        <p:blipFill>
          <a:blip r:embed="rId3">
            <a:alphaModFix amt="20000"/>
          </a:blip>
          <a:srcRect l="17" r="17"/>
          <a:stretch/>
        </p:blipFill>
        <p:spPr>
          <a:xfrm>
            <a:off x="0" y="0"/>
            <a:ext cx="12192000" cy="6860275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60275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B0F19">
                  <a:alpha val="95000"/>
                </a:srgbClr>
              </a:gs>
              <a:gs pos="50000">
                <a:srgbClr val="0B0F19">
                  <a:alpha val="90000"/>
                </a:srgbClr>
              </a:gs>
              <a:gs pos="100000">
                <a:srgbClr val="6366F1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394505" y="367580"/>
            <a:ext cx="1408449" cy="298431"/>
          </a:xfrm>
          <a:prstGeom prst="roundRect">
            <a:avLst>
              <a:gd name="adj" fmla="val 50000"/>
            </a:avLst>
          </a:prstGeom>
          <a:solidFill>
            <a:srgbClr val="10B981">
              <a:alpha val="10196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571016" y="444005"/>
            <a:ext cx="127379" cy="145576"/>
          </a:xfrm>
          <a:custGeom>
            <a:avLst/>
            <a:gdLst/>
            <a:ahLst/>
            <a:cxnLst/>
            <a:rect l="l" t="t" r="r" b="b"/>
            <a:pathLst>
              <a:path w="127379" h="145576">
                <a:moveTo>
                  <a:pt x="9099" y="0"/>
                </a:moveTo>
                <a:cubicBezTo>
                  <a:pt x="14131" y="0"/>
                  <a:pt x="18197" y="4066"/>
                  <a:pt x="18197" y="9099"/>
                </a:cubicBezTo>
                <a:lnTo>
                  <a:pt x="18197" y="13648"/>
                </a:lnTo>
                <a:lnTo>
                  <a:pt x="37816" y="8757"/>
                </a:lnTo>
                <a:cubicBezTo>
                  <a:pt x="48649" y="6056"/>
                  <a:pt x="60079" y="7307"/>
                  <a:pt x="70087" y="12311"/>
                </a:cubicBezTo>
                <a:cubicBezTo>
                  <a:pt x="83251" y="18908"/>
                  <a:pt x="98747" y="18908"/>
                  <a:pt x="111912" y="12311"/>
                </a:cubicBezTo>
                <a:lnTo>
                  <a:pt x="114641" y="10947"/>
                </a:lnTo>
                <a:cubicBezTo>
                  <a:pt x="120498" y="7990"/>
                  <a:pt x="127379" y="12255"/>
                  <a:pt x="127379" y="18794"/>
                </a:cubicBezTo>
                <a:lnTo>
                  <a:pt x="127379" y="98321"/>
                </a:lnTo>
                <a:cubicBezTo>
                  <a:pt x="127379" y="102102"/>
                  <a:pt x="125019" y="105514"/>
                  <a:pt x="121465" y="106851"/>
                </a:cubicBezTo>
                <a:lnTo>
                  <a:pt x="111599" y="110547"/>
                </a:lnTo>
                <a:cubicBezTo>
                  <a:pt x="98463" y="115466"/>
                  <a:pt x="83848" y="114698"/>
                  <a:pt x="71310" y="108443"/>
                </a:cubicBezTo>
                <a:cubicBezTo>
                  <a:pt x="60534" y="103041"/>
                  <a:pt x="48165" y="101704"/>
                  <a:pt x="36479" y="104633"/>
                </a:cubicBezTo>
                <a:lnTo>
                  <a:pt x="18197" y="109182"/>
                </a:lnTo>
                <a:lnTo>
                  <a:pt x="18197" y="136478"/>
                </a:lnTo>
                <a:cubicBezTo>
                  <a:pt x="18197" y="141510"/>
                  <a:pt x="14131" y="145576"/>
                  <a:pt x="9099" y="145576"/>
                </a:cubicBezTo>
                <a:cubicBezTo>
                  <a:pt x="4066" y="145576"/>
                  <a:pt x="0" y="141510"/>
                  <a:pt x="0" y="136478"/>
                </a:cubicBezTo>
                <a:lnTo>
                  <a:pt x="0" y="9099"/>
                </a:lnTo>
                <a:cubicBezTo>
                  <a:pt x="0" y="4066"/>
                  <a:pt x="4066" y="0"/>
                  <a:pt x="9099" y="0"/>
                </a:cubicBezTo>
                <a:close/>
                <a:moveTo>
                  <a:pt x="18197" y="53198"/>
                </a:moveTo>
                <a:lnTo>
                  <a:pt x="36394" y="49246"/>
                </a:lnTo>
                <a:lnTo>
                  <a:pt x="36394" y="67869"/>
                </a:lnTo>
                <a:lnTo>
                  <a:pt x="18197" y="71821"/>
                </a:lnTo>
                <a:lnTo>
                  <a:pt x="18197" y="90445"/>
                </a:lnTo>
                <a:lnTo>
                  <a:pt x="32072" y="86976"/>
                </a:lnTo>
                <a:cubicBezTo>
                  <a:pt x="33522" y="86606"/>
                  <a:pt x="34944" y="86294"/>
                  <a:pt x="36394" y="86038"/>
                </a:cubicBezTo>
                <a:lnTo>
                  <a:pt x="36394" y="67869"/>
                </a:lnTo>
                <a:lnTo>
                  <a:pt x="47454" y="65481"/>
                </a:lnTo>
                <a:cubicBezTo>
                  <a:pt x="49814" y="64969"/>
                  <a:pt x="52203" y="64770"/>
                  <a:pt x="54591" y="64884"/>
                </a:cubicBezTo>
                <a:lnTo>
                  <a:pt x="54591" y="46687"/>
                </a:lnTo>
                <a:cubicBezTo>
                  <a:pt x="58458" y="46800"/>
                  <a:pt x="62325" y="47426"/>
                  <a:pt x="66078" y="48506"/>
                </a:cubicBezTo>
                <a:lnTo>
                  <a:pt x="72788" y="50468"/>
                </a:lnTo>
                <a:lnTo>
                  <a:pt x="72788" y="69433"/>
                </a:lnTo>
                <a:lnTo>
                  <a:pt x="60932" y="65936"/>
                </a:lnTo>
                <a:cubicBezTo>
                  <a:pt x="58856" y="65339"/>
                  <a:pt x="56724" y="64969"/>
                  <a:pt x="54591" y="64855"/>
                </a:cubicBezTo>
                <a:lnTo>
                  <a:pt x="54591" y="85156"/>
                </a:lnTo>
                <a:cubicBezTo>
                  <a:pt x="60789" y="85697"/>
                  <a:pt x="66902" y="87061"/>
                  <a:pt x="72788" y="89251"/>
                </a:cubicBezTo>
                <a:lnTo>
                  <a:pt x="72788" y="69405"/>
                </a:lnTo>
                <a:lnTo>
                  <a:pt x="79242" y="71310"/>
                </a:lnTo>
                <a:cubicBezTo>
                  <a:pt x="83081" y="72447"/>
                  <a:pt x="87004" y="73129"/>
                  <a:pt x="90985" y="73414"/>
                </a:cubicBezTo>
                <a:lnTo>
                  <a:pt x="90985" y="55160"/>
                </a:lnTo>
                <a:cubicBezTo>
                  <a:pt x="88767" y="54932"/>
                  <a:pt x="86550" y="54506"/>
                  <a:pt x="84389" y="53880"/>
                </a:cubicBezTo>
                <a:lnTo>
                  <a:pt x="72788" y="50468"/>
                </a:lnTo>
                <a:lnTo>
                  <a:pt x="72788" y="32840"/>
                </a:lnTo>
                <a:cubicBezTo>
                  <a:pt x="69092" y="31759"/>
                  <a:pt x="65452" y="30338"/>
                  <a:pt x="61927" y="28575"/>
                </a:cubicBezTo>
                <a:cubicBezTo>
                  <a:pt x="59595" y="27409"/>
                  <a:pt x="57122" y="26585"/>
                  <a:pt x="54591" y="26073"/>
                </a:cubicBezTo>
                <a:lnTo>
                  <a:pt x="54591" y="46658"/>
                </a:lnTo>
                <a:cubicBezTo>
                  <a:pt x="50895" y="46545"/>
                  <a:pt x="47199" y="46886"/>
                  <a:pt x="43588" y="47682"/>
                </a:cubicBezTo>
                <a:lnTo>
                  <a:pt x="36394" y="49246"/>
                </a:lnTo>
                <a:lnTo>
                  <a:pt x="36394" y="27864"/>
                </a:lnTo>
                <a:lnTo>
                  <a:pt x="18197" y="32413"/>
                </a:lnTo>
                <a:lnTo>
                  <a:pt x="18197" y="53198"/>
                </a:lnTo>
                <a:close/>
                <a:moveTo>
                  <a:pt x="90985" y="95449"/>
                </a:moveTo>
                <a:cubicBezTo>
                  <a:pt x="95762" y="95876"/>
                  <a:pt x="100624" y="95250"/>
                  <a:pt x="105201" y="93516"/>
                </a:cubicBezTo>
                <a:lnTo>
                  <a:pt x="109182" y="92037"/>
                </a:lnTo>
                <a:lnTo>
                  <a:pt x="109182" y="71651"/>
                </a:lnTo>
                <a:lnTo>
                  <a:pt x="106936" y="72163"/>
                </a:lnTo>
                <a:cubicBezTo>
                  <a:pt x="101704" y="73385"/>
                  <a:pt x="96330" y="73783"/>
                  <a:pt x="90985" y="73442"/>
                </a:cubicBezTo>
                <a:lnTo>
                  <a:pt x="90985" y="95449"/>
                </a:lnTo>
                <a:close/>
                <a:moveTo>
                  <a:pt x="109182" y="52970"/>
                </a:moveTo>
                <a:lnTo>
                  <a:pt x="109182" y="32840"/>
                </a:lnTo>
                <a:cubicBezTo>
                  <a:pt x="103240" y="34574"/>
                  <a:pt x="97127" y="35427"/>
                  <a:pt x="90985" y="35427"/>
                </a:cubicBezTo>
                <a:lnTo>
                  <a:pt x="90985" y="55160"/>
                </a:lnTo>
                <a:cubicBezTo>
                  <a:pt x="94937" y="55558"/>
                  <a:pt x="98946" y="55302"/>
                  <a:pt x="102842" y="54420"/>
                </a:cubicBezTo>
                <a:lnTo>
                  <a:pt x="109182" y="52942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" name="Text 3"/>
          <p:cNvSpPr/>
          <p:nvPr/>
        </p:nvSpPr>
        <p:spPr>
          <a:xfrm>
            <a:off x="5766634" y="425808"/>
            <a:ext cx="918949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3" b="1" kern="0" spc="5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54758" y="778838"/>
            <a:ext cx="11682484" cy="436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43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Was Built and What Comes Next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71219" y="1477603"/>
            <a:ext cx="5610140" cy="4309053"/>
          </a:xfrm>
          <a:prstGeom prst="roundRect">
            <a:avLst>
              <a:gd name="adj" fmla="val 3378"/>
            </a:avLst>
          </a:prstGeom>
          <a:gradFill flip="none" rotWithShape="1">
            <a:gsLst>
              <a:gs pos="0">
                <a:srgbClr val="10B981">
                  <a:alpha val="20000"/>
                </a:srgbClr>
              </a:gs>
              <a:gs pos="100000">
                <a:srgbClr val="10B981">
                  <a:alpha val="5000"/>
                </a:srgbClr>
              </a:gs>
            </a:gsLst>
            <a:lin ang="5400000" scaled="1"/>
          </a:gradFill>
          <a:ln w="20320">
            <a:solidFill>
              <a:srgbClr val="10B981">
                <a:alpha val="50196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6862" y="1703242"/>
            <a:ext cx="509516" cy="509516"/>
          </a:xfrm>
          <a:prstGeom prst="roundRect">
            <a:avLst>
              <a:gd name="adj" fmla="val 28571"/>
            </a:avLst>
          </a:prstGeom>
          <a:gradFill flip="none" rotWithShape="1">
            <a:gsLst>
              <a:gs pos="0">
                <a:srgbClr val="10B981"/>
              </a:gs>
              <a:gs pos="100000">
                <a:srgbClr val="059669"/>
              </a:gs>
            </a:gsLst>
            <a:lin ang="2700000" scaled="1"/>
          </a:gra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69734" y="1848818"/>
            <a:ext cx="163773" cy="218364"/>
          </a:xfrm>
          <a:custGeom>
            <a:avLst/>
            <a:gdLst/>
            <a:ahLst/>
            <a:cxnLst/>
            <a:rect l="l" t="t" r="r" b="b"/>
            <a:pathLst>
              <a:path w="163773" h="218364">
                <a:moveTo>
                  <a:pt x="106580" y="28490"/>
                </a:moveTo>
                <a:cubicBezTo>
                  <a:pt x="111016" y="22391"/>
                  <a:pt x="109651" y="13861"/>
                  <a:pt x="103552" y="9425"/>
                </a:cubicBezTo>
                <a:cubicBezTo>
                  <a:pt x="97454" y="4990"/>
                  <a:pt x="88924" y="6355"/>
                  <a:pt x="84488" y="12454"/>
                </a:cubicBezTo>
                <a:lnTo>
                  <a:pt x="39280" y="74594"/>
                </a:lnTo>
                <a:lnTo>
                  <a:pt x="23286" y="58600"/>
                </a:lnTo>
                <a:cubicBezTo>
                  <a:pt x="17955" y="53269"/>
                  <a:pt x="9298" y="53269"/>
                  <a:pt x="3966" y="58600"/>
                </a:cubicBezTo>
                <a:cubicBezTo>
                  <a:pt x="-1365" y="63931"/>
                  <a:pt x="-1365" y="72589"/>
                  <a:pt x="3966" y="77920"/>
                </a:cubicBezTo>
                <a:lnTo>
                  <a:pt x="31262" y="105216"/>
                </a:lnTo>
                <a:cubicBezTo>
                  <a:pt x="34077" y="108031"/>
                  <a:pt x="38000" y="109481"/>
                  <a:pt x="41967" y="109182"/>
                </a:cubicBezTo>
                <a:cubicBezTo>
                  <a:pt x="45933" y="108884"/>
                  <a:pt x="49601" y="106836"/>
                  <a:pt x="51947" y="103595"/>
                </a:cubicBezTo>
                <a:lnTo>
                  <a:pt x="106538" y="28532"/>
                </a:lnTo>
                <a:close/>
                <a:moveTo>
                  <a:pt x="161172" y="86493"/>
                </a:moveTo>
                <a:cubicBezTo>
                  <a:pt x="165607" y="80394"/>
                  <a:pt x="164242" y="71864"/>
                  <a:pt x="158143" y="67428"/>
                </a:cubicBezTo>
                <a:cubicBezTo>
                  <a:pt x="152045" y="62993"/>
                  <a:pt x="143515" y="64358"/>
                  <a:pt x="139079" y="70457"/>
                </a:cubicBezTo>
                <a:lnTo>
                  <a:pt x="66575" y="170128"/>
                </a:lnTo>
                <a:lnTo>
                  <a:pt x="36934" y="140487"/>
                </a:lnTo>
                <a:cubicBezTo>
                  <a:pt x="31603" y="135155"/>
                  <a:pt x="22945" y="135155"/>
                  <a:pt x="17614" y="140487"/>
                </a:cubicBezTo>
                <a:cubicBezTo>
                  <a:pt x="12283" y="145818"/>
                  <a:pt x="12283" y="154476"/>
                  <a:pt x="17614" y="159807"/>
                </a:cubicBezTo>
                <a:lnTo>
                  <a:pt x="58557" y="200750"/>
                </a:lnTo>
                <a:cubicBezTo>
                  <a:pt x="61372" y="203565"/>
                  <a:pt x="65296" y="205015"/>
                  <a:pt x="69262" y="204716"/>
                </a:cubicBezTo>
                <a:cubicBezTo>
                  <a:pt x="73229" y="204418"/>
                  <a:pt x="76897" y="202371"/>
                  <a:pt x="79242" y="199129"/>
                </a:cubicBezTo>
                <a:lnTo>
                  <a:pt x="161129" y="8653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1251955" y="1794227"/>
            <a:ext cx="1856096" cy="327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4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We Built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96862" y="2412926"/>
            <a:ext cx="291152" cy="291152"/>
          </a:xfrm>
          <a:prstGeom prst="roundRect">
            <a:avLst>
              <a:gd name="adj" fmla="val 25000"/>
            </a:avLst>
          </a:prstGeom>
          <a:solidFill>
            <a:srgbClr val="10B981">
              <a:alpha val="2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678749" y="2485714"/>
            <a:ext cx="127379" cy="145576"/>
          </a:xfrm>
          <a:custGeom>
            <a:avLst/>
            <a:gdLst/>
            <a:ahLst/>
            <a:cxnLst/>
            <a:rect l="l" t="t" r="r" b="b"/>
            <a:pathLst>
              <a:path w="127379" h="145576">
                <a:moveTo>
                  <a:pt x="123626" y="19931"/>
                </a:moveTo>
                <a:cubicBezTo>
                  <a:pt x="127692" y="22888"/>
                  <a:pt x="128602" y="28575"/>
                  <a:pt x="125645" y="32641"/>
                </a:cubicBezTo>
                <a:lnTo>
                  <a:pt x="52857" y="132724"/>
                </a:lnTo>
                <a:cubicBezTo>
                  <a:pt x="51293" y="134885"/>
                  <a:pt x="48876" y="136222"/>
                  <a:pt x="46203" y="136449"/>
                </a:cubicBezTo>
                <a:cubicBezTo>
                  <a:pt x="43531" y="136677"/>
                  <a:pt x="40943" y="135681"/>
                  <a:pt x="39067" y="133805"/>
                </a:cubicBezTo>
                <a:lnTo>
                  <a:pt x="2673" y="97411"/>
                </a:lnTo>
                <a:cubicBezTo>
                  <a:pt x="-881" y="93857"/>
                  <a:pt x="-881" y="88085"/>
                  <a:pt x="2673" y="84531"/>
                </a:cubicBezTo>
                <a:cubicBezTo>
                  <a:pt x="6227" y="80977"/>
                  <a:pt x="11999" y="80977"/>
                  <a:pt x="15553" y="84531"/>
                </a:cubicBezTo>
                <a:lnTo>
                  <a:pt x="44412" y="113390"/>
                </a:lnTo>
                <a:lnTo>
                  <a:pt x="110945" y="21922"/>
                </a:lnTo>
                <a:cubicBezTo>
                  <a:pt x="113902" y="17856"/>
                  <a:pt x="119589" y="16946"/>
                  <a:pt x="123654" y="19903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4" name="Text 11"/>
          <p:cNvSpPr/>
          <p:nvPr/>
        </p:nvSpPr>
        <p:spPr>
          <a:xfrm>
            <a:off x="997196" y="2394729"/>
            <a:ext cx="4840406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3-Stage LLM Pipeline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97196" y="2649487"/>
            <a:ext cx="4831307" cy="436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Combining scraping, memory retrieval, and generation into a seamless workflow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96862" y="3249989"/>
            <a:ext cx="291152" cy="291152"/>
          </a:xfrm>
          <a:prstGeom prst="roundRect">
            <a:avLst>
              <a:gd name="adj" fmla="val 25000"/>
            </a:avLst>
          </a:prstGeom>
          <a:solidFill>
            <a:srgbClr val="10B981">
              <a:alpha val="2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678749" y="3322777"/>
            <a:ext cx="127379" cy="145576"/>
          </a:xfrm>
          <a:custGeom>
            <a:avLst/>
            <a:gdLst/>
            <a:ahLst/>
            <a:cxnLst/>
            <a:rect l="l" t="t" r="r" b="b"/>
            <a:pathLst>
              <a:path w="127379" h="145576">
                <a:moveTo>
                  <a:pt x="123626" y="19931"/>
                </a:moveTo>
                <a:cubicBezTo>
                  <a:pt x="127692" y="22888"/>
                  <a:pt x="128602" y="28575"/>
                  <a:pt x="125645" y="32641"/>
                </a:cubicBezTo>
                <a:lnTo>
                  <a:pt x="52857" y="132724"/>
                </a:lnTo>
                <a:cubicBezTo>
                  <a:pt x="51293" y="134885"/>
                  <a:pt x="48876" y="136222"/>
                  <a:pt x="46203" y="136449"/>
                </a:cubicBezTo>
                <a:cubicBezTo>
                  <a:pt x="43531" y="136677"/>
                  <a:pt x="40943" y="135681"/>
                  <a:pt x="39067" y="133805"/>
                </a:cubicBezTo>
                <a:lnTo>
                  <a:pt x="2673" y="97411"/>
                </a:lnTo>
                <a:cubicBezTo>
                  <a:pt x="-881" y="93857"/>
                  <a:pt x="-881" y="88085"/>
                  <a:pt x="2673" y="84531"/>
                </a:cubicBezTo>
                <a:cubicBezTo>
                  <a:pt x="6227" y="80977"/>
                  <a:pt x="11999" y="80977"/>
                  <a:pt x="15553" y="84531"/>
                </a:cubicBezTo>
                <a:lnTo>
                  <a:pt x="44412" y="113390"/>
                </a:lnTo>
                <a:lnTo>
                  <a:pt x="110945" y="21922"/>
                </a:lnTo>
                <a:cubicBezTo>
                  <a:pt x="113902" y="17856"/>
                  <a:pt x="119589" y="16946"/>
                  <a:pt x="123654" y="19903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8" name="Text 15"/>
          <p:cNvSpPr/>
          <p:nvPr/>
        </p:nvSpPr>
        <p:spPr>
          <a:xfrm>
            <a:off x="997196" y="3231792"/>
            <a:ext cx="4713027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SEO Scoring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97196" y="3486550"/>
            <a:ext cx="4703928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Four weighted components providing objective 0-100 quality assessment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96862" y="3868687"/>
            <a:ext cx="291152" cy="291152"/>
          </a:xfrm>
          <a:prstGeom prst="roundRect">
            <a:avLst>
              <a:gd name="adj" fmla="val 25000"/>
            </a:avLst>
          </a:prstGeom>
          <a:solidFill>
            <a:srgbClr val="10B981">
              <a:alpha val="2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678749" y="3941475"/>
            <a:ext cx="127379" cy="145576"/>
          </a:xfrm>
          <a:custGeom>
            <a:avLst/>
            <a:gdLst/>
            <a:ahLst/>
            <a:cxnLst/>
            <a:rect l="l" t="t" r="r" b="b"/>
            <a:pathLst>
              <a:path w="127379" h="145576">
                <a:moveTo>
                  <a:pt x="123626" y="19931"/>
                </a:moveTo>
                <a:cubicBezTo>
                  <a:pt x="127692" y="22888"/>
                  <a:pt x="128602" y="28575"/>
                  <a:pt x="125645" y="32641"/>
                </a:cubicBezTo>
                <a:lnTo>
                  <a:pt x="52857" y="132724"/>
                </a:lnTo>
                <a:cubicBezTo>
                  <a:pt x="51293" y="134885"/>
                  <a:pt x="48876" y="136222"/>
                  <a:pt x="46203" y="136449"/>
                </a:cubicBezTo>
                <a:cubicBezTo>
                  <a:pt x="43531" y="136677"/>
                  <a:pt x="40943" y="135681"/>
                  <a:pt x="39067" y="133805"/>
                </a:cubicBezTo>
                <a:lnTo>
                  <a:pt x="2673" y="97411"/>
                </a:lnTo>
                <a:cubicBezTo>
                  <a:pt x="-881" y="93857"/>
                  <a:pt x="-881" y="88085"/>
                  <a:pt x="2673" y="84531"/>
                </a:cubicBezTo>
                <a:cubicBezTo>
                  <a:pt x="6227" y="80977"/>
                  <a:pt x="11999" y="80977"/>
                  <a:pt x="15553" y="84531"/>
                </a:cubicBezTo>
                <a:lnTo>
                  <a:pt x="44412" y="113390"/>
                </a:lnTo>
                <a:lnTo>
                  <a:pt x="110945" y="21922"/>
                </a:lnTo>
                <a:cubicBezTo>
                  <a:pt x="113902" y="17856"/>
                  <a:pt x="119589" y="16946"/>
                  <a:pt x="123654" y="19903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2" name="Text 19"/>
          <p:cNvSpPr/>
          <p:nvPr/>
        </p:nvSpPr>
        <p:spPr>
          <a:xfrm>
            <a:off x="997196" y="3850490"/>
            <a:ext cx="3912358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Learning System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997196" y="4105248"/>
            <a:ext cx="3903260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mem0 vector memory that improves with every saved result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96862" y="4487386"/>
            <a:ext cx="291152" cy="291152"/>
          </a:xfrm>
          <a:prstGeom prst="roundRect">
            <a:avLst>
              <a:gd name="adj" fmla="val 25000"/>
            </a:avLst>
          </a:prstGeom>
          <a:solidFill>
            <a:srgbClr val="10B981">
              <a:alpha val="20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678749" y="4560174"/>
            <a:ext cx="127379" cy="145576"/>
          </a:xfrm>
          <a:custGeom>
            <a:avLst/>
            <a:gdLst/>
            <a:ahLst/>
            <a:cxnLst/>
            <a:rect l="l" t="t" r="r" b="b"/>
            <a:pathLst>
              <a:path w="127379" h="145576">
                <a:moveTo>
                  <a:pt x="123626" y="19931"/>
                </a:moveTo>
                <a:cubicBezTo>
                  <a:pt x="127692" y="22888"/>
                  <a:pt x="128602" y="28575"/>
                  <a:pt x="125645" y="32641"/>
                </a:cubicBezTo>
                <a:lnTo>
                  <a:pt x="52857" y="132724"/>
                </a:lnTo>
                <a:cubicBezTo>
                  <a:pt x="51293" y="134885"/>
                  <a:pt x="48876" y="136222"/>
                  <a:pt x="46203" y="136449"/>
                </a:cubicBezTo>
                <a:cubicBezTo>
                  <a:pt x="43531" y="136677"/>
                  <a:pt x="40943" y="135681"/>
                  <a:pt x="39067" y="133805"/>
                </a:cubicBezTo>
                <a:lnTo>
                  <a:pt x="2673" y="97411"/>
                </a:lnTo>
                <a:cubicBezTo>
                  <a:pt x="-881" y="93857"/>
                  <a:pt x="-881" y="88085"/>
                  <a:pt x="2673" y="84531"/>
                </a:cubicBezTo>
                <a:cubicBezTo>
                  <a:pt x="6227" y="80977"/>
                  <a:pt x="11999" y="80977"/>
                  <a:pt x="15553" y="84531"/>
                </a:cubicBezTo>
                <a:lnTo>
                  <a:pt x="44412" y="113390"/>
                </a:lnTo>
                <a:lnTo>
                  <a:pt x="110945" y="21922"/>
                </a:lnTo>
                <a:cubicBezTo>
                  <a:pt x="113902" y="17856"/>
                  <a:pt x="119589" y="16946"/>
                  <a:pt x="123654" y="19903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6" name="Text 23"/>
          <p:cNvSpPr/>
          <p:nvPr/>
        </p:nvSpPr>
        <p:spPr>
          <a:xfrm>
            <a:off x="997196" y="4469189"/>
            <a:ext cx="4067033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Full-Stack Application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97196" y="4723947"/>
            <a:ext cx="4057934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Flask API backend with React frontend and Streamlit dashboard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96862" y="5106084"/>
            <a:ext cx="291152" cy="291152"/>
          </a:xfrm>
          <a:prstGeom prst="roundRect">
            <a:avLst>
              <a:gd name="adj" fmla="val 25000"/>
            </a:avLst>
          </a:prstGeom>
          <a:solidFill>
            <a:srgbClr val="10B981">
              <a:alpha val="20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678749" y="5178872"/>
            <a:ext cx="127379" cy="145576"/>
          </a:xfrm>
          <a:custGeom>
            <a:avLst/>
            <a:gdLst/>
            <a:ahLst/>
            <a:cxnLst/>
            <a:rect l="l" t="t" r="r" b="b"/>
            <a:pathLst>
              <a:path w="127379" h="145576">
                <a:moveTo>
                  <a:pt x="123626" y="19931"/>
                </a:moveTo>
                <a:cubicBezTo>
                  <a:pt x="127692" y="22888"/>
                  <a:pt x="128602" y="28575"/>
                  <a:pt x="125645" y="32641"/>
                </a:cubicBezTo>
                <a:lnTo>
                  <a:pt x="52857" y="132724"/>
                </a:lnTo>
                <a:cubicBezTo>
                  <a:pt x="51293" y="134885"/>
                  <a:pt x="48876" y="136222"/>
                  <a:pt x="46203" y="136449"/>
                </a:cubicBezTo>
                <a:cubicBezTo>
                  <a:pt x="43531" y="136677"/>
                  <a:pt x="40943" y="135681"/>
                  <a:pt x="39067" y="133805"/>
                </a:cubicBezTo>
                <a:lnTo>
                  <a:pt x="2673" y="97411"/>
                </a:lnTo>
                <a:cubicBezTo>
                  <a:pt x="-881" y="93857"/>
                  <a:pt x="-881" y="88085"/>
                  <a:pt x="2673" y="84531"/>
                </a:cubicBezTo>
                <a:cubicBezTo>
                  <a:pt x="6227" y="80977"/>
                  <a:pt x="11999" y="80977"/>
                  <a:pt x="15553" y="84531"/>
                </a:cubicBezTo>
                <a:lnTo>
                  <a:pt x="44412" y="113390"/>
                </a:lnTo>
                <a:lnTo>
                  <a:pt x="110945" y="21922"/>
                </a:lnTo>
                <a:cubicBezTo>
                  <a:pt x="113902" y="17856"/>
                  <a:pt x="119589" y="16946"/>
                  <a:pt x="123654" y="19903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0" name="Text 27"/>
          <p:cNvSpPr/>
          <p:nvPr/>
        </p:nvSpPr>
        <p:spPr>
          <a:xfrm>
            <a:off x="997196" y="5087887"/>
            <a:ext cx="3293660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Graceful Degradation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997196" y="5342645"/>
            <a:ext cx="3284561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Demo Mode with zero API dependencies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214395" y="1477603"/>
            <a:ext cx="5610140" cy="4309053"/>
          </a:xfrm>
          <a:prstGeom prst="roundRect">
            <a:avLst>
              <a:gd name="adj" fmla="val 3378"/>
            </a:avLst>
          </a:prstGeom>
          <a:gradFill flip="none" rotWithShape="1">
            <a:gsLst>
              <a:gs pos="0">
                <a:srgbClr val="6366F1">
                  <a:alpha val="20000"/>
                </a:srgbClr>
              </a:gs>
              <a:gs pos="100000">
                <a:srgbClr val="6366F1">
                  <a:alpha val="5000"/>
                </a:srgbClr>
              </a:gs>
            </a:gsLst>
            <a:lin ang="5400000" scaled="1"/>
          </a:gradFill>
          <a:ln w="20320">
            <a:solidFill>
              <a:srgbClr val="6366F1">
                <a:alpha val="50196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440037" y="1703242"/>
            <a:ext cx="509516" cy="509516"/>
          </a:xfrm>
          <a:prstGeom prst="roundRect">
            <a:avLst>
              <a:gd name="adj" fmla="val 28571"/>
            </a:avLst>
          </a:prstGeom>
          <a:gradFill flip="none" rotWithShape="1">
            <a:gsLst>
              <a:gs pos="0">
                <a:srgbClr val="6366F1"/>
              </a:gs>
              <a:gs pos="100000">
                <a:srgbClr val="4F46E5"/>
              </a:gs>
            </a:gsLst>
            <a:lin ang="2700000" scaled="1"/>
          </a:gra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585613" y="1848818"/>
            <a:ext cx="218364" cy="218364"/>
          </a:xfrm>
          <a:custGeom>
            <a:avLst/>
            <a:gdLst/>
            <a:ahLst/>
            <a:cxnLst/>
            <a:rect l="l" t="t" r="r" b="b"/>
            <a:pathLst>
              <a:path w="218364" h="218364">
                <a:moveTo>
                  <a:pt x="54591" y="136478"/>
                </a:moveTo>
                <a:lnTo>
                  <a:pt x="10449" y="136478"/>
                </a:lnTo>
                <a:cubicBezTo>
                  <a:pt x="-171" y="136478"/>
                  <a:pt x="-6696" y="124920"/>
                  <a:pt x="-1237" y="115793"/>
                </a:cubicBezTo>
                <a:lnTo>
                  <a:pt x="21325" y="78176"/>
                </a:lnTo>
                <a:cubicBezTo>
                  <a:pt x="25035" y="71992"/>
                  <a:pt x="31688" y="68239"/>
                  <a:pt x="38896" y="68239"/>
                </a:cubicBezTo>
                <a:lnTo>
                  <a:pt x="79413" y="68239"/>
                </a:lnTo>
                <a:cubicBezTo>
                  <a:pt x="111869" y="13264"/>
                  <a:pt x="160276" y="10492"/>
                  <a:pt x="192647" y="15226"/>
                </a:cubicBezTo>
                <a:cubicBezTo>
                  <a:pt x="198106" y="16036"/>
                  <a:pt x="202371" y="20301"/>
                  <a:pt x="203138" y="25718"/>
                </a:cubicBezTo>
                <a:cubicBezTo>
                  <a:pt x="207872" y="58088"/>
                  <a:pt x="205100" y="106495"/>
                  <a:pt x="150125" y="138951"/>
                </a:cubicBezTo>
                <a:lnTo>
                  <a:pt x="150125" y="179468"/>
                </a:lnTo>
                <a:cubicBezTo>
                  <a:pt x="150125" y="186676"/>
                  <a:pt x="146372" y="193329"/>
                  <a:pt x="140188" y="197040"/>
                </a:cubicBezTo>
                <a:lnTo>
                  <a:pt x="102571" y="219601"/>
                </a:lnTo>
                <a:cubicBezTo>
                  <a:pt x="93487" y="225060"/>
                  <a:pt x="81887" y="218492"/>
                  <a:pt x="81887" y="207915"/>
                </a:cubicBezTo>
                <a:lnTo>
                  <a:pt x="81887" y="163773"/>
                </a:lnTo>
                <a:cubicBezTo>
                  <a:pt x="81887" y="148718"/>
                  <a:pt x="69646" y="136478"/>
                  <a:pt x="54591" y="136478"/>
                </a:cubicBezTo>
                <a:lnTo>
                  <a:pt x="54548" y="136478"/>
                </a:lnTo>
                <a:close/>
                <a:moveTo>
                  <a:pt x="170597" y="68239"/>
                </a:moveTo>
                <a:cubicBezTo>
                  <a:pt x="170597" y="56940"/>
                  <a:pt x="161424" y="47767"/>
                  <a:pt x="150125" y="47767"/>
                </a:cubicBezTo>
                <a:cubicBezTo>
                  <a:pt x="138827" y="47767"/>
                  <a:pt x="129654" y="56940"/>
                  <a:pt x="129654" y="68239"/>
                </a:cubicBezTo>
                <a:cubicBezTo>
                  <a:pt x="129654" y="79537"/>
                  <a:pt x="138827" y="88710"/>
                  <a:pt x="150125" y="88710"/>
                </a:cubicBezTo>
                <a:cubicBezTo>
                  <a:pt x="161424" y="88710"/>
                  <a:pt x="170597" y="79537"/>
                  <a:pt x="170597" y="6823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Text 32"/>
          <p:cNvSpPr/>
          <p:nvPr/>
        </p:nvSpPr>
        <p:spPr>
          <a:xfrm>
            <a:off x="7095130" y="1794227"/>
            <a:ext cx="1746913" cy="327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4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440037" y="2412926"/>
            <a:ext cx="291152" cy="291152"/>
          </a:xfrm>
          <a:prstGeom prst="roundRect">
            <a:avLst>
              <a:gd name="adj" fmla="val 25000"/>
            </a:avLst>
          </a:prstGeom>
          <a:solidFill>
            <a:srgbClr val="6366F1">
              <a:alpha val="20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6521924" y="2485714"/>
            <a:ext cx="127379" cy="145576"/>
          </a:xfrm>
          <a:custGeom>
            <a:avLst/>
            <a:gdLst/>
            <a:ahLst/>
            <a:cxnLst/>
            <a:rect l="l" t="t" r="r" b="b"/>
            <a:pathLst>
              <a:path w="127379" h="145576">
                <a:moveTo>
                  <a:pt x="45493" y="22746"/>
                </a:moveTo>
                <a:cubicBezTo>
                  <a:pt x="45493" y="12709"/>
                  <a:pt x="53653" y="4549"/>
                  <a:pt x="63690" y="4549"/>
                </a:cubicBezTo>
                <a:cubicBezTo>
                  <a:pt x="73726" y="4549"/>
                  <a:pt x="81887" y="12709"/>
                  <a:pt x="81887" y="22746"/>
                </a:cubicBezTo>
                <a:lnTo>
                  <a:pt x="81887" y="36394"/>
                </a:lnTo>
                <a:lnTo>
                  <a:pt x="45493" y="36394"/>
                </a:lnTo>
                <a:lnTo>
                  <a:pt x="45493" y="22746"/>
                </a:lnTo>
                <a:close/>
                <a:moveTo>
                  <a:pt x="31845" y="36394"/>
                </a:moveTo>
                <a:lnTo>
                  <a:pt x="13648" y="36394"/>
                </a:lnTo>
                <a:cubicBezTo>
                  <a:pt x="6113" y="36394"/>
                  <a:pt x="0" y="42507"/>
                  <a:pt x="0" y="50042"/>
                </a:cubicBezTo>
                <a:lnTo>
                  <a:pt x="0" y="109182"/>
                </a:lnTo>
                <a:cubicBezTo>
                  <a:pt x="0" y="124251"/>
                  <a:pt x="12226" y="136478"/>
                  <a:pt x="27296" y="136478"/>
                </a:cubicBezTo>
                <a:lnTo>
                  <a:pt x="100084" y="136478"/>
                </a:lnTo>
                <a:cubicBezTo>
                  <a:pt x="115153" y="136478"/>
                  <a:pt x="127379" y="124251"/>
                  <a:pt x="127379" y="109182"/>
                </a:cubicBezTo>
                <a:lnTo>
                  <a:pt x="127379" y="50042"/>
                </a:lnTo>
                <a:cubicBezTo>
                  <a:pt x="127379" y="42507"/>
                  <a:pt x="121266" y="36394"/>
                  <a:pt x="113731" y="36394"/>
                </a:cubicBezTo>
                <a:lnTo>
                  <a:pt x="95534" y="36394"/>
                </a:lnTo>
                <a:lnTo>
                  <a:pt x="95534" y="22746"/>
                </a:lnTo>
                <a:cubicBezTo>
                  <a:pt x="95534" y="5146"/>
                  <a:pt x="81289" y="-9099"/>
                  <a:pt x="63690" y="-9099"/>
                </a:cubicBezTo>
                <a:cubicBezTo>
                  <a:pt x="46090" y="-9099"/>
                  <a:pt x="31845" y="5146"/>
                  <a:pt x="31845" y="22746"/>
                </a:cubicBezTo>
                <a:lnTo>
                  <a:pt x="31845" y="36394"/>
                </a:lnTo>
                <a:close/>
                <a:moveTo>
                  <a:pt x="38669" y="50042"/>
                </a:moveTo>
                <a:cubicBezTo>
                  <a:pt x="42435" y="50042"/>
                  <a:pt x="45493" y="53099"/>
                  <a:pt x="45493" y="56866"/>
                </a:cubicBezTo>
                <a:cubicBezTo>
                  <a:pt x="45493" y="60632"/>
                  <a:pt x="42435" y="63690"/>
                  <a:pt x="38669" y="63690"/>
                </a:cubicBezTo>
                <a:cubicBezTo>
                  <a:pt x="34902" y="63690"/>
                  <a:pt x="31845" y="60632"/>
                  <a:pt x="31845" y="56866"/>
                </a:cubicBezTo>
                <a:cubicBezTo>
                  <a:pt x="31845" y="53099"/>
                  <a:pt x="34902" y="50042"/>
                  <a:pt x="38669" y="50042"/>
                </a:cubicBezTo>
                <a:close/>
                <a:moveTo>
                  <a:pt x="81887" y="56866"/>
                </a:moveTo>
                <a:cubicBezTo>
                  <a:pt x="81887" y="53099"/>
                  <a:pt x="84944" y="50042"/>
                  <a:pt x="88710" y="50042"/>
                </a:cubicBezTo>
                <a:cubicBezTo>
                  <a:pt x="92477" y="50042"/>
                  <a:pt x="95534" y="53099"/>
                  <a:pt x="95534" y="56866"/>
                </a:cubicBezTo>
                <a:cubicBezTo>
                  <a:pt x="95534" y="60632"/>
                  <a:pt x="92477" y="63690"/>
                  <a:pt x="88710" y="63690"/>
                </a:cubicBezTo>
                <a:cubicBezTo>
                  <a:pt x="84944" y="63690"/>
                  <a:pt x="81887" y="60632"/>
                  <a:pt x="81887" y="5686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8" name="Text 35"/>
          <p:cNvSpPr/>
          <p:nvPr/>
        </p:nvSpPr>
        <p:spPr>
          <a:xfrm>
            <a:off x="6840372" y="2394729"/>
            <a:ext cx="4249003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Bulk Catalog Optimization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6840372" y="2649487"/>
            <a:ext cx="4239904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Shopify and Amazon API integration for mass product optimization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6440037" y="3031624"/>
            <a:ext cx="291152" cy="291152"/>
          </a:xfrm>
          <a:prstGeom prst="roundRect">
            <a:avLst>
              <a:gd name="adj" fmla="val 25000"/>
            </a:avLst>
          </a:prstGeom>
          <a:solidFill>
            <a:srgbClr val="6366F1">
              <a:alpha val="20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6503727" y="3104413"/>
            <a:ext cx="163773" cy="145576"/>
          </a:xfrm>
          <a:custGeom>
            <a:avLst/>
            <a:gdLst/>
            <a:ahLst/>
            <a:cxnLst/>
            <a:rect l="l" t="t" r="r" b="b"/>
            <a:pathLst>
              <a:path w="163773" h="145576">
                <a:moveTo>
                  <a:pt x="81887" y="9099"/>
                </a:moveTo>
                <a:cubicBezTo>
                  <a:pt x="58913" y="9099"/>
                  <a:pt x="40517" y="19562"/>
                  <a:pt x="27125" y="32015"/>
                </a:cubicBezTo>
                <a:cubicBezTo>
                  <a:pt x="13818" y="44384"/>
                  <a:pt x="4919" y="59140"/>
                  <a:pt x="682" y="69291"/>
                </a:cubicBezTo>
                <a:cubicBezTo>
                  <a:pt x="-256" y="71537"/>
                  <a:pt x="-256" y="74039"/>
                  <a:pt x="682" y="76285"/>
                </a:cubicBezTo>
                <a:cubicBezTo>
                  <a:pt x="4919" y="86436"/>
                  <a:pt x="13818" y="101221"/>
                  <a:pt x="27125" y="113561"/>
                </a:cubicBezTo>
                <a:cubicBezTo>
                  <a:pt x="40517" y="125986"/>
                  <a:pt x="58913" y="136478"/>
                  <a:pt x="81887" y="136478"/>
                </a:cubicBezTo>
                <a:cubicBezTo>
                  <a:pt x="104860" y="136478"/>
                  <a:pt x="123256" y="126014"/>
                  <a:pt x="136648" y="113561"/>
                </a:cubicBezTo>
                <a:cubicBezTo>
                  <a:pt x="149955" y="101192"/>
                  <a:pt x="158854" y="86436"/>
                  <a:pt x="163091" y="76285"/>
                </a:cubicBezTo>
                <a:cubicBezTo>
                  <a:pt x="164029" y="74039"/>
                  <a:pt x="164029" y="71537"/>
                  <a:pt x="163091" y="69291"/>
                </a:cubicBezTo>
                <a:cubicBezTo>
                  <a:pt x="158854" y="59140"/>
                  <a:pt x="149955" y="44355"/>
                  <a:pt x="136648" y="32015"/>
                </a:cubicBezTo>
                <a:cubicBezTo>
                  <a:pt x="123256" y="19590"/>
                  <a:pt x="104860" y="9099"/>
                  <a:pt x="81887" y="9099"/>
                </a:cubicBezTo>
                <a:close/>
                <a:moveTo>
                  <a:pt x="40943" y="72788"/>
                </a:moveTo>
                <a:cubicBezTo>
                  <a:pt x="40943" y="50191"/>
                  <a:pt x="59289" y="31845"/>
                  <a:pt x="81887" y="31845"/>
                </a:cubicBezTo>
                <a:cubicBezTo>
                  <a:pt x="104484" y="31845"/>
                  <a:pt x="122830" y="50191"/>
                  <a:pt x="122830" y="72788"/>
                </a:cubicBezTo>
                <a:cubicBezTo>
                  <a:pt x="122830" y="95385"/>
                  <a:pt x="104484" y="113731"/>
                  <a:pt x="81887" y="113731"/>
                </a:cubicBezTo>
                <a:cubicBezTo>
                  <a:pt x="59289" y="113731"/>
                  <a:pt x="40943" y="95385"/>
                  <a:pt x="40943" y="72788"/>
                </a:cubicBezTo>
                <a:close/>
                <a:moveTo>
                  <a:pt x="81887" y="54591"/>
                </a:moveTo>
                <a:cubicBezTo>
                  <a:pt x="81887" y="64628"/>
                  <a:pt x="73726" y="72788"/>
                  <a:pt x="63690" y="72788"/>
                </a:cubicBezTo>
                <a:cubicBezTo>
                  <a:pt x="60420" y="72788"/>
                  <a:pt x="57349" y="71935"/>
                  <a:pt x="54676" y="70400"/>
                </a:cubicBezTo>
                <a:cubicBezTo>
                  <a:pt x="54392" y="73499"/>
                  <a:pt x="54648" y="76683"/>
                  <a:pt x="55501" y="79839"/>
                </a:cubicBezTo>
                <a:cubicBezTo>
                  <a:pt x="59396" y="94397"/>
                  <a:pt x="74380" y="103041"/>
                  <a:pt x="88938" y="99145"/>
                </a:cubicBezTo>
                <a:cubicBezTo>
                  <a:pt x="103496" y="95250"/>
                  <a:pt x="112139" y="80266"/>
                  <a:pt x="108244" y="65708"/>
                </a:cubicBezTo>
                <a:cubicBezTo>
                  <a:pt x="104775" y="52714"/>
                  <a:pt x="92464" y="44441"/>
                  <a:pt x="79498" y="45578"/>
                </a:cubicBezTo>
                <a:cubicBezTo>
                  <a:pt x="81005" y="48222"/>
                  <a:pt x="81887" y="51293"/>
                  <a:pt x="81887" y="5459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2" name="Text 39"/>
          <p:cNvSpPr/>
          <p:nvPr/>
        </p:nvSpPr>
        <p:spPr>
          <a:xfrm>
            <a:off x="6840372" y="3013427"/>
            <a:ext cx="4085230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Claude Vision Integration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6840372" y="3268186"/>
            <a:ext cx="4076131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product image analysis for visual-aware descriptions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440037" y="3650323"/>
            <a:ext cx="291152" cy="291152"/>
          </a:xfrm>
          <a:prstGeom prst="roundRect">
            <a:avLst>
              <a:gd name="adj" fmla="val 25000"/>
            </a:avLst>
          </a:prstGeom>
          <a:solidFill>
            <a:srgbClr val="6366F1">
              <a:alpha val="20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6512825" y="3723111"/>
            <a:ext cx="145576" cy="145576"/>
          </a:xfrm>
          <a:custGeom>
            <a:avLst/>
            <a:gdLst/>
            <a:ahLst/>
            <a:cxnLst/>
            <a:rect l="l" t="t" r="r" b="b"/>
            <a:pathLst>
              <a:path w="145576" h="145576">
                <a:moveTo>
                  <a:pt x="18197" y="18197"/>
                </a:moveTo>
                <a:cubicBezTo>
                  <a:pt x="18197" y="13164"/>
                  <a:pt x="14131" y="9099"/>
                  <a:pt x="9099" y="9099"/>
                </a:cubicBezTo>
                <a:cubicBezTo>
                  <a:pt x="4066" y="9099"/>
                  <a:pt x="0" y="13164"/>
                  <a:pt x="0" y="18197"/>
                </a:cubicBezTo>
                <a:lnTo>
                  <a:pt x="0" y="113731"/>
                </a:lnTo>
                <a:cubicBezTo>
                  <a:pt x="0" y="126299"/>
                  <a:pt x="10179" y="136478"/>
                  <a:pt x="22746" y="136478"/>
                </a:cubicBezTo>
                <a:lnTo>
                  <a:pt x="136478" y="136478"/>
                </a:lnTo>
                <a:cubicBezTo>
                  <a:pt x="141510" y="136478"/>
                  <a:pt x="145576" y="132412"/>
                  <a:pt x="145576" y="127379"/>
                </a:cubicBezTo>
                <a:cubicBezTo>
                  <a:pt x="145576" y="122346"/>
                  <a:pt x="141510" y="118281"/>
                  <a:pt x="136478" y="118281"/>
                </a:cubicBezTo>
                <a:lnTo>
                  <a:pt x="22746" y="118281"/>
                </a:lnTo>
                <a:cubicBezTo>
                  <a:pt x="20244" y="118281"/>
                  <a:pt x="18197" y="116233"/>
                  <a:pt x="18197" y="113731"/>
                </a:cubicBezTo>
                <a:lnTo>
                  <a:pt x="18197" y="18197"/>
                </a:lnTo>
                <a:close/>
                <a:moveTo>
                  <a:pt x="133805" y="42820"/>
                </a:moveTo>
                <a:cubicBezTo>
                  <a:pt x="137359" y="39266"/>
                  <a:pt x="137359" y="33494"/>
                  <a:pt x="133805" y="29940"/>
                </a:cubicBezTo>
                <a:cubicBezTo>
                  <a:pt x="130251" y="26386"/>
                  <a:pt x="124479" y="26386"/>
                  <a:pt x="120925" y="29940"/>
                </a:cubicBezTo>
                <a:lnTo>
                  <a:pt x="90985" y="59908"/>
                </a:lnTo>
                <a:lnTo>
                  <a:pt x="74665" y="43616"/>
                </a:lnTo>
                <a:cubicBezTo>
                  <a:pt x="71111" y="40062"/>
                  <a:pt x="65339" y="40062"/>
                  <a:pt x="61785" y="43616"/>
                </a:cubicBezTo>
                <a:lnTo>
                  <a:pt x="34489" y="70911"/>
                </a:lnTo>
                <a:cubicBezTo>
                  <a:pt x="30935" y="74466"/>
                  <a:pt x="30935" y="80237"/>
                  <a:pt x="34489" y="83792"/>
                </a:cubicBezTo>
                <a:cubicBezTo>
                  <a:pt x="38043" y="87346"/>
                  <a:pt x="43815" y="87346"/>
                  <a:pt x="47369" y="83792"/>
                </a:cubicBezTo>
                <a:lnTo>
                  <a:pt x="68239" y="62922"/>
                </a:lnTo>
                <a:lnTo>
                  <a:pt x="84559" y="79242"/>
                </a:lnTo>
                <a:cubicBezTo>
                  <a:pt x="88113" y="82796"/>
                  <a:pt x="93885" y="82796"/>
                  <a:pt x="97439" y="79242"/>
                </a:cubicBezTo>
                <a:lnTo>
                  <a:pt x="133833" y="42848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6" name="Text 43"/>
          <p:cNvSpPr/>
          <p:nvPr/>
        </p:nvSpPr>
        <p:spPr>
          <a:xfrm>
            <a:off x="6840372" y="3632126"/>
            <a:ext cx="3721290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A/B Testing Framework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6840372" y="3886884"/>
            <a:ext cx="3712191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Real-world variant performance tracking and optimization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6440037" y="4269021"/>
            <a:ext cx="291152" cy="291152"/>
          </a:xfrm>
          <a:prstGeom prst="roundRect">
            <a:avLst>
              <a:gd name="adj" fmla="val 25000"/>
            </a:avLst>
          </a:prstGeom>
          <a:solidFill>
            <a:srgbClr val="6366F1">
              <a:alpha val="20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6512825" y="4341810"/>
            <a:ext cx="145576" cy="145576"/>
          </a:xfrm>
          <a:custGeom>
            <a:avLst/>
            <a:gdLst/>
            <a:ahLst/>
            <a:cxnLst/>
            <a:rect l="l" t="t" r="r" b="b"/>
            <a:pathLst>
              <a:path w="145576" h="145576">
                <a:moveTo>
                  <a:pt x="66106" y="1479"/>
                </a:moveTo>
                <a:cubicBezTo>
                  <a:pt x="70343" y="-483"/>
                  <a:pt x="75233" y="-483"/>
                  <a:pt x="79470" y="1479"/>
                </a:cubicBezTo>
                <a:lnTo>
                  <a:pt x="141624" y="30196"/>
                </a:lnTo>
                <a:cubicBezTo>
                  <a:pt x="144041" y="31305"/>
                  <a:pt x="145576" y="33721"/>
                  <a:pt x="145576" y="36394"/>
                </a:cubicBezTo>
                <a:cubicBezTo>
                  <a:pt x="145576" y="39067"/>
                  <a:pt x="144041" y="41484"/>
                  <a:pt x="141624" y="42592"/>
                </a:cubicBezTo>
                <a:lnTo>
                  <a:pt x="79470" y="71310"/>
                </a:lnTo>
                <a:cubicBezTo>
                  <a:pt x="75233" y="73271"/>
                  <a:pt x="70343" y="73271"/>
                  <a:pt x="66106" y="71310"/>
                </a:cubicBezTo>
                <a:lnTo>
                  <a:pt x="3952" y="42592"/>
                </a:lnTo>
                <a:cubicBezTo>
                  <a:pt x="1535" y="41455"/>
                  <a:pt x="0" y="39038"/>
                  <a:pt x="0" y="36394"/>
                </a:cubicBezTo>
                <a:cubicBezTo>
                  <a:pt x="0" y="33750"/>
                  <a:pt x="1535" y="31305"/>
                  <a:pt x="3952" y="30196"/>
                </a:cubicBezTo>
                <a:lnTo>
                  <a:pt x="66106" y="1479"/>
                </a:lnTo>
                <a:close/>
                <a:moveTo>
                  <a:pt x="13676" y="62097"/>
                </a:moveTo>
                <a:lnTo>
                  <a:pt x="60391" y="83678"/>
                </a:lnTo>
                <a:cubicBezTo>
                  <a:pt x="68267" y="87317"/>
                  <a:pt x="77337" y="87317"/>
                  <a:pt x="85213" y="83678"/>
                </a:cubicBezTo>
                <a:lnTo>
                  <a:pt x="131928" y="62097"/>
                </a:lnTo>
                <a:lnTo>
                  <a:pt x="141624" y="66590"/>
                </a:lnTo>
                <a:cubicBezTo>
                  <a:pt x="144041" y="67699"/>
                  <a:pt x="145576" y="70115"/>
                  <a:pt x="145576" y="72788"/>
                </a:cubicBezTo>
                <a:cubicBezTo>
                  <a:pt x="145576" y="75461"/>
                  <a:pt x="144041" y="77878"/>
                  <a:pt x="141624" y="78986"/>
                </a:cubicBezTo>
                <a:lnTo>
                  <a:pt x="79470" y="107704"/>
                </a:lnTo>
                <a:cubicBezTo>
                  <a:pt x="75233" y="109665"/>
                  <a:pt x="70343" y="109665"/>
                  <a:pt x="66106" y="107704"/>
                </a:cubicBezTo>
                <a:lnTo>
                  <a:pt x="3952" y="78986"/>
                </a:lnTo>
                <a:cubicBezTo>
                  <a:pt x="1535" y="77849"/>
                  <a:pt x="0" y="75432"/>
                  <a:pt x="0" y="72788"/>
                </a:cubicBezTo>
                <a:cubicBezTo>
                  <a:pt x="0" y="70144"/>
                  <a:pt x="1535" y="67699"/>
                  <a:pt x="3952" y="66590"/>
                </a:cubicBezTo>
                <a:lnTo>
                  <a:pt x="13648" y="62097"/>
                </a:lnTo>
                <a:close/>
                <a:moveTo>
                  <a:pt x="3952" y="102984"/>
                </a:moveTo>
                <a:lnTo>
                  <a:pt x="13648" y="98491"/>
                </a:lnTo>
                <a:lnTo>
                  <a:pt x="60363" y="120072"/>
                </a:lnTo>
                <a:cubicBezTo>
                  <a:pt x="68239" y="123711"/>
                  <a:pt x="77309" y="123711"/>
                  <a:pt x="85185" y="120072"/>
                </a:cubicBezTo>
                <a:lnTo>
                  <a:pt x="131900" y="98491"/>
                </a:lnTo>
                <a:lnTo>
                  <a:pt x="141596" y="102984"/>
                </a:lnTo>
                <a:cubicBezTo>
                  <a:pt x="144012" y="104093"/>
                  <a:pt x="145548" y="106509"/>
                  <a:pt x="145548" y="109182"/>
                </a:cubicBezTo>
                <a:cubicBezTo>
                  <a:pt x="145548" y="111855"/>
                  <a:pt x="144012" y="114272"/>
                  <a:pt x="141596" y="115380"/>
                </a:cubicBezTo>
                <a:lnTo>
                  <a:pt x="79441" y="144098"/>
                </a:lnTo>
                <a:cubicBezTo>
                  <a:pt x="75205" y="146059"/>
                  <a:pt x="70314" y="146059"/>
                  <a:pt x="66078" y="144098"/>
                </a:cubicBezTo>
                <a:lnTo>
                  <a:pt x="3952" y="115380"/>
                </a:lnTo>
                <a:cubicBezTo>
                  <a:pt x="1535" y="114243"/>
                  <a:pt x="0" y="111826"/>
                  <a:pt x="0" y="109182"/>
                </a:cubicBezTo>
                <a:cubicBezTo>
                  <a:pt x="0" y="106538"/>
                  <a:pt x="1535" y="104093"/>
                  <a:pt x="3952" y="10298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0" name="Text 47"/>
          <p:cNvSpPr/>
          <p:nvPr/>
        </p:nvSpPr>
        <p:spPr>
          <a:xfrm>
            <a:off x="6840372" y="4250824"/>
            <a:ext cx="4840406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Multi-Model Support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6840372" y="4505583"/>
            <a:ext cx="4831307" cy="436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Adding GPT-4o and Gemini for model comparison and ensemble generation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6440037" y="5106084"/>
            <a:ext cx="291152" cy="291152"/>
          </a:xfrm>
          <a:prstGeom prst="roundRect">
            <a:avLst>
              <a:gd name="adj" fmla="val 25000"/>
            </a:avLst>
          </a:prstGeom>
          <a:solidFill>
            <a:srgbClr val="6366F1">
              <a:alpha val="20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6512825" y="5178872"/>
            <a:ext cx="145576" cy="145576"/>
          </a:xfrm>
          <a:custGeom>
            <a:avLst/>
            <a:gdLst/>
            <a:ahLst/>
            <a:cxnLst/>
            <a:rect l="l" t="t" r="r" b="b"/>
            <a:pathLst>
              <a:path w="145576" h="145576">
                <a:moveTo>
                  <a:pt x="100055" y="79612"/>
                </a:moveTo>
                <a:lnTo>
                  <a:pt x="45777" y="79612"/>
                </a:lnTo>
                <a:cubicBezTo>
                  <a:pt x="46601" y="97951"/>
                  <a:pt x="50667" y="114840"/>
                  <a:pt x="56439" y="127209"/>
                </a:cubicBezTo>
                <a:cubicBezTo>
                  <a:pt x="59681" y="134175"/>
                  <a:pt x="63178" y="139093"/>
                  <a:pt x="66419" y="142107"/>
                </a:cubicBezTo>
                <a:cubicBezTo>
                  <a:pt x="69604" y="145093"/>
                  <a:pt x="71793" y="145576"/>
                  <a:pt x="72930" y="145576"/>
                </a:cubicBezTo>
                <a:cubicBezTo>
                  <a:pt x="74068" y="145576"/>
                  <a:pt x="76257" y="145093"/>
                  <a:pt x="79441" y="142107"/>
                </a:cubicBezTo>
                <a:cubicBezTo>
                  <a:pt x="82683" y="139093"/>
                  <a:pt x="86180" y="134146"/>
                  <a:pt x="89421" y="127209"/>
                </a:cubicBezTo>
                <a:cubicBezTo>
                  <a:pt x="95193" y="114840"/>
                  <a:pt x="99259" y="97951"/>
                  <a:pt x="100084" y="79612"/>
                </a:cubicBezTo>
                <a:close/>
                <a:moveTo>
                  <a:pt x="45748" y="65964"/>
                </a:moveTo>
                <a:lnTo>
                  <a:pt x="100027" y="65964"/>
                </a:lnTo>
                <a:cubicBezTo>
                  <a:pt x="99231" y="47625"/>
                  <a:pt x="95165" y="30736"/>
                  <a:pt x="89393" y="18368"/>
                </a:cubicBezTo>
                <a:cubicBezTo>
                  <a:pt x="86151" y="11430"/>
                  <a:pt x="82654" y="6483"/>
                  <a:pt x="79413" y="3469"/>
                </a:cubicBezTo>
                <a:cubicBezTo>
                  <a:pt x="76228" y="483"/>
                  <a:pt x="74039" y="0"/>
                  <a:pt x="72902" y="0"/>
                </a:cubicBezTo>
                <a:cubicBezTo>
                  <a:pt x="71764" y="0"/>
                  <a:pt x="69575" y="483"/>
                  <a:pt x="66391" y="3469"/>
                </a:cubicBezTo>
                <a:cubicBezTo>
                  <a:pt x="63149" y="6483"/>
                  <a:pt x="59652" y="11430"/>
                  <a:pt x="56411" y="18368"/>
                </a:cubicBezTo>
                <a:cubicBezTo>
                  <a:pt x="50639" y="30736"/>
                  <a:pt x="46573" y="47625"/>
                  <a:pt x="45748" y="65964"/>
                </a:cubicBezTo>
                <a:close/>
                <a:moveTo>
                  <a:pt x="32101" y="65964"/>
                </a:moveTo>
                <a:cubicBezTo>
                  <a:pt x="33096" y="41626"/>
                  <a:pt x="39379" y="19022"/>
                  <a:pt x="48563" y="4180"/>
                </a:cubicBezTo>
                <a:cubicBezTo>
                  <a:pt x="22377" y="13449"/>
                  <a:pt x="3099" y="37304"/>
                  <a:pt x="426" y="65964"/>
                </a:cubicBezTo>
                <a:lnTo>
                  <a:pt x="32101" y="65964"/>
                </a:lnTo>
                <a:close/>
                <a:moveTo>
                  <a:pt x="426" y="79612"/>
                </a:moveTo>
                <a:cubicBezTo>
                  <a:pt x="3099" y="108272"/>
                  <a:pt x="22377" y="132127"/>
                  <a:pt x="48563" y="141396"/>
                </a:cubicBezTo>
                <a:cubicBezTo>
                  <a:pt x="39379" y="126555"/>
                  <a:pt x="33096" y="103950"/>
                  <a:pt x="32101" y="79612"/>
                </a:cubicBezTo>
                <a:lnTo>
                  <a:pt x="426" y="79612"/>
                </a:lnTo>
                <a:close/>
                <a:moveTo>
                  <a:pt x="113703" y="79612"/>
                </a:moveTo>
                <a:cubicBezTo>
                  <a:pt x="112708" y="103950"/>
                  <a:pt x="106424" y="126555"/>
                  <a:pt x="97240" y="141396"/>
                </a:cubicBezTo>
                <a:cubicBezTo>
                  <a:pt x="123427" y="132099"/>
                  <a:pt x="142704" y="108272"/>
                  <a:pt x="145377" y="79612"/>
                </a:cubicBezTo>
                <a:lnTo>
                  <a:pt x="113703" y="79612"/>
                </a:lnTo>
                <a:close/>
                <a:moveTo>
                  <a:pt x="145377" y="65964"/>
                </a:moveTo>
                <a:cubicBezTo>
                  <a:pt x="142704" y="37304"/>
                  <a:pt x="123427" y="13449"/>
                  <a:pt x="97240" y="4180"/>
                </a:cubicBezTo>
                <a:cubicBezTo>
                  <a:pt x="106424" y="19022"/>
                  <a:pt x="112708" y="41626"/>
                  <a:pt x="113703" y="65964"/>
                </a:cubicBezTo>
                <a:lnTo>
                  <a:pt x="145377" y="65964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4" name="Text 51"/>
          <p:cNvSpPr/>
          <p:nvPr/>
        </p:nvSpPr>
        <p:spPr>
          <a:xfrm>
            <a:off x="6840372" y="5087887"/>
            <a:ext cx="3712191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Multi-Language Support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6840372" y="5342645"/>
            <a:ext cx="3703093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Expanding beyond English to global e-commerce markets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367580" y="5979537"/>
            <a:ext cx="11462300" cy="662371"/>
          </a:xfrm>
          <a:prstGeom prst="roundRect">
            <a:avLst>
              <a:gd name="adj" fmla="val 16484"/>
            </a:avLst>
          </a:prstGeom>
          <a:gradFill flip="none" rotWithShape="1">
            <a:gsLst>
              <a:gs pos="0">
                <a:srgbClr val="6366F1">
                  <a:alpha val="20000"/>
                </a:srgbClr>
              </a:gs>
              <a:gs pos="50000">
                <a:srgbClr val="A855F7">
                  <a:alpha val="15000"/>
                </a:srgbClr>
              </a:gs>
              <a:gs pos="100000">
                <a:srgbClr val="22D3EE">
                  <a:alpha val="20000"/>
                </a:srgbClr>
              </a:gs>
            </a:gsLst>
            <a:lin ang="0" scaled="1"/>
          </a:gradFill>
          <a:ln w="10160">
            <a:solidFill>
              <a:srgbClr val="6366F1">
                <a:alpha val="50196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1568469" y="6174137"/>
            <a:ext cx="238836" cy="272955"/>
          </a:xfrm>
          <a:custGeom>
            <a:avLst/>
            <a:gdLst/>
            <a:ahLst/>
            <a:cxnLst/>
            <a:rect l="l" t="t" r="r" b="b"/>
            <a:pathLst>
              <a:path w="238836" h="272955">
                <a:moveTo>
                  <a:pt x="0" y="115153"/>
                </a:moveTo>
                <a:cubicBezTo>
                  <a:pt x="0" y="79807"/>
                  <a:pt x="28628" y="51179"/>
                  <a:pt x="63974" y="51179"/>
                </a:cubicBezTo>
                <a:lnTo>
                  <a:pt x="68239" y="51179"/>
                </a:lnTo>
                <a:cubicBezTo>
                  <a:pt x="77675" y="51179"/>
                  <a:pt x="85299" y="58803"/>
                  <a:pt x="85299" y="68239"/>
                </a:cubicBezTo>
                <a:cubicBezTo>
                  <a:pt x="85299" y="77675"/>
                  <a:pt x="77675" y="85299"/>
                  <a:pt x="68239" y="85299"/>
                </a:cubicBezTo>
                <a:lnTo>
                  <a:pt x="63974" y="85299"/>
                </a:lnTo>
                <a:cubicBezTo>
                  <a:pt x="47501" y="85299"/>
                  <a:pt x="34119" y="98680"/>
                  <a:pt x="34119" y="115153"/>
                </a:cubicBezTo>
                <a:lnTo>
                  <a:pt x="34119" y="119418"/>
                </a:lnTo>
                <a:lnTo>
                  <a:pt x="68239" y="119418"/>
                </a:lnTo>
                <a:cubicBezTo>
                  <a:pt x="87058" y="119418"/>
                  <a:pt x="102358" y="134718"/>
                  <a:pt x="102358" y="153537"/>
                </a:cubicBezTo>
                <a:lnTo>
                  <a:pt x="102358" y="187657"/>
                </a:lnTo>
                <a:cubicBezTo>
                  <a:pt x="102358" y="206476"/>
                  <a:pt x="87058" y="221776"/>
                  <a:pt x="68239" y="221776"/>
                </a:cubicBezTo>
                <a:lnTo>
                  <a:pt x="34119" y="221776"/>
                </a:lnTo>
                <a:cubicBezTo>
                  <a:pt x="15300" y="221776"/>
                  <a:pt x="0" y="206476"/>
                  <a:pt x="0" y="187657"/>
                </a:cubicBezTo>
                <a:lnTo>
                  <a:pt x="0" y="115153"/>
                </a:lnTo>
                <a:close/>
                <a:moveTo>
                  <a:pt x="136478" y="115153"/>
                </a:moveTo>
                <a:cubicBezTo>
                  <a:pt x="136478" y="79807"/>
                  <a:pt x="165106" y="51179"/>
                  <a:pt x="200451" y="51179"/>
                </a:cubicBezTo>
                <a:lnTo>
                  <a:pt x="204716" y="51179"/>
                </a:lnTo>
                <a:cubicBezTo>
                  <a:pt x="214153" y="51179"/>
                  <a:pt x="221776" y="58803"/>
                  <a:pt x="221776" y="68239"/>
                </a:cubicBezTo>
                <a:cubicBezTo>
                  <a:pt x="221776" y="77675"/>
                  <a:pt x="214153" y="85299"/>
                  <a:pt x="204716" y="85299"/>
                </a:cubicBezTo>
                <a:lnTo>
                  <a:pt x="200451" y="85299"/>
                </a:lnTo>
                <a:cubicBezTo>
                  <a:pt x="183978" y="85299"/>
                  <a:pt x="170597" y="98680"/>
                  <a:pt x="170597" y="115153"/>
                </a:cubicBezTo>
                <a:lnTo>
                  <a:pt x="170597" y="119418"/>
                </a:lnTo>
                <a:lnTo>
                  <a:pt x="204716" y="119418"/>
                </a:lnTo>
                <a:cubicBezTo>
                  <a:pt x="223535" y="119418"/>
                  <a:pt x="238836" y="134718"/>
                  <a:pt x="238836" y="153537"/>
                </a:cubicBezTo>
                <a:lnTo>
                  <a:pt x="238836" y="187657"/>
                </a:lnTo>
                <a:cubicBezTo>
                  <a:pt x="238836" y="206476"/>
                  <a:pt x="223535" y="221776"/>
                  <a:pt x="204716" y="221776"/>
                </a:cubicBezTo>
                <a:lnTo>
                  <a:pt x="170597" y="221776"/>
                </a:lnTo>
                <a:cubicBezTo>
                  <a:pt x="151778" y="221776"/>
                  <a:pt x="136478" y="206476"/>
                  <a:pt x="136478" y="187657"/>
                </a:cubicBezTo>
                <a:lnTo>
                  <a:pt x="136478" y="11515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8" name="Text 55"/>
          <p:cNvSpPr/>
          <p:nvPr/>
        </p:nvSpPr>
        <p:spPr>
          <a:xfrm>
            <a:off x="1947194" y="6165154"/>
            <a:ext cx="8297839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ContentBoost AI is not just a tool — it is the </a:t>
            </a:r>
            <a:r>
              <a:rPr lang="en-US" sz="1719" b="1" dirty="0">
                <a:solidFill>
                  <a:srgbClr val="FFFFFF">
                    <a:alpha val="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foundation of an intelligent content engine</a:t>
            </a:r>
            <a:r>
              <a:rPr lang="en-US" sz="17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59" name="Shape 56"/>
          <p:cNvSpPr/>
          <p:nvPr/>
        </p:nvSpPr>
        <p:spPr>
          <a:xfrm>
            <a:off x="10393111" y="6174137"/>
            <a:ext cx="238836" cy="272955"/>
          </a:xfrm>
          <a:custGeom>
            <a:avLst/>
            <a:gdLst/>
            <a:ahLst/>
            <a:cxnLst/>
            <a:rect l="l" t="t" r="r" b="b"/>
            <a:pathLst>
              <a:path w="238836" h="272955">
                <a:moveTo>
                  <a:pt x="238836" y="157802"/>
                </a:moveTo>
                <a:cubicBezTo>
                  <a:pt x="238836" y="193148"/>
                  <a:pt x="210208" y="221776"/>
                  <a:pt x="174862" y="221776"/>
                </a:cubicBezTo>
                <a:lnTo>
                  <a:pt x="170597" y="221776"/>
                </a:lnTo>
                <a:cubicBezTo>
                  <a:pt x="161161" y="221776"/>
                  <a:pt x="153537" y="214153"/>
                  <a:pt x="153537" y="204716"/>
                </a:cubicBezTo>
                <a:cubicBezTo>
                  <a:pt x="153537" y="195280"/>
                  <a:pt x="161161" y="187657"/>
                  <a:pt x="170597" y="187657"/>
                </a:cubicBezTo>
                <a:lnTo>
                  <a:pt x="174862" y="187657"/>
                </a:lnTo>
                <a:cubicBezTo>
                  <a:pt x="191335" y="187657"/>
                  <a:pt x="204716" y="174276"/>
                  <a:pt x="204716" y="157802"/>
                </a:cubicBezTo>
                <a:lnTo>
                  <a:pt x="204716" y="153537"/>
                </a:lnTo>
                <a:lnTo>
                  <a:pt x="170597" y="153537"/>
                </a:lnTo>
                <a:cubicBezTo>
                  <a:pt x="151778" y="153537"/>
                  <a:pt x="136478" y="138237"/>
                  <a:pt x="136478" y="119418"/>
                </a:cubicBezTo>
                <a:lnTo>
                  <a:pt x="136478" y="85299"/>
                </a:lnTo>
                <a:cubicBezTo>
                  <a:pt x="136478" y="66480"/>
                  <a:pt x="151778" y="51179"/>
                  <a:pt x="170597" y="51179"/>
                </a:cubicBezTo>
                <a:lnTo>
                  <a:pt x="204716" y="51179"/>
                </a:lnTo>
                <a:cubicBezTo>
                  <a:pt x="223535" y="51179"/>
                  <a:pt x="238836" y="66480"/>
                  <a:pt x="238836" y="85299"/>
                </a:cubicBezTo>
                <a:lnTo>
                  <a:pt x="238836" y="157802"/>
                </a:lnTo>
                <a:close/>
                <a:moveTo>
                  <a:pt x="102358" y="157802"/>
                </a:moveTo>
                <a:cubicBezTo>
                  <a:pt x="102358" y="193148"/>
                  <a:pt x="73730" y="221776"/>
                  <a:pt x="38384" y="221776"/>
                </a:cubicBezTo>
                <a:lnTo>
                  <a:pt x="34119" y="221776"/>
                </a:lnTo>
                <a:cubicBezTo>
                  <a:pt x="24683" y="221776"/>
                  <a:pt x="17060" y="214153"/>
                  <a:pt x="17060" y="204716"/>
                </a:cubicBezTo>
                <a:cubicBezTo>
                  <a:pt x="17060" y="195280"/>
                  <a:pt x="24683" y="187657"/>
                  <a:pt x="34119" y="187657"/>
                </a:cubicBezTo>
                <a:lnTo>
                  <a:pt x="38384" y="187657"/>
                </a:lnTo>
                <a:cubicBezTo>
                  <a:pt x="54858" y="187657"/>
                  <a:pt x="68239" y="174276"/>
                  <a:pt x="68239" y="157802"/>
                </a:cubicBezTo>
                <a:lnTo>
                  <a:pt x="68239" y="153537"/>
                </a:lnTo>
                <a:lnTo>
                  <a:pt x="34119" y="153537"/>
                </a:lnTo>
                <a:cubicBezTo>
                  <a:pt x="15300" y="153537"/>
                  <a:pt x="0" y="138237"/>
                  <a:pt x="0" y="119418"/>
                </a:cubicBezTo>
                <a:lnTo>
                  <a:pt x="0" y="85299"/>
                </a:lnTo>
                <a:cubicBezTo>
                  <a:pt x="0" y="66480"/>
                  <a:pt x="15300" y="51179"/>
                  <a:pt x="34119" y="51179"/>
                </a:cubicBezTo>
                <a:lnTo>
                  <a:pt x="68239" y="51179"/>
                </a:lnTo>
                <a:cubicBezTo>
                  <a:pt x="87058" y="51179"/>
                  <a:pt x="102358" y="66480"/>
                  <a:pt x="102358" y="85299"/>
                </a:cubicBezTo>
                <a:lnTo>
                  <a:pt x="102358" y="157802"/>
                </a:lnTo>
                <a:close/>
              </a:path>
            </a:pathLst>
          </a:custGeom>
          <a:solidFill>
            <a:srgbClr val="A855F7"/>
          </a:solidFill>
          <a:ln/>
        </p:spPr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1758</Words>
  <Application>Microsoft Office PowerPoint</Application>
  <PresentationFormat>Widescreen</PresentationFormat>
  <Paragraphs>334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Quattrocento Sans</vt:lpstr>
      <vt:lpstr>Hedvig Letters Sans</vt:lpstr>
      <vt:lpstr>Arial</vt:lpstr>
      <vt:lpstr>Liter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ContentBoost AI — Project Report</dc:title>
  <dc:subject>ContentBoost AI — Project Report</dc:subject>
  <dc:creator>Kimi</dc:creator>
  <cp:lastModifiedBy>jyothi_ thulabandula AP23110011426</cp:lastModifiedBy>
  <cp:revision>1</cp:revision>
  <dcterms:created xsi:type="dcterms:W3CDTF">2026-04-29T03:55:37Z</dcterms:created>
  <dcterms:modified xsi:type="dcterms:W3CDTF">2026-04-29T07:17:36Z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{"Label":"ContentBoost AI — Project Report","ContentProducer":"001191110108MACG2KBH8F10000","ProduceID":"19dd7508-fd32-8c22-8000-000054df5eb9","ReservedCode1":"","ContentPropagator":"001191110108MACG2KBH8F20000","PropagateID":"19dd7508-fd32-8c22-8000-000054df5eb9","ReservedCode2":""}</vt:lpwstr>
  </property>
</Properties>
</file>